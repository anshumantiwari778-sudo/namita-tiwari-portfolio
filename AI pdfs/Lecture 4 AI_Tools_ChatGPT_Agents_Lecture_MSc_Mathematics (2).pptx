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8" r:id="rId5"/>
    <p:sldId id="259" r:id="rId6"/>
    <p:sldId id="257"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and connect this lecture with the previous AI foundations classes. Explain that ChatGPT is not only a chatbot; it is a workspace that can use tools and, in some modes, act as an agent. Ask students to think of one task they currently do manually that AI could assist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outcomes quickly. Tell students that this is practical AI literacy: what the systems can do, how to ask effectively, and how to verify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model is the reasoning engine, a tool is a specific function, an assistant is the conversational interface that can combine capabilities, and an agent can pursue a goal through multiple steps. Emphasize that autonomy does not mean unlimited permission—the user should remain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interview example to show that choosing the right feature is part of AI literacy. A normal chat is enough for a personal introduction, but current facts require search, a literature-style report requires deep research, and multi-step actions require an agent or connected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multimodality: the prompt is not limited to typed text. Students can supply images, audio, and files; ChatGPT can search the web, run data analysis, and create outputs. Availability and limits vary by plan and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 the levels to mathematical work. Instant can define a concept; Medium can compare methods; High or Thinking is better for a multi-step proof or difficult algorithmic reasoning. Remind students that the interface may show different names depending on account and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decision map for the rest of the lecture. Ask students to identify which feature they would use for: today’s stock price, a 20-paper literature review, a CSV dataset, a poster, viva practice, and organizing a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search combines conversational answering with current web information and source links. Demonstrate a recent research query. Teach students to inspect the source, date, and agreement across sources rather than accepting the summary blindly.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deep research is agentic research, not simply a longer answer. The user can choose sources, review the plan, monitor progress, and inspect citations. For MSc students, it is useful for mapping a research area, but the final interpretation must remain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uploaded evidence grounds the conversation. For data analysis, ChatGPT may write and run Python, create tables, and produce charts. Students should inspect column names, assumptions, code, and numerical outputs. Structured data gives better results than screenshots of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image generation is useful beyond art. In mathematics teaching, ask for diagrams, geometric intuition, algorithm flows, and presentation graphics. However, generated equations and labels can be wrong, so check them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one student to try a short voice interaction. Example: “Act as a viva examiner. Ask me one question about gradient descent, wait for my response, then give feedback.” Mention that current voice can maintain a natural conversation and may show visual answers, but availability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apps connect ChatGPT to external data and actions. Some integrations can search only; others can act, such as scheduling or updating a tool. In universities, admin settings, permissions, and data governance are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simple analogy: ChatGPT is like a complete calculator application; the API is like the mathematical engine developers can embed in their own software. Mention university examples: admission assistant, research dashboard, or personalized 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agent clearly. It receives a goal, plans, selects tools, takes actions, checks progress, and revises. The user should approve sensitive or consequential actions. Use the equation on the slide as a memorable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clockwise through the loop. Give a simple example: planning a seminar. Observe requirements, plan tasks, search speakers, draft an agenda, check dates and constraints, then adapt. The loop continues until completion or a user decision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difference between generating a plan and carrying out a workflow. The agent can use connected data and tools, but actions should be reviewed. This example is close to university administration and helps students see practical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each example to students’ curriculum. Stress that AI can generate explanations and code, but mathematical learning comes from understanding definitions, assumptions, derivations, and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mnemonic TCOCV. OpenAI’s core guidance is to state the task, provide helpful context, and describe the ideal output. Add constraints and verification for academic work. Compare the weak and strong prompts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ChatGPT is a support tool, not an authority. For mathematical work, students should verify every derivation and test examples. For research, use primary sources and do not invent citations. Discuss local academic-integrity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 the class into four groups. Each group writes a prompt using the TCOCV framework and names the correct capability. After six minutes, each group shares one prompt and one verification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lecture in five sentences. Ask students to give one example of when they would use search, deep research, data analysis, and an agent. End by reinforcing that effective AI use is a combination of capability selection, good prompting, and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reference slide documents the official sources used. Encourage students to consult current official help pages because AI products change rapidly.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677FF"/>
          </a:solidFill>
          <a:ln w="12700">
            <a:solidFill>
              <a:srgbClr val="1677FF"/>
            </a:solidFill>
            <a:prstDash val="solid"/>
          </a:ln>
        </p:spPr>
      </p:sp>
      <p:sp>
        <p:nvSpPr>
          <p:cNvPr id="3" name="Text 1"/>
          <p:cNvSpPr/>
          <p:nvPr/>
        </p:nvSpPr>
        <p:spPr>
          <a:xfrm>
            <a:off x="502920" y="6537960"/>
            <a:ext cx="7772400" cy="182880"/>
          </a:xfrm>
          <a:prstGeom prst="rect">
            <a:avLst/>
          </a:prstGeom>
          <a:noFill/>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Artificial Intelligence | MSc Mathematics with AI &amp; Data Science</a:t>
            </a:r>
            <a:endParaRPr lang="en-US" sz="800" dirty="0"/>
          </a:p>
        </p:txBody>
      </p:sp>
      <p:sp>
        <p:nvSpPr>
          <p:cNvPr id="25"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7818120" y="45720"/>
            <a:ext cx="4251960" cy="4251960"/>
          </a:xfrm>
          <a:prstGeom prst="ellipse">
            <a:avLst/>
          </a:prstGeom>
          <a:solidFill>
            <a:srgbClr val="143663">
              <a:alpha val="88000"/>
            </a:srgbClr>
          </a:solidFill>
          <a:ln w="12700">
            <a:solidFill>
              <a:srgbClr val="143663">
                <a:alpha val="0"/>
              </a:srgbClr>
            </a:solidFill>
            <a:prstDash val="solid"/>
          </a:ln>
        </p:spPr>
      </p:sp>
      <p:sp>
        <p:nvSpPr>
          <p:cNvPr id="3" name="Shape 1"/>
          <p:cNvSpPr/>
          <p:nvPr/>
        </p:nvSpPr>
        <p:spPr>
          <a:xfrm>
            <a:off x="9555480" y="4864608"/>
            <a:ext cx="2057400" cy="1783080"/>
          </a:xfrm>
          <a:prstGeom prst="ellipse">
            <a:avLst/>
          </a:prstGeom>
          <a:solidFill>
            <a:srgbClr val="0D6EFD">
              <a:alpha val="80000"/>
            </a:srgbClr>
          </a:solidFill>
          <a:ln w="12700">
            <a:solidFill>
              <a:srgbClr val="0D6EFD">
                <a:alpha val="0"/>
              </a:srgbClr>
            </a:solidFill>
            <a:prstDash val="solid"/>
          </a:ln>
        </p:spPr>
      </p:sp>
      <p:sp>
        <p:nvSpPr>
          <p:cNvPr id="4" name="Shape 2"/>
          <p:cNvSpPr/>
          <p:nvPr/>
        </p:nvSpPr>
        <p:spPr>
          <a:xfrm>
            <a:off x="640080" y="502920"/>
            <a:ext cx="1143000" cy="310896"/>
          </a:xfrm>
          <a:prstGeom prst="roundRect">
            <a:avLst>
              <a:gd name="adj" fmla="val 44118"/>
            </a:avLst>
          </a:prstGeom>
          <a:solidFill>
            <a:srgbClr val="F59E0B"/>
          </a:solidFill>
          <a:ln w="12700">
            <a:solidFill>
              <a:srgbClr val="F59E0B"/>
            </a:solidFill>
            <a:prstDash val="solid"/>
          </a:ln>
        </p:spPr>
      </p:sp>
      <p:sp>
        <p:nvSpPr>
          <p:cNvPr id="5" name="Text 3"/>
          <p:cNvSpPr/>
          <p:nvPr/>
        </p:nvSpPr>
        <p:spPr>
          <a:xfrm>
            <a:off x="713232" y="571500"/>
            <a:ext cx="996696" cy="164592"/>
          </a:xfrm>
          <a:prstGeom prst="rect">
            <a:avLst/>
          </a:prstGeom>
          <a:noFill/>
        </p:spPr>
        <p:txBody>
          <a:bodyPr wrap="square" lIns="0" tIns="0" rIns="0" bIns="0" rtlCol="0" anchor="ctr"/>
          <a:lstStyle/>
          <a:p>
            <a:pPr marL="0" indent="0" algn="ctr">
              <a:buNone/>
            </a:pPr>
            <a:r>
              <a:rPr lang="en-US" sz="900" b="1" dirty="0">
                <a:solidFill>
                  <a:srgbClr val="0B1F3A"/>
                </a:solidFill>
              </a:rPr>
              <a:t>LECTURE</a:t>
            </a:r>
            <a:endParaRPr lang="en-US" sz="900" dirty="0"/>
          </a:p>
        </p:txBody>
      </p:sp>
      <p:sp>
        <p:nvSpPr>
          <p:cNvPr id="6" name="Text 4"/>
          <p:cNvSpPr/>
          <p:nvPr/>
        </p:nvSpPr>
        <p:spPr>
          <a:xfrm>
            <a:off x="658368" y="960120"/>
            <a:ext cx="6126480" cy="1463040"/>
          </a:xfrm>
          <a:prstGeom prst="rect">
            <a:avLst/>
          </a:prstGeom>
          <a:noFill/>
        </p:spPr>
        <p:txBody>
          <a:bodyPr wrap="square" lIns="0" tIns="0" rIns="0" bIns="0" rtlCol="0" anchor="ctr"/>
          <a:lstStyle/>
          <a:p>
            <a:pPr marL="0" indent="0">
              <a:buNone/>
            </a:pPr>
            <a:r>
              <a:rPr lang="en-US" sz="3200" b="1" dirty="0">
                <a:solidFill>
                  <a:srgbClr val="FFFFFF"/>
                </a:solidFill>
                <a:latin typeface="Aptos Display" pitchFamily="34" charset="0"/>
                <a:ea typeface="Aptos Display" pitchFamily="34" charset="-122"/>
                <a:cs typeface="Aptos Display" pitchFamily="34" charset="-120"/>
              </a:rPr>
              <a:t>AI Tools, ChatGPT</a:t>
            </a:r>
            <a:endParaRPr lang="en-US" sz="3200" dirty="0"/>
          </a:p>
          <a:p>
            <a:pPr marL="0" indent="0">
              <a:buNone/>
            </a:pPr>
            <a:r>
              <a:rPr lang="en-US" sz="3200" b="1" dirty="0">
                <a:solidFill>
                  <a:srgbClr val="FFFFFF"/>
                </a:solidFill>
                <a:latin typeface="Aptos Display" pitchFamily="34" charset="0"/>
                <a:ea typeface="Aptos Display" pitchFamily="34" charset="-122"/>
                <a:cs typeface="Aptos Display" pitchFamily="34" charset="-120"/>
              </a:rPr>
              <a:t>&amp; Intelligent Agents</a:t>
            </a:r>
            <a:endParaRPr lang="en-US" sz="3200" dirty="0"/>
          </a:p>
        </p:txBody>
      </p:sp>
      <p:sp>
        <p:nvSpPr>
          <p:cNvPr id="7" name="Text 5"/>
          <p:cNvSpPr/>
          <p:nvPr/>
        </p:nvSpPr>
        <p:spPr>
          <a:xfrm>
            <a:off x="676656" y="2587752"/>
            <a:ext cx="5212080" cy="384048"/>
          </a:xfrm>
          <a:prstGeom prst="rect">
            <a:avLst/>
          </a:prstGeom>
          <a:noFill/>
        </p:spPr>
        <p:txBody>
          <a:bodyPr wrap="square" lIns="0" tIns="0" rIns="0" bIns="0" rtlCol="0" anchor="ctr"/>
          <a:lstStyle/>
          <a:p>
            <a:pPr marL="0" indent="0">
              <a:buNone/>
            </a:pPr>
            <a:r>
              <a:rPr lang="en-US" sz="1600" dirty="0">
                <a:solidFill>
                  <a:srgbClr val="C9DAF5"/>
                </a:solidFill>
              </a:rPr>
              <a:t>From asking questions to delegating tasks</a:t>
            </a:r>
            <a:endParaRPr lang="en-US" sz="1600" dirty="0"/>
          </a:p>
        </p:txBody>
      </p:sp>
      <p:sp>
        <p:nvSpPr>
          <p:cNvPr id="8" name="Text 6"/>
          <p:cNvSpPr/>
          <p:nvPr/>
        </p:nvSpPr>
        <p:spPr>
          <a:xfrm>
            <a:off x="676656" y="3246120"/>
            <a:ext cx="5394960" cy="685800"/>
          </a:xfrm>
          <a:prstGeom prst="rect">
            <a:avLst/>
          </a:prstGeom>
          <a:noFill/>
        </p:spPr>
        <p:txBody>
          <a:bodyPr wrap="square" lIns="0" tIns="0" rIns="0" bIns="0" rtlCol="0" anchor="ctr"/>
          <a:lstStyle/>
          <a:p>
            <a:pPr marL="0" indent="0">
              <a:buNone/>
            </a:pPr>
            <a:r>
              <a:rPr lang="en-US" sz="1400" b="1" dirty="0">
                <a:solidFill>
                  <a:srgbClr val="FFFFFF"/>
                </a:solidFill>
              </a:rPr>
              <a:t>Artificial Intelligence</a:t>
            </a:r>
            <a:endParaRPr lang="en-US" sz="1400" dirty="0"/>
          </a:p>
          <a:p>
            <a:pPr marL="0" indent="0">
              <a:buNone/>
            </a:pPr>
            <a:r>
              <a:rPr lang="en-US" sz="1400" b="1" dirty="0">
                <a:solidFill>
                  <a:srgbClr val="FFFFFF"/>
                </a:solidFill>
              </a:rPr>
              <a:t>MSc Mathematics with AI &amp; Data Science</a:t>
            </a:r>
            <a:endParaRPr lang="en-US" sz="1400" dirty="0"/>
          </a:p>
        </p:txBody>
      </p:sp>
      <p:sp>
        <p:nvSpPr>
          <p:cNvPr id="9" name="Text 7"/>
          <p:cNvSpPr/>
          <p:nvPr/>
        </p:nvSpPr>
        <p:spPr>
          <a:xfrm>
            <a:off x="676656" y="4151376"/>
            <a:ext cx="5394960" cy="274320"/>
          </a:xfrm>
          <a:prstGeom prst="rect">
            <a:avLst/>
          </a:prstGeom>
          <a:noFill/>
        </p:spPr>
        <p:txBody>
          <a:bodyPr wrap="square" lIns="0" tIns="0" rIns="0" bIns="0" rtlCol="0" anchor="ctr"/>
          <a:lstStyle/>
          <a:p>
            <a:pPr marL="0" indent="0">
              <a:buNone/>
            </a:pPr>
            <a:r>
              <a:rPr lang="en-US" sz="1150" dirty="0">
                <a:solidFill>
                  <a:srgbClr val="C9DAF5"/>
                </a:solidFill>
              </a:rPr>
              <a:t>Prof. Namita Tiwari | CSJMU, Kanpur</a:t>
            </a:r>
            <a:endParaRPr lang="en-US" sz="1150" dirty="0"/>
          </a:p>
        </p:txBody>
      </p:sp>
      <p:sp>
        <p:nvSpPr>
          <p:cNvPr id="10" name="Shape 8"/>
          <p:cNvSpPr/>
          <p:nvPr/>
        </p:nvSpPr>
        <p:spPr>
          <a:xfrm>
            <a:off x="6711696" y="658368"/>
            <a:ext cx="4818888" cy="3099816"/>
          </a:xfrm>
          <a:prstGeom prst="roundRect">
            <a:avLst>
              <a:gd name="adj" fmla="val 3540"/>
            </a:avLst>
          </a:prstGeom>
          <a:solidFill>
            <a:srgbClr val="FFFFFF"/>
          </a:solidFill>
          <a:ln w="12700">
            <a:solidFill>
              <a:srgbClr val="DDE4EC"/>
            </a:solidFill>
            <a:prstDash val="solid"/>
          </a:ln>
          <a:effectLst>
            <a:outerShdw blurRad="25400" dist="12700" dir="2700000" algn="bl" rotWithShape="0">
              <a:srgbClr val="000000">
                <a:alpha val="14000"/>
              </a:srgbClr>
            </a:outerShdw>
          </a:effectLst>
        </p:spPr>
      </p:sp>
      <p:pic>
        <p:nvPicPr>
          <p:cNvPr id="11" name="Image 0" descr="/mnt/data/WhatsApp Image 2026-07-16 at 10.33.29 PM.jpeg"/>
          <p:cNvPicPr>
            <a:picLocks noChangeAspect="1"/>
          </p:cNvPicPr>
          <p:nvPr/>
        </p:nvPicPr>
        <p:blipFill>
          <a:blip r:embed="rId1"/>
          <a:stretch>
            <a:fillRect/>
          </a:stretch>
        </p:blipFill>
        <p:spPr>
          <a:xfrm>
            <a:off x="6768382" y="713232"/>
            <a:ext cx="4705517" cy="2990088"/>
          </a:xfrm>
          <a:prstGeom prst="rect">
            <a:avLst/>
          </a:prstGeom>
        </p:spPr>
      </p:pic>
      <p:sp>
        <p:nvSpPr>
          <p:cNvPr id="12" name="Text 9"/>
          <p:cNvSpPr/>
          <p:nvPr/>
        </p:nvSpPr>
        <p:spPr>
          <a:xfrm>
            <a:off x="6766560" y="3749040"/>
            <a:ext cx="4709160" cy="201168"/>
          </a:xfrm>
          <a:prstGeom prst="rect">
            <a:avLst/>
          </a:prstGeom>
          <a:noFill/>
        </p:spPr>
        <p:txBody>
          <a:bodyPr wrap="square" lIns="0" tIns="0" rIns="0" bIns="0" rtlCol="0" anchor="ctr"/>
          <a:lstStyle/>
          <a:p>
            <a:pPr marL="0" indent="0" algn="ctr">
              <a:buNone/>
            </a:pPr>
            <a:r>
              <a:rPr lang="en-US" sz="800" dirty="0">
                <a:solidFill>
                  <a:srgbClr val="667085"/>
                </a:solidFill>
              </a:rPr>
              <a:t>Course inspiration supplied by the instructor</a:t>
            </a:r>
            <a:endParaRPr lang="en-US" sz="800" dirty="0"/>
          </a:p>
        </p:txBody>
      </p:sp>
      <p:sp>
        <p:nvSpPr>
          <p:cNvPr id="13" name="Shape 10"/>
          <p:cNvSpPr/>
          <p:nvPr/>
        </p:nvSpPr>
        <p:spPr>
          <a:xfrm>
            <a:off x="6995160" y="4160520"/>
            <a:ext cx="4251960" cy="1097280"/>
          </a:xfrm>
          <a:prstGeom prst="roundRect">
            <a:avLst>
              <a:gd name="adj" fmla="val 12500"/>
            </a:avLst>
          </a:prstGeom>
          <a:solidFill>
            <a:srgbClr val="FFFFFF">
              <a:alpha val="95000"/>
            </a:srgbClr>
          </a:solidFill>
          <a:ln w="12700">
            <a:solidFill>
              <a:srgbClr val="FFFFFF">
                <a:alpha val="25000"/>
              </a:srgbClr>
            </a:solidFill>
            <a:prstDash val="solid"/>
          </a:ln>
        </p:spPr>
      </p:sp>
      <p:sp>
        <p:nvSpPr>
          <p:cNvPr id="14" name="Text 11"/>
          <p:cNvSpPr/>
          <p:nvPr/>
        </p:nvSpPr>
        <p:spPr>
          <a:xfrm>
            <a:off x="7269480" y="4407408"/>
            <a:ext cx="2103120" cy="228600"/>
          </a:xfrm>
          <a:prstGeom prst="rect">
            <a:avLst/>
          </a:prstGeom>
          <a:noFill/>
        </p:spPr>
        <p:txBody>
          <a:bodyPr wrap="square" lIns="0" tIns="0" rIns="0" bIns="0" rtlCol="0" anchor="ctr"/>
          <a:lstStyle/>
          <a:p>
            <a:pPr marL="0" indent="0">
              <a:buNone/>
            </a:pPr>
            <a:r>
              <a:rPr lang="en-US" sz="1000" b="1" dirty="0">
                <a:solidFill>
                  <a:srgbClr val="F59E0B"/>
                </a:solidFill>
              </a:rPr>
              <a:t>Today’s core question</a:t>
            </a:r>
            <a:endParaRPr lang="en-US" sz="1000" dirty="0"/>
          </a:p>
        </p:txBody>
      </p:sp>
      <p:sp>
        <p:nvSpPr>
          <p:cNvPr id="15" name="Text 12"/>
          <p:cNvSpPr/>
          <p:nvPr/>
        </p:nvSpPr>
        <p:spPr>
          <a:xfrm>
            <a:off x="7269480" y="4681728"/>
            <a:ext cx="3657600" cy="384048"/>
          </a:xfrm>
          <a:prstGeom prst="rect">
            <a:avLst/>
          </a:prstGeom>
          <a:noFill/>
        </p:spPr>
        <p:txBody>
          <a:bodyPr wrap="square" lIns="0" tIns="0" rIns="0" bIns="0" rtlCol="0" anchor="ctr"/>
          <a:lstStyle/>
          <a:p>
            <a:pPr marL="0" indent="0">
              <a:buNone/>
            </a:pPr>
            <a:r>
              <a:rPr lang="en-US" sz="1700" b="1" dirty="0">
                <a:solidFill>
                  <a:srgbClr val="0B1F3A"/>
                </a:solidFill>
              </a:rPr>
              <a:t>When should we use a model, a tool, or an agent?</a:t>
            </a:r>
            <a:endParaRPr lang="en-US" sz="1700" dirty="0"/>
          </a:p>
        </p:txBody>
      </p:sp>
      <p:sp>
        <p:nvSpPr>
          <p:cNvPr id="16" name="Text 13"/>
          <p:cNvSpPr/>
          <p:nvPr/>
        </p:nvSpPr>
        <p:spPr>
          <a:xfrm>
            <a:off x="676656" y="6263640"/>
            <a:ext cx="5029200" cy="182880"/>
          </a:xfrm>
          <a:prstGeom prst="rect">
            <a:avLst/>
          </a:prstGeom>
          <a:noFill/>
        </p:spPr>
        <p:txBody>
          <a:bodyPr wrap="square" lIns="0" tIns="0" rIns="0" bIns="0" rtlCol="0" anchor="ctr"/>
          <a:lstStyle/>
          <a:p>
            <a:pPr marL="0" indent="0">
              <a:buNone/>
            </a:pPr>
            <a:r>
              <a:rPr lang="en-US" sz="800" dirty="0">
                <a:solidFill>
                  <a:srgbClr val="9DB7D9"/>
                </a:solidFill>
              </a:rPr>
              <a:t>Updated with official OpenAI sources • 17 July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Learning Outcomes</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By the end of this lecture, students should be able to:</a:t>
            </a:r>
            <a:endParaRPr lang="en-US" sz="1150" dirty="0"/>
          </a:p>
        </p:txBody>
      </p:sp>
      <p:sp>
        <p:nvSpPr>
          <p:cNvPr id="4" name="Shape 2"/>
          <p:cNvSpPr/>
          <p:nvPr/>
        </p:nvSpPr>
        <p:spPr>
          <a:xfrm>
            <a:off x="685800" y="1508760"/>
            <a:ext cx="2880360" cy="1508760"/>
          </a:xfrm>
          <a:prstGeom prst="roundRect">
            <a:avLst>
              <a:gd name="adj" fmla="val 7273"/>
            </a:avLst>
          </a:prstGeom>
          <a:solidFill>
            <a:srgbClr val="FFFFFF"/>
          </a:solidFill>
          <a:ln w="12700">
            <a:solidFill>
              <a:srgbClr val="DCE5EF"/>
            </a:solidFill>
            <a:prstDash val="solid"/>
          </a:ln>
          <a:effectLst>
            <a:outerShdw blurRad="-2147483648" dist="-2147483648" dir="1" algn="bl" rotWithShape="0">
              <a:srgbClr val="000000">
                <a:alpha val="1"/>
              </a:srgbClr>
            </a:outerShdw>
          </a:effectLst>
        </p:spPr>
      </p:sp>
      <p:sp>
        <p:nvSpPr>
          <p:cNvPr id="5" name="Text 3"/>
          <p:cNvSpPr/>
          <p:nvPr/>
        </p:nvSpPr>
        <p:spPr>
          <a:xfrm>
            <a:off x="896112" y="1691640"/>
            <a:ext cx="475488" cy="301752"/>
          </a:xfrm>
          <a:prstGeom prst="rect">
            <a:avLst/>
          </a:prstGeom>
          <a:noFill/>
        </p:spPr>
        <p:txBody>
          <a:bodyPr wrap="square" lIns="0" tIns="0" rIns="0" bIns="0" rtlCol="0" anchor="ctr"/>
          <a:lstStyle/>
          <a:p>
            <a:pPr marL="0" indent="0">
              <a:buNone/>
            </a:pPr>
            <a:r>
              <a:rPr lang="en-US" sz="1800" b="1" dirty="0">
                <a:solidFill>
                  <a:srgbClr val="1677FF"/>
                </a:solidFill>
              </a:rPr>
              <a:t>01</a:t>
            </a:r>
            <a:endParaRPr lang="en-US" sz="1800" dirty="0"/>
          </a:p>
        </p:txBody>
      </p:sp>
      <p:sp>
        <p:nvSpPr>
          <p:cNvPr id="6" name="Text 4"/>
          <p:cNvSpPr/>
          <p:nvPr/>
        </p:nvSpPr>
        <p:spPr>
          <a:xfrm>
            <a:off x="1490472" y="1691640"/>
            <a:ext cx="1874520" cy="274320"/>
          </a:xfrm>
          <a:prstGeom prst="rect">
            <a:avLst/>
          </a:prstGeom>
          <a:noFill/>
        </p:spPr>
        <p:txBody>
          <a:bodyPr wrap="square" lIns="0" tIns="0" rIns="0" bIns="0" rtlCol="0" anchor="ctr"/>
          <a:lstStyle/>
          <a:p>
            <a:pPr marL="0" indent="0">
              <a:buNone/>
            </a:pPr>
            <a:r>
              <a:rPr lang="en-US" sz="1700" b="1" dirty="0">
                <a:solidFill>
                  <a:srgbClr val="0B1F3A"/>
                </a:solidFill>
              </a:rPr>
              <a:t>Distinguish</a:t>
            </a:r>
            <a:endParaRPr lang="en-US" sz="1700" dirty="0"/>
          </a:p>
        </p:txBody>
      </p:sp>
      <p:sp>
        <p:nvSpPr>
          <p:cNvPr id="7" name="Text 5"/>
          <p:cNvSpPr/>
          <p:nvPr/>
        </p:nvSpPr>
        <p:spPr>
          <a:xfrm>
            <a:off x="914400" y="2221992"/>
            <a:ext cx="2423160" cy="530352"/>
          </a:xfrm>
          <a:prstGeom prst="rect">
            <a:avLst/>
          </a:prstGeom>
          <a:noFill/>
        </p:spPr>
        <p:txBody>
          <a:bodyPr wrap="square" lIns="0" tIns="0" rIns="0" bIns="0" rtlCol="0" anchor="ctr">
            <a:normAutofit/>
          </a:bodyPr>
          <a:lstStyle/>
          <a:p>
            <a:pPr marL="0" indent="0">
              <a:buNone/>
            </a:pPr>
            <a:r>
              <a:rPr lang="en-US" sz="1200" dirty="0">
                <a:solidFill>
                  <a:srgbClr val="273449"/>
                </a:solidFill>
              </a:rPr>
              <a:t>AI model, AI tool, assistant, and agent</a:t>
            </a:r>
            <a:endParaRPr lang="en-US" sz="1200" dirty="0"/>
          </a:p>
        </p:txBody>
      </p:sp>
      <p:sp>
        <p:nvSpPr>
          <p:cNvPr id="8" name="Shape 6"/>
          <p:cNvSpPr/>
          <p:nvPr/>
        </p:nvSpPr>
        <p:spPr>
          <a:xfrm>
            <a:off x="4160520" y="1508760"/>
            <a:ext cx="2880360" cy="1508760"/>
          </a:xfrm>
          <a:prstGeom prst="roundRect">
            <a:avLst>
              <a:gd name="adj" fmla="val 7273"/>
            </a:avLst>
          </a:prstGeom>
          <a:solidFill>
            <a:srgbClr val="FFFFFF"/>
          </a:solidFill>
          <a:ln w="12700">
            <a:solidFill>
              <a:srgbClr val="DCE5EF"/>
            </a:solidFill>
            <a:prstDash val="solid"/>
          </a:ln>
          <a:effectLst>
            <a:outerShdw blurRad="-2147483648" dist="-2147483648" dir="7" algn="bl" rotWithShape="0">
              <a:srgbClr val="000000">
                <a:alpha val="1"/>
              </a:srgbClr>
            </a:outerShdw>
          </a:effectLst>
        </p:spPr>
      </p:sp>
      <p:sp>
        <p:nvSpPr>
          <p:cNvPr id="9" name="Text 7"/>
          <p:cNvSpPr/>
          <p:nvPr/>
        </p:nvSpPr>
        <p:spPr>
          <a:xfrm>
            <a:off x="4370832" y="1691640"/>
            <a:ext cx="475488" cy="301752"/>
          </a:xfrm>
          <a:prstGeom prst="rect">
            <a:avLst/>
          </a:prstGeom>
          <a:noFill/>
        </p:spPr>
        <p:txBody>
          <a:bodyPr wrap="square" lIns="0" tIns="0" rIns="0" bIns="0" rtlCol="0" anchor="ctr"/>
          <a:lstStyle/>
          <a:p>
            <a:pPr marL="0" indent="0">
              <a:buNone/>
            </a:pPr>
            <a:r>
              <a:rPr lang="en-US" sz="1800" b="1" dirty="0">
                <a:solidFill>
                  <a:srgbClr val="1677FF"/>
                </a:solidFill>
              </a:rPr>
              <a:t>02</a:t>
            </a:r>
            <a:endParaRPr lang="en-US" sz="1800" dirty="0"/>
          </a:p>
        </p:txBody>
      </p:sp>
      <p:sp>
        <p:nvSpPr>
          <p:cNvPr id="10" name="Text 8"/>
          <p:cNvSpPr/>
          <p:nvPr/>
        </p:nvSpPr>
        <p:spPr>
          <a:xfrm>
            <a:off x="4965192" y="1691640"/>
            <a:ext cx="1874520" cy="274320"/>
          </a:xfrm>
          <a:prstGeom prst="rect">
            <a:avLst/>
          </a:prstGeom>
          <a:noFill/>
        </p:spPr>
        <p:txBody>
          <a:bodyPr wrap="square" lIns="0" tIns="0" rIns="0" bIns="0" rtlCol="0" anchor="ctr"/>
          <a:lstStyle/>
          <a:p>
            <a:pPr marL="0" indent="0">
              <a:buNone/>
            </a:pPr>
            <a:r>
              <a:rPr lang="en-US" sz="1700" b="1" dirty="0">
                <a:solidFill>
                  <a:srgbClr val="0B1F3A"/>
                </a:solidFill>
              </a:rPr>
              <a:t>Select</a:t>
            </a:r>
            <a:endParaRPr lang="en-US" sz="1700" dirty="0"/>
          </a:p>
        </p:txBody>
      </p:sp>
      <p:sp>
        <p:nvSpPr>
          <p:cNvPr id="11" name="Text 9"/>
          <p:cNvSpPr/>
          <p:nvPr/>
        </p:nvSpPr>
        <p:spPr>
          <a:xfrm>
            <a:off x="4389120" y="2221992"/>
            <a:ext cx="2423160" cy="530352"/>
          </a:xfrm>
          <a:prstGeom prst="rect">
            <a:avLst/>
          </a:prstGeom>
          <a:noFill/>
        </p:spPr>
        <p:txBody>
          <a:bodyPr wrap="square" lIns="0" tIns="0" rIns="0" bIns="0" rtlCol="0" anchor="ctr">
            <a:normAutofit/>
          </a:bodyPr>
          <a:lstStyle/>
          <a:p>
            <a:pPr marL="0" indent="0">
              <a:buNone/>
            </a:pPr>
            <a:r>
              <a:rPr lang="en-US" sz="1200" dirty="0">
                <a:solidFill>
                  <a:srgbClr val="273449"/>
                </a:solidFill>
              </a:rPr>
              <a:t>the right ChatGPT capability for a task</a:t>
            </a:r>
            <a:endParaRPr lang="en-US" sz="1200" dirty="0"/>
          </a:p>
        </p:txBody>
      </p:sp>
      <p:sp>
        <p:nvSpPr>
          <p:cNvPr id="12" name="Shape 10"/>
          <p:cNvSpPr/>
          <p:nvPr/>
        </p:nvSpPr>
        <p:spPr>
          <a:xfrm>
            <a:off x="7635240" y="1508760"/>
            <a:ext cx="2880360" cy="1508760"/>
          </a:xfrm>
          <a:prstGeom prst="roundRect">
            <a:avLst>
              <a:gd name="adj" fmla="val 7273"/>
            </a:avLst>
          </a:prstGeom>
          <a:solidFill>
            <a:srgbClr val="FFFFFF"/>
          </a:solidFill>
          <a:ln w="12700">
            <a:solidFill>
              <a:srgbClr val="DCE5EF"/>
            </a:solidFill>
            <a:prstDash val="solid"/>
          </a:ln>
          <a:effectLst>
            <a:outerShdw blurRad="-2147483648" dist="-2147483648" dir="4" algn="bl" rotWithShape="0">
              <a:srgbClr val="000000">
                <a:alpha val="1"/>
              </a:srgbClr>
            </a:outerShdw>
          </a:effectLst>
        </p:spPr>
      </p:sp>
      <p:sp>
        <p:nvSpPr>
          <p:cNvPr id="13" name="Text 11"/>
          <p:cNvSpPr/>
          <p:nvPr/>
        </p:nvSpPr>
        <p:spPr>
          <a:xfrm>
            <a:off x="7845552" y="1691640"/>
            <a:ext cx="475488" cy="301752"/>
          </a:xfrm>
          <a:prstGeom prst="rect">
            <a:avLst/>
          </a:prstGeom>
          <a:noFill/>
        </p:spPr>
        <p:txBody>
          <a:bodyPr wrap="square" lIns="0" tIns="0" rIns="0" bIns="0" rtlCol="0" anchor="ctr"/>
          <a:lstStyle/>
          <a:p>
            <a:pPr marL="0" indent="0">
              <a:buNone/>
            </a:pPr>
            <a:r>
              <a:rPr lang="en-US" sz="1800" b="1" dirty="0">
                <a:solidFill>
                  <a:srgbClr val="1677FF"/>
                </a:solidFill>
              </a:rPr>
              <a:t>03</a:t>
            </a:r>
            <a:endParaRPr lang="en-US" sz="1800" dirty="0"/>
          </a:p>
        </p:txBody>
      </p:sp>
      <p:sp>
        <p:nvSpPr>
          <p:cNvPr id="14" name="Text 12"/>
          <p:cNvSpPr/>
          <p:nvPr/>
        </p:nvSpPr>
        <p:spPr>
          <a:xfrm>
            <a:off x="8439912" y="1691640"/>
            <a:ext cx="1874520" cy="274320"/>
          </a:xfrm>
          <a:prstGeom prst="rect">
            <a:avLst/>
          </a:prstGeom>
          <a:noFill/>
        </p:spPr>
        <p:txBody>
          <a:bodyPr wrap="square" lIns="0" tIns="0" rIns="0" bIns="0" rtlCol="0" anchor="ctr"/>
          <a:lstStyle/>
          <a:p>
            <a:pPr marL="0" indent="0">
              <a:buNone/>
            </a:pPr>
            <a:r>
              <a:rPr lang="en-US" sz="1700" b="1" dirty="0">
                <a:solidFill>
                  <a:srgbClr val="0B1F3A"/>
                </a:solidFill>
              </a:rPr>
              <a:t>Design</a:t>
            </a:r>
            <a:endParaRPr lang="en-US" sz="1700" dirty="0"/>
          </a:p>
        </p:txBody>
      </p:sp>
      <p:sp>
        <p:nvSpPr>
          <p:cNvPr id="15" name="Text 13"/>
          <p:cNvSpPr/>
          <p:nvPr/>
        </p:nvSpPr>
        <p:spPr>
          <a:xfrm>
            <a:off x="7863840" y="2221992"/>
            <a:ext cx="2423160" cy="530352"/>
          </a:xfrm>
          <a:prstGeom prst="rect">
            <a:avLst/>
          </a:prstGeom>
          <a:noFill/>
        </p:spPr>
        <p:txBody>
          <a:bodyPr wrap="square" lIns="0" tIns="0" rIns="0" bIns="0" rtlCol="0" anchor="ctr">
            <a:normAutofit/>
          </a:bodyPr>
          <a:lstStyle/>
          <a:p>
            <a:pPr marL="0" indent="0">
              <a:buNone/>
            </a:pPr>
            <a:r>
              <a:rPr lang="en-US" sz="1200" dirty="0">
                <a:solidFill>
                  <a:srgbClr val="273449"/>
                </a:solidFill>
              </a:rPr>
              <a:t>clear prompts with context and output format</a:t>
            </a:r>
            <a:endParaRPr lang="en-US" sz="1200" dirty="0"/>
          </a:p>
        </p:txBody>
      </p:sp>
      <p:sp>
        <p:nvSpPr>
          <p:cNvPr id="16" name="Shape 14"/>
          <p:cNvSpPr/>
          <p:nvPr/>
        </p:nvSpPr>
        <p:spPr>
          <a:xfrm>
            <a:off x="685800" y="3886200"/>
            <a:ext cx="3246120" cy="1508760"/>
          </a:xfrm>
          <a:prstGeom prst="roundRect">
            <a:avLst>
              <a:gd name="adj" fmla="val 7273"/>
            </a:avLst>
          </a:prstGeom>
          <a:solidFill>
            <a:srgbClr val="FFFFFF"/>
          </a:solidFill>
          <a:ln w="12700">
            <a:solidFill>
              <a:srgbClr val="DCE5EF"/>
            </a:solidFill>
            <a:prstDash val="solid"/>
          </a:ln>
          <a:effectLst>
            <a:outerShdw blurRad="-2147483648" dist="-2147483648" dir="2" algn="bl" rotWithShape="0">
              <a:srgbClr val="000000">
                <a:alpha val="1"/>
              </a:srgbClr>
            </a:outerShdw>
          </a:effectLst>
        </p:spPr>
      </p:sp>
      <p:sp>
        <p:nvSpPr>
          <p:cNvPr id="17" name="Text 15"/>
          <p:cNvSpPr/>
          <p:nvPr/>
        </p:nvSpPr>
        <p:spPr>
          <a:xfrm>
            <a:off x="896112" y="4069080"/>
            <a:ext cx="475488" cy="301752"/>
          </a:xfrm>
          <a:prstGeom prst="rect">
            <a:avLst/>
          </a:prstGeom>
          <a:noFill/>
        </p:spPr>
        <p:txBody>
          <a:bodyPr wrap="square" lIns="0" tIns="0" rIns="0" bIns="0" rtlCol="0" anchor="ctr"/>
          <a:lstStyle/>
          <a:p>
            <a:pPr marL="0" indent="0">
              <a:buNone/>
            </a:pPr>
            <a:r>
              <a:rPr lang="en-US" sz="1800" b="1" dirty="0">
                <a:solidFill>
                  <a:srgbClr val="1677FF"/>
                </a:solidFill>
              </a:rPr>
              <a:t>04</a:t>
            </a:r>
            <a:endParaRPr lang="en-US" sz="1800" dirty="0"/>
          </a:p>
        </p:txBody>
      </p:sp>
      <p:sp>
        <p:nvSpPr>
          <p:cNvPr id="18" name="Text 16"/>
          <p:cNvSpPr/>
          <p:nvPr/>
        </p:nvSpPr>
        <p:spPr>
          <a:xfrm>
            <a:off x="1490472" y="4069080"/>
            <a:ext cx="2240280" cy="274320"/>
          </a:xfrm>
          <a:prstGeom prst="rect">
            <a:avLst/>
          </a:prstGeom>
          <a:noFill/>
        </p:spPr>
        <p:txBody>
          <a:bodyPr wrap="square" lIns="0" tIns="0" rIns="0" bIns="0" rtlCol="0" anchor="ctr"/>
          <a:lstStyle/>
          <a:p>
            <a:pPr marL="0" indent="0">
              <a:buNone/>
            </a:pPr>
            <a:r>
              <a:rPr lang="en-US" sz="1700" b="1" dirty="0">
                <a:solidFill>
                  <a:srgbClr val="0B1F3A"/>
                </a:solidFill>
              </a:rPr>
              <a:t>Apply</a:t>
            </a:r>
            <a:endParaRPr lang="en-US" sz="1700" dirty="0"/>
          </a:p>
        </p:txBody>
      </p:sp>
      <p:sp>
        <p:nvSpPr>
          <p:cNvPr id="19" name="Text 17"/>
          <p:cNvSpPr/>
          <p:nvPr/>
        </p:nvSpPr>
        <p:spPr>
          <a:xfrm>
            <a:off x="914400" y="4599432"/>
            <a:ext cx="2788920" cy="530352"/>
          </a:xfrm>
          <a:prstGeom prst="rect">
            <a:avLst/>
          </a:prstGeom>
          <a:noFill/>
        </p:spPr>
        <p:txBody>
          <a:bodyPr wrap="square" lIns="0" tIns="0" rIns="0" bIns="0" rtlCol="0" anchor="ctr">
            <a:normAutofit/>
          </a:bodyPr>
          <a:lstStyle/>
          <a:p>
            <a:pPr marL="0" indent="0">
              <a:buNone/>
            </a:pPr>
            <a:r>
              <a:rPr lang="en-US" sz="1200" dirty="0">
                <a:solidFill>
                  <a:srgbClr val="273449"/>
                </a:solidFill>
              </a:rPr>
              <a:t>ChatGPT to mathematics, data science, and research</a:t>
            </a:r>
            <a:endParaRPr lang="en-US" sz="1200" dirty="0"/>
          </a:p>
        </p:txBody>
      </p:sp>
      <p:sp>
        <p:nvSpPr>
          <p:cNvPr id="20" name="Shape 18"/>
          <p:cNvSpPr/>
          <p:nvPr/>
        </p:nvSpPr>
        <p:spPr>
          <a:xfrm>
            <a:off x="4160520" y="3886200"/>
            <a:ext cx="3246120" cy="1508760"/>
          </a:xfrm>
          <a:prstGeom prst="roundRect">
            <a:avLst>
              <a:gd name="adj" fmla="val 7273"/>
            </a:avLst>
          </a:prstGeom>
          <a:solidFill>
            <a:srgbClr val="FFF4DF"/>
          </a:solidFill>
          <a:ln w="12700">
            <a:solidFill>
              <a:srgbClr val="F3C46D"/>
            </a:solidFill>
            <a:prstDash val="solid"/>
          </a:ln>
          <a:effectLst>
            <a:outerShdw blurRad="-2147483648" dist="-2147483648" dir="1" algn="bl" rotWithShape="0">
              <a:srgbClr val="000000">
                <a:alpha val="1"/>
              </a:srgbClr>
            </a:outerShdw>
          </a:effectLst>
        </p:spPr>
      </p:sp>
      <p:sp>
        <p:nvSpPr>
          <p:cNvPr id="21" name="Text 19"/>
          <p:cNvSpPr/>
          <p:nvPr/>
        </p:nvSpPr>
        <p:spPr>
          <a:xfrm>
            <a:off x="4370832" y="4069080"/>
            <a:ext cx="475488" cy="301752"/>
          </a:xfrm>
          <a:prstGeom prst="rect">
            <a:avLst/>
          </a:prstGeom>
          <a:noFill/>
        </p:spPr>
        <p:txBody>
          <a:bodyPr wrap="square" lIns="0" tIns="0" rIns="0" bIns="0" rtlCol="0" anchor="ctr"/>
          <a:lstStyle/>
          <a:p>
            <a:pPr marL="0" indent="0">
              <a:buNone/>
            </a:pPr>
            <a:r>
              <a:rPr lang="en-US" sz="1800" b="1" dirty="0">
                <a:solidFill>
                  <a:srgbClr val="F59E0B"/>
                </a:solidFill>
              </a:rPr>
              <a:t>05</a:t>
            </a:r>
            <a:endParaRPr lang="en-US" sz="1800" dirty="0"/>
          </a:p>
        </p:txBody>
      </p:sp>
      <p:sp>
        <p:nvSpPr>
          <p:cNvPr id="22" name="Text 20"/>
          <p:cNvSpPr/>
          <p:nvPr/>
        </p:nvSpPr>
        <p:spPr>
          <a:xfrm>
            <a:off x="4965192" y="4069080"/>
            <a:ext cx="2240280" cy="274320"/>
          </a:xfrm>
          <a:prstGeom prst="rect">
            <a:avLst/>
          </a:prstGeom>
          <a:noFill/>
        </p:spPr>
        <p:txBody>
          <a:bodyPr wrap="square" lIns="0" tIns="0" rIns="0" bIns="0" rtlCol="0" anchor="ctr"/>
          <a:lstStyle/>
          <a:p>
            <a:pPr marL="0" indent="0">
              <a:buNone/>
            </a:pPr>
            <a:r>
              <a:rPr lang="en-US" sz="1700" b="1" dirty="0">
                <a:solidFill>
                  <a:srgbClr val="0B1F3A"/>
                </a:solidFill>
              </a:rPr>
              <a:t>Evaluate</a:t>
            </a:r>
            <a:endParaRPr lang="en-US" sz="1700" dirty="0"/>
          </a:p>
        </p:txBody>
      </p:sp>
      <p:sp>
        <p:nvSpPr>
          <p:cNvPr id="23" name="Text 21"/>
          <p:cNvSpPr/>
          <p:nvPr/>
        </p:nvSpPr>
        <p:spPr>
          <a:xfrm>
            <a:off x="4389120" y="4599432"/>
            <a:ext cx="2788920" cy="530352"/>
          </a:xfrm>
          <a:prstGeom prst="rect">
            <a:avLst/>
          </a:prstGeom>
          <a:noFill/>
        </p:spPr>
        <p:txBody>
          <a:bodyPr wrap="square" lIns="0" tIns="0" rIns="0" bIns="0" rtlCol="0" anchor="ctr">
            <a:normAutofit/>
          </a:bodyPr>
          <a:lstStyle/>
          <a:p>
            <a:pPr marL="0" indent="0">
              <a:buNone/>
            </a:pPr>
            <a:r>
              <a:rPr lang="en-US" sz="1200" dirty="0">
                <a:solidFill>
                  <a:srgbClr val="273449"/>
                </a:solidFill>
              </a:rPr>
              <a:t>accuracy, privacy, bias, and academic integrity</a:t>
            </a:r>
            <a:endParaRPr lang="en-US" sz="1200" dirty="0"/>
          </a:p>
        </p:txBody>
      </p:sp>
      <p:sp>
        <p:nvSpPr>
          <p:cNvPr id="24" name="Text 22"/>
          <p:cNvSpPr/>
          <p:nvPr/>
        </p:nvSpPr>
        <p:spPr>
          <a:xfrm>
            <a:off x="704088" y="5833872"/>
            <a:ext cx="6583680" cy="256032"/>
          </a:xfrm>
          <a:prstGeom prst="rect">
            <a:avLst/>
          </a:prstGeom>
          <a:noFill/>
        </p:spPr>
        <p:txBody>
          <a:bodyPr wrap="square" lIns="0" tIns="0" rIns="0" bIns="0" rtlCol="0" anchor="ctr"/>
          <a:lstStyle/>
          <a:p>
            <a:pPr marL="0" indent="0">
              <a:buNone/>
            </a:pPr>
            <a:r>
              <a:rPr lang="en-US" sz="1150" dirty="0">
                <a:solidFill>
                  <a:srgbClr val="667085"/>
                </a:solidFill>
              </a:rPr>
              <a:t>Lecture duration: ~40 minutes • Includes demonstration and class activity</a:t>
            </a:r>
            <a:endParaRPr lang="en-US" sz="1150" dirty="0"/>
          </a:p>
        </p:txBody>
      </p:sp>
      <p:sp>
        <p:nvSpPr>
          <p:cNvPr id="25"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From Model to Agent</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Four related ideas—different levels of capability and autonomy.</a:t>
            </a:r>
            <a:endParaRPr lang="en-US" sz="1150" dirty="0"/>
          </a:p>
        </p:txBody>
      </p:sp>
      <p:sp>
        <p:nvSpPr>
          <p:cNvPr id="4" name="Shape 2"/>
          <p:cNvSpPr/>
          <p:nvPr/>
        </p:nvSpPr>
        <p:spPr>
          <a:xfrm>
            <a:off x="685800" y="1600200"/>
            <a:ext cx="2514600" cy="2926080"/>
          </a:xfrm>
          <a:prstGeom prst="roundRect">
            <a:avLst>
              <a:gd name="adj" fmla="val 4364"/>
            </a:avLst>
          </a:prstGeom>
          <a:solidFill>
            <a:srgbClr val="FFFFFF"/>
          </a:solidFill>
          <a:ln w="12700">
            <a:solidFill>
              <a:srgbClr val="DCE5EF"/>
            </a:solidFill>
            <a:prstDash val="solid"/>
          </a:ln>
          <a:effectLst>
            <a:outerShdw blurRad="-2147483648" dist="-2147483648" dir="9" algn="bl" rotWithShape="0">
              <a:srgbClr val="000000">
                <a:alpha val="1"/>
              </a:srgbClr>
            </a:outerShdw>
          </a:effectLst>
        </p:spPr>
      </p:sp>
      <p:sp>
        <p:nvSpPr>
          <p:cNvPr id="5" name="Shape 3"/>
          <p:cNvSpPr/>
          <p:nvPr/>
        </p:nvSpPr>
        <p:spPr>
          <a:xfrm>
            <a:off x="685800" y="1600200"/>
            <a:ext cx="2514600" cy="137160"/>
          </a:xfrm>
          <a:prstGeom prst="rect">
            <a:avLst/>
          </a:prstGeom>
          <a:solidFill>
            <a:srgbClr val="1677FF"/>
          </a:solidFill>
          <a:ln w="12700">
            <a:solidFill>
              <a:srgbClr val="1677FF"/>
            </a:solidFill>
            <a:prstDash val="solid"/>
          </a:ln>
        </p:spPr>
      </p:sp>
      <p:sp>
        <p:nvSpPr>
          <p:cNvPr id="6" name="Shape 4"/>
          <p:cNvSpPr/>
          <p:nvPr/>
        </p:nvSpPr>
        <p:spPr>
          <a:xfrm>
            <a:off x="1097280" y="1920240"/>
            <a:ext cx="1691640" cy="310896"/>
          </a:xfrm>
          <a:prstGeom prst="roundRect">
            <a:avLst>
              <a:gd name="adj" fmla="val 44118"/>
            </a:avLst>
          </a:prstGeom>
          <a:solidFill>
            <a:srgbClr val="1677FF"/>
          </a:solidFill>
          <a:ln w="12700">
            <a:solidFill>
              <a:srgbClr val="1677FF"/>
            </a:solidFill>
            <a:prstDash val="solid"/>
          </a:ln>
        </p:spPr>
      </p:sp>
      <p:sp>
        <p:nvSpPr>
          <p:cNvPr id="7" name="Text 5"/>
          <p:cNvSpPr/>
          <p:nvPr/>
        </p:nvSpPr>
        <p:spPr>
          <a:xfrm>
            <a:off x="1170432" y="1988820"/>
            <a:ext cx="1545336" cy="164592"/>
          </a:xfrm>
          <a:prstGeom prst="rect">
            <a:avLst/>
          </a:prstGeom>
          <a:noFill/>
        </p:spPr>
        <p:txBody>
          <a:bodyPr wrap="square" lIns="0" tIns="0" rIns="0" bIns="0" rtlCol="0" anchor="ctr"/>
          <a:lstStyle/>
          <a:p>
            <a:pPr marL="0" indent="0" algn="ctr">
              <a:buNone/>
            </a:pPr>
            <a:r>
              <a:rPr lang="en-US" sz="900" b="1" dirty="0">
                <a:solidFill>
                  <a:srgbClr val="FFFFFF"/>
                </a:solidFill>
              </a:rPr>
              <a:t>Intelligence</a:t>
            </a:r>
            <a:endParaRPr lang="en-US" sz="900" dirty="0"/>
          </a:p>
        </p:txBody>
      </p:sp>
      <p:sp>
        <p:nvSpPr>
          <p:cNvPr id="8" name="Text 6"/>
          <p:cNvSpPr/>
          <p:nvPr/>
        </p:nvSpPr>
        <p:spPr>
          <a:xfrm>
            <a:off x="914400" y="2487168"/>
            <a:ext cx="2057400" cy="274320"/>
          </a:xfrm>
          <a:prstGeom prst="rect">
            <a:avLst/>
          </a:prstGeom>
          <a:noFill/>
        </p:spPr>
        <p:txBody>
          <a:bodyPr wrap="square" lIns="0" tIns="0" rIns="0" bIns="0" rtlCol="0" anchor="ctr"/>
          <a:lstStyle/>
          <a:p>
            <a:pPr marL="0" indent="0" algn="ctr">
              <a:buNone/>
            </a:pPr>
            <a:r>
              <a:rPr lang="en-US" sz="1800" b="1" dirty="0">
                <a:solidFill>
                  <a:srgbClr val="0B1F3A"/>
                </a:solidFill>
              </a:rPr>
              <a:t>AI MODEL</a:t>
            </a:r>
            <a:endParaRPr lang="en-US" sz="1800" dirty="0"/>
          </a:p>
        </p:txBody>
      </p:sp>
      <p:sp>
        <p:nvSpPr>
          <p:cNvPr id="9" name="Text 7"/>
          <p:cNvSpPr/>
          <p:nvPr/>
        </p:nvSpPr>
        <p:spPr>
          <a:xfrm>
            <a:off x="960120" y="2971800"/>
            <a:ext cx="1965960" cy="292608"/>
          </a:xfrm>
          <a:prstGeom prst="rect">
            <a:avLst/>
          </a:prstGeom>
          <a:noFill/>
        </p:spPr>
        <p:txBody>
          <a:bodyPr wrap="square" lIns="0" tIns="0" rIns="0" bIns="0" rtlCol="0" anchor="ctr"/>
          <a:lstStyle/>
          <a:p>
            <a:pPr marL="0" indent="0" algn="ctr">
              <a:buNone/>
            </a:pPr>
            <a:r>
              <a:rPr lang="en-US" sz="1300" b="1" dirty="0">
                <a:solidFill>
                  <a:srgbClr val="1677FF"/>
                </a:solidFill>
              </a:rPr>
              <a:t>Generates or predicts</a:t>
            </a:r>
            <a:endParaRPr lang="en-US" sz="1300" dirty="0"/>
          </a:p>
        </p:txBody>
      </p:sp>
      <p:sp>
        <p:nvSpPr>
          <p:cNvPr id="10" name="Text 8"/>
          <p:cNvSpPr/>
          <p:nvPr/>
        </p:nvSpPr>
        <p:spPr>
          <a:xfrm>
            <a:off x="978408" y="3547872"/>
            <a:ext cx="1929384" cy="594360"/>
          </a:xfrm>
          <a:prstGeom prst="rect">
            <a:avLst/>
          </a:prstGeom>
          <a:noFill/>
        </p:spPr>
        <p:txBody>
          <a:bodyPr wrap="square" lIns="0" tIns="0" rIns="0" bIns="0" rtlCol="0" anchor="ctr">
            <a:normAutofit/>
          </a:bodyPr>
          <a:lstStyle/>
          <a:p>
            <a:pPr marL="0" indent="0" algn="ctr">
              <a:buNone/>
            </a:pPr>
            <a:r>
              <a:rPr lang="en-US" sz="1150" dirty="0">
                <a:solidFill>
                  <a:srgbClr val="273449"/>
                </a:solidFill>
              </a:rPr>
              <a:t>Example: a language model produces an explanation.</a:t>
            </a:r>
            <a:endParaRPr lang="en-US" sz="1150" dirty="0"/>
          </a:p>
        </p:txBody>
      </p:sp>
      <p:sp>
        <p:nvSpPr>
          <p:cNvPr id="11" name="Shape 9"/>
          <p:cNvSpPr/>
          <p:nvPr/>
        </p:nvSpPr>
        <p:spPr>
          <a:xfrm>
            <a:off x="3273552" y="2743200"/>
            <a:ext cx="384048" cy="594360"/>
          </a:xfrm>
          <a:prstGeom prst="chevron">
            <a:avLst/>
          </a:prstGeom>
          <a:solidFill>
            <a:srgbClr val="C5D0DC"/>
          </a:solidFill>
          <a:ln w="12700">
            <a:solidFill>
              <a:srgbClr val="C5D0DC"/>
            </a:solidFill>
            <a:prstDash val="solid"/>
          </a:ln>
        </p:spPr>
      </p:sp>
      <p:sp>
        <p:nvSpPr>
          <p:cNvPr id="12" name="Shape 10"/>
          <p:cNvSpPr/>
          <p:nvPr/>
        </p:nvSpPr>
        <p:spPr>
          <a:xfrm>
            <a:off x="3383280" y="1600200"/>
            <a:ext cx="2514600" cy="2926080"/>
          </a:xfrm>
          <a:prstGeom prst="roundRect">
            <a:avLst>
              <a:gd name="adj" fmla="val 4364"/>
            </a:avLst>
          </a:prstGeom>
          <a:solidFill>
            <a:srgbClr val="FFFFFF"/>
          </a:solidFill>
          <a:ln w="12700">
            <a:solidFill>
              <a:srgbClr val="DCE5EF"/>
            </a:solidFill>
            <a:prstDash val="solid"/>
          </a:ln>
          <a:effectLst>
            <a:outerShdw blurRad="-2147483648" dist="-2147483648" dir="5" algn="bl" rotWithShape="0">
              <a:srgbClr val="000000">
                <a:alpha val="1"/>
              </a:srgbClr>
            </a:outerShdw>
          </a:effectLst>
        </p:spPr>
      </p:sp>
      <p:sp>
        <p:nvSpPr>
          <p:cNvPr id="13" name="Shape 11"/>
          <p:cNvSpPr/>
          <p:nvPr/>
        </p:nvSpPr>
        <p:spPr>
          <a:xfrm>
            <a:off x="3383280" y="1600200"/>
            <a:ext cx="2514600" cy="137160"/>
          </a:xfrm>
          <a:prstGeom prst="rect">
            <a:avLst/>
          </a:prstGeom>
          <a:solidFill>
            <a:srgbClr val="16B8D4"/>
          </a:solidFill>
          <a:ln w="12700">
            <a:solidFill>
              <a:srgbClr val="16B8D4"/>
            </a:solidFill>
            <a:prstDash val="solid"/>
          </a:ln>
        </p:spPr>
      </p:sp>
      <p:sp>
        <p:nvSpPr>
          <p:cNvPr id="14" name="Shape 12"/>
          <p:cNvSpPr/>
          <p:nvPr/>
        </p:nvSpPr>
        <p:spPr>
          <a:xfrm>
            <a:off x="3794760" y="1920240"/>
            <a:ext cx="1691640" cy="310896"/>
          </a:xfrm>
          <a:prstGeom prst="roundRect">
            <a:avLst>
              <a:gd name="adj" fmla="val 44118"/>
            </a:avLst>
          </a:prstGeom>
          <a:solidFill>
            <a:srgbClr val="16B8D4"/>
          </a:solidFill>
          <a:ln w="12700">
            <a:solidFill>
              <a:srgbClr val="16B8D4"/>
            </a:solidFill>
            <a:prstDash val="solid"/>
          </a:ln>
        </p:spPr>
      </p:sp>
      <p:sp>
        <p:nvSpPr>
          <p:cNvPr id="15" name="Text 13"/>
          <p:cNvSpPr/>
          <p:nvPr/>
        </p:nvSpPr>
        <p:spPr>
          <a:xfrm>
            <a:off x="3867912" y="1988820"/>
            <a:ext cx="1545336" cy="164592"/>
          </a:xfrm>
          <a:prstGeom prst="rect">
            <a:avLst/>
          </a:prstGeom>
          <a:noFill/>
        </p:spPr>
        <p:txBody>
          <a:bodyPr wrap="square" lIns="0" tIns="0" rIns="0" bIns="0" rtlCol="0" anchor="ctr"/>
          <a:lstStyle/>
          <a:p>
            <a:pPr marL="0" indent="0" algn="ctr">
              <a:buNone/>
            </a:pPr>
            <a:r>
              <a:rPr lang="en-US" sz="900" b="1" dirty="0">
                <a:solidFill>
                  <a:srgbClr val="FFFFFF"/>
                </a:solidFill>
              </a:rPr>
              <a:t>+ Capability</a:t>
            </a:r>
            <a:endParaRPr lang="en-US" sz="900" dirty="0"/>
          </a:p>
        </p:txBody>
      </p:sp>
      <p:sp>
        <p:nvSpPr>
          <p:cNvPr id="16" name="Text 14"/>
          <p:cNvSpPr/>
          <p:nvPr/>
        </p:nvSpPr>
        <p:spPr>
          <a:xfrm>
            <a:off x="3611880" y="2487168"/>
            <a:ext cx="2057400" cy="274320"/>
          </a:xfrm>
          <a:prstGeom prst="rect">
            <a:avLst/>
          </a:prstGeom>
          <a:noFill/>
        </p:spPr>
        <p:txBody>
          <a:bodyPr wrap="square" lIns="0" tIns="0" rIns="0" bIns="0" rtlCol="0" anchor="ctr"/>
          <a:lstStyle/>
          <a:p>
            <a:pPr marL="0" indent="0" algn="ctr">
              <a:buNone/>
            </a:pPr>
            <a:r>
              <a:rPr lang="en-US" sz="1800" b="1" dirty="0">
                <a:solidFill>
                  <a:srgbClr val="0B1F3A"/>
                </a:solidFill>
              </a:rPr>
              <a:t>AI TOOL</a:t>
            </a:r>
            <a:endParaRPr lang="en-US" sz="1800" dirty="0"/>
          </a:p>
        </p:txBody>
      </p:sp>
      <p:sp>
        <p:nvSpPr>
          <p:cNvPr id="17" name="Text 15"/>
          <p:cNvSpPr/>
          <p:nvPr/>
        </p:nvSpPr>
        <p:spPr>
          <a:xfrm>
            <a:off x="3657600" y="2971800"/>
            <a:ext cx="1965960" cy="292608"/>
          </a:xfrm>
          <a:prstGeom prst="rect">
            <a:avLst/>
          </a:prstGeom>
          <a:noFill/>
        </p:spPr>
        <p:txBody>
          <a:bodyPr wrap="square" lIns="0" tIns="0" rIns="0" bIns="0" rtlCol="0" anchor="ctr"/>
          <a:lstStyle/>
          <a:p>
            <a:pPr marL="0" indent="0" algn="ctr">
              <a:buNone/>
            </a:pPr>
            <a:r>
              <a:rPr lang="en-US" sz="1300" b="1" dirty="0">
                <a:solidFill>
                  <a:srgbClr val="16B8D4"/>
                </a:solidFill>
              </a:rPr>
              <a:t>Performs one capability</a:t>
            </a:r>
            <a:endParaRPr lang="en-US" sz="1300" dirty="0"/>
          </a:p>
        </p:txBody>
      </p:sp>
      <p:sp>
        <p:nvSpPr>
          <p:cNvPr id="18" name="Text 16"/>
          <p:cNvSpPr/>
          <p:nvPr/>
        </p:nvSpPr>
        <p:spPr>
          <a:xfrm>
            <a:off x="3675888" y="3547872"/>
            <a:ext cx="1929384" cy="594360"/>
          </a:xfrm>
          <a:prstGeom prst="rect">
            <a:avLst/>
          </a:prstGeom>
          <a:noFill/>
        </p:spPr>
        <p:txBody>
          <a:bodyPr wrap="square" lIns="0" tIns="0" rIns="0" bIns="0" rtlCol="0" anchor="ctr">
            <a:normAutofit/>
          </a:bodyPr>
          <a:lstStyle/>
          <a:p>
            <a:pPr marL="0" indent="0" algn="ctr">
              <a:buNone/>
            </a:pPr>
            <a:r>
              <a:rPr lang="en-US" sz="1150" dirty="0">
                <a:solidFill>
                  <a:srgbClr val="273449"/>
                </a:solidFill>
              </a:rPr>
              <a:t>Example: web search, calculator, code execution.</a:t>
            </a:r>
            <a:endParaRPr lang="en-US" sz="1150" dirty="0"/>
          </a:p>
        </p:txBody>
      </p:sp>
      <p:sp>
        <p:nvSpPr>
          <p:cNvPr id="19" name="Shape 17"/>
          <p:cNvSpPr/>
          <p:nvPr/>
        </p:nvSpPr>
        <p:spPr>
          <a:xfrm>
            <a:off x="5971032" y="2743200"/>
            <a:ext cx="384048" cy="594360"/>
          </a:xfrm>
          <a:prstGeom prst="chevron">
            <a:avLst/>
          </a:prstGeom>
          <a:solidFill>
            <a:srgbClr val="C5D0DC"/>
          </a:solidFill>
          <a:ln w="12700">
            <a:solidFill>
              <a:srgbClr val="C5D0DC"/>
            </a:solidFill>
            <a:prstDash val="solid"/>
          </a:ln>
        </p:spPr>
      </p:sp>
      <p:sp>
        <p:nvSpPr>
          <p:cNvPr id="20" name="Shape 18"/>
          <p:cNvSpPr/>
          <p:nvPr/>
        </p:nvSpPr>
        <p:spPr>
          <a:xfrm>
            <a:off x="6080760" y="1600200"/>
            <a:ext cx="2514600" cy="2926080"/>
          </a:xfrm>
          <a:prstGeom prst="roundRect">
            <a:avLst>
              <a:gd name="adj" fmla="val 4364"/>
            </a:avLst>
          </a:prstGeom>
          <a:solidFill>
            <a:srgbClr val="FFFFFF"/>
          </a:solidFill>
          <a:ln w="12700">
            <a:solidFill>
              <a:srgbClr val="DCE5EF"/>
            </a:solidFill>
            <a:prstDash val="solid"/>
          </a:ln>
          <a:effectLst>
            <a:outerShdw blurRad="-2147483648" dist="-2147483648" dir="3" algn="bl" rotWithShape="0">
              <a:srgbClr val="000000">
                <a:alpha val="1"/>
              </a:srgbClr>
            </a:outerShdw>
          </a:effectLst>
        </p:spPr>
      </p:sp>
      <p:sp>
        <p:nvSpPr>
          <p:cNvPr id="21" name="Shape 19"/>
          <p:cNvSpPr/>
          <p:nvPr/>
        </p:nvSpPr>
        <p:spPr>
          <a:xfrm>
            <a:off x="6080760" y="1600200"/>
            <a:ext cx="2514600" cy="137160"/>
          </a:xfrm>
          <a:prstGeom prst="rect">
            <a:avLst/>
          </a:prstGeom>
          <a:solidFill>
            <a:srgbClr val="F59E0B"/>
          </a:solidFill>
          <a:ln w="12700">
            <a:solidFill>
              <a:srgbClr val="F59E0B"/>
            </a:solidFill>
            <a:prstDash val="solid"/>
          </a:ln>
        </p:spPr>
      </p:sp>
      <p:sp>
        <p:nvSpPr>
          <p:cNvPr id="22" name="Shape 20"/>
          <p:cNvSpPr/>
          <p:nvPr/>
        </p:nvSpPr>
        <p:spPr>
          <a:xfrm>
            <a:off x="6492240" y="1920240"/>
            <a:ext cx="1691640" cy="310896"/>
          </a:xfrm>
          <a:prstGeom prst="roundRect">
            <a:avLst>
              <a:gd name="adj" fmla="val 44118"/>
            </a:avLst>
          </a:prstGeom>
          <a:solidFill>
            <a:srgbClr val="F59E0B"/>
          </a:solidFill>
          <a:ln w="12700">
            <a:solidFill>
              <a:srgbClr val="F59E0B"/>
            </a:solidFill>
            <a:prstDash val="solid"/>
          </a:ln>
        </p:spPr>
      </p:sp>
      <p:sp>
        <p:nvSpPr>
          <p:cNvPr id="23" name="Text 21"/>
          <p:cNvSpPr/>
          <p:nvPr/>
        </p:nvSpPr>
        <p:spPr>
          <a:xfrm>
            <a:off x="6565392" y="1988820"/>
            <a:ext cx="1545336" cy="164592"/>
          </a:xfrm>
          <a:prstGeom prst="rect">
            <a:avLst/>
          </a:prstGeom>
          <a:noFill/>
        </p:spPr>
        <p:txBody>
          <a:bodyPr wrap="square" lIns="0" tIns="0" rIns="0" bIns="0" rtlCol="0" anchor="ctr"/>
          <a:lstStyle/>
          <a:p>
            <a:pPr marL="0" indent="0" algn="ctr">
              <a:buNone/>
            </a:pPr>
            <a:r>
              <a:rPr lang="en-US" sz="900" b="1" dirty="0">
                <a:solidFill>
                  <a:srgbClr val="FFFFFF"/>
                </a:solidFill>
              </a:rPr>
              <a:t>+ Interaction</a:t>
            </a:r>
            <a:endParaRPr lang="en-US" sz="900" dirty="0"/>
          </a:p>
        </p:txBody>
      </p:sp>
      <p:sp>
        <p:nvSpPr>
          <p:cNvPr id="24" name="Text 22"/>
          <p:cNvSpPr/>
          <p:nvPr/>
        </p:nvSpPr>
        <p:spPr>
          <a:xfrm>
            <a:off x="6309360" y="2487168"/>
            <a:ext cx="2057400" cy="274320"/>
          </a:xfrm>
          <a:prstGeom prst="rect">
            <a:avLst/>
          </a:prstGeom>
          <a:noFill/>
        </p:spPr>
        <p:txBody>
          <a:bodyPr wrap="square" lIns="0" tIns="0" rIns="0" bIns="0" rtlCol="0" anchor="ctr"/>
          <a:lstStyle/>
          <a:p>
            <a:pPr marL="0" indent="0" algn="ctr">
              <a:buNone/>
            </a:pPr>
            <a:r>
              <a:rPr lang="en-US" sz="1800" b="1" dirty="0">
                <a:solidFill>
                  <a:srgbClr val="0B1F3A"/>
                </a:solidFill>
              </a:rPr>
              <a:t>AI ASSISTANT</a:t>
            </a:r>
            <a:endParaRPr lang="en-US" sz="1800" dirty="0"/>
          </a:p>
        </p:txBody>
      </p:sp>
      <p:sp>
        <p:nvSpPr>
          <p:cNvPr id="25" name="Text 23"/>
          <p:cNvSpPr/>
          <p:nvPr/>
        </p:nvSpPr>
        <p:spPr>
          <a:xfrm>
            <a:off x="6355080" y="2971800"/>
            <a:ext cx="1965960" cy="292608"/>
          </a:xfrm>
          <a:prstGeom prst="rect">
            <a:avLst/>
          </a:prstGeom>
          <a:noFill/>
        </p:spPr>
        <p:txBody>
          <a:bodyPr wrap="square" lIns="0" tIns="0" rIns="0" bIns="0" rtlCol="0" anchor="ctr"/>
          <a:lstStyle/>
          <a:p>
            <a:pPr marL="0" indent="0" algn="ctr">
              <a:buNone/>
            </a:pPr>
            <a:r>
              <a:rPr lang="en-US" sz="1300" b="1" dirty="0">
                <a:solidFill>
                  <a:srgbClr val="F59E0B"/>
                </a:solidFill>
              </a:rPr>
              <a:t>Converses and combines tools</a:t>
            </a:r>
            <a:endParaRPr lang="en-US" sz="1300" dirty="0"/>
          </a:p>
        </p:txBody>
      </p:sp>
      <p:sp>
        <p:nvSpPr>
          <p:cNvPr id="26" name="Text 24"/>
          <p:cNvSpPr/>
          <p:nvPr/>
        </p:nvSpPr>
        <p:spPr>
          <a:xfrm>
            <a:off x="6373368" y="3547872"/>
            <a:ext cx="1929384" cy="594360"/>
          </a:xfrm>
          <a:prstGeom prst="rect">
            <a:avLst/>
          </a:prstGeom>
          <a:noFill/>
        </p:spPr>
        <p:txBody>
          <a:bodyPr wrap="square" lIns="0" tIns="0" rIns="0" bIns="0" rtlCol="0" anchor="ctr">
            <a:normAutofit/>
          </a:bodyPr>
          <a:lstStyle/>
          <a:p>
            <a:pPr marL="0" indent="0" algn="ctr">
              <a:buNone/>
            </a:pPr>
            <a:r>
              <a:rPr lang="en-US" sz="1150" dirty="0">
                <a:solidFill>
                  <a:srgbClr val="273449"/>
                </a:solidFill>
              </a:rPr>
              <a:t>Example: ChatGPT analyzes a file and explains results.</a:t>
            </a:r>
            <a:endParaRPr lang="en-US" sz="1150" dirty="0"/>
          </a:p>
        </p:txBody>
      </p:sp>
      <p:sp>
        <p:nvSpPr>
          <p:cNvPr id="27" name="Shape 25"/>
          <p:cNvSpPr/>
          <p:nvPr/>
        </p:nvSpPr>
        <p:spPr>
          <a:xfrm>
            <a:off x="8668512" y="2743200"/>
            <a:ext cx="384048" cy="594360"/>
          </a:xfrm>
          <a:prstGeom prst="chevron">
            <a:avLst/>
          </a:prstGeom>
          <a:solidFill>
            <a:srgbClr val="C5D0DC"/>
          </a:solidFill>
          <a:ln w="12700">
            <a:solidFill>
              <a:srgbClr val="C5D0DC"/>
            </a:solidFill>
            <a:prstDash val="solid"/>
          </a:ln>
        </p:spPr>
      </p:sp>
      <p:sp>
        <p:nvSpPr>
          <p:cNvPr id="28" name="Shape 26"/>
          <p:cNvSpPr/>
          <p:nvPr/>
        </p:nvSpPr>
        <p:spPr>
          <a:xfrm>
            <a:off x="8778240" y="1600200"/>
            <a:ext cx="2514600" cy="2926080"/>
          </a:xfrm>
          <a:prstGeom prst="roundRect">
            <a:avLst>
              <a:gd name="adj" fmla="val 4364"/>
            </a:avLst>
          </a:prstGeom>
          <a:solidFill>
            <a:srgbClr val="FFFFFF"/>
          </a:solidFill>
          <a:ln w="12700">
            <a:solidFill>
              <a:srgbClr val="DCE5EF"/>
            </a:solidFill>
            <a:prstDash val="solid"/>
          </a:ln>
          <a:effectLst>
            <a:outerShdw blurRad="-2147483648" dist="-2147483648" dir="2" algn="bl" rotWithShape="0">
              <a:srgbClr val="000000">
                <a:alpha val="1"/>
              </a:srgbClr>
            </a:outerShdw>
          </a:effectLst>
        </p:spPr>
      </p:sp>
      <p:sp>
        <p:nvSpPr>
          <p:cNvPr id="29" name="Shape 27"/>
          <p:cNvSpPr/>
          <p:nvPr/>
        </p:nvSpPr>
        <p:spPr>
          <a:xfrm>
            <a:off x="8778240" y="1600200"/>
            <a:ext cx="2514600" cy="137160"/>
          </a:xfrm>
          <a:prstGeom prst="rect">
            <a:avLst/>
          </a:prstGeom>
          <a:solidFill>
            <a:srgbClr val="16A34A"/>
          </a:solidFill>
          <a:ln w="12700">
            <a:solidFill>
              <a:srgbClr val="16A34A"/>
            </a:solidFill>
            <a:prstDash val="solid"/>
          </a:ln>
        </p:spPr>
      </p:sp>
      <p:sp>
        <p:nvSpPr>
          <p:cNvPr id="30" name="Shape 28"/>
          <p:cNvSpPr/>
          <p:nvPr/>
        </p:nvSpPr>
        <p:spPr>
          <a:xfrm>
            <a:off x="9189720" y="1920240"/>
            <a:ext cx="1691640" cy="310896"/>
          </a:xfrm>
          <a:prstGeom prst="roundRect">
            <a:avLst>
              <a:gd name="adj" fmla="val 44118"/>
            </a:avLst>
          </a:prstGeom>
          <a:solidFill>
            <a:srgbClr val="16A34A"/>
          </a:solidFill>
          <a:ln w="12700">
            <a:solidFill>
              <a:srgbClr val="16A34A"/>
            </a:solidFill>
            <a:prstDash val="solid"/>
          </a:ln>
        </p:spPr>
      </p:sp>
      <p:sp>
        <p:nvSpPr>
          <p:cNvPr id="31" name="Text 29"/>
          <p:cNvSpPr/>
          <p:nvPr/>
        </p:nvSpPr>
        <p:spPr>
          <a:xfrm>
            <a:off x="9262872" y="1988820"/>
            <a:ext cx="1545336" cy="164592"/>
          </a:xfrm>
          <a:prstGeom prst="rect">
            <a:avLst/>
          </a:prstGeom>
          <a:noFill/>
        </p:spPr>
        <p:txBody>
          <a:bodyPr wrap="square" lIns="0" tIns="0" rIns="0" bIns="0" rtlCol="0" anchor="ctr"/>
          <a:lstStyle/>
          <a:p>
            <a:pPr marL="0" indent="0" algn="ctr">
              <a:buNone/>
            </a:pPr>
            <a:r>
              <a:rPr lang="en-US" sz="900" b="1" dirty="0">
                <a:solidFill>
                  <a:srgbClr val="FFFFFF"/>
                </a:solidFill>
              </a:rPr>
              <a:t>+ Autonomy</a:t>
            </a:r>
            <a:endParaRPr lang="en-US" sz="900" dirty="0"/>
          </a:p>
        </p:txBody>
      </p:sp>
      <p:sp>
        <p:nvSpPr>
          <p:cNvPr id="32" name="Text 30"/>
          <p:cNvSpPr/>
          <p:nvPr/>
        </p:nvSpPr>
        <p:spPr>
          <a:xfrm>
            <a:off x="9006840" y="2487168"/>
            <a:ext cx="2057400" cy="274320"/>
          </a:xfrm>
          <a:prstGeom prst="rect">
            <a:avLst/>
          </a:prstGeom>
          <a:noFill/>
        </p:spPr>
        <p:txBody>
          <a:bodyPr wrap="square" lIns="0" tIns="0" rIns="0" bIns="0" rtlCol="0" anchor="ctr"/>
          <a:lstStyle/>
          <a:p>
            <a:pPr marL="0" indent="0" algn="ctr">
              <a:buNone/>
            </a:pPr>
            <a:r>
              <a:rPr lang="en-US" sz="1800" b="1" dirty="0">
                <a:solidFill>
                  <a:srgbClr val="0B1F3A"/>
                </a:solidFill>
              </a:rPr>
              <a:t>AI AGENT</a:t>
            </a:r>
            <a:endParaRPr lang="en-US" sz="1800" dirty="0"/>
          </a:p>
        </p:txBody>
      </p:sp>
      <p:sp>
        <p:nvSpPr>
          <p:cNvPr id="33" name="Text 31"/>
          <p:cNvSpPr/>
          <p:nvPr/>
        </p:nvSpPr>
        <p:spPr>
          <a:xfrm>
            <a:off x="9052560" y="2971800"/>
            <a:ext cx="1965960" cy="292608"/>
          </a:xfrm>
          <a:prstGeom prst="rect">
            <a:avLst/>
          </a:prstGeom>
          <a:noFill/>
        </p:spPr>
        <p:txBody>
          <a:bodyPr wrap="square" lIns="0" tIns="0" rIns="0" bIns="0" rtlCol="0" anchor="ctr"/>
          <a:lstStyle/>
          <a:p>
            <a:pPr marL="0" indent="0" algn="ctr">
              <a:buNone/>
            </a:pPr>
            <a:r>
              <a:rPr lang="en-US" sz="1300" b="1" dirty="0">
                <a:solidFill>
                  <a:srgbClr val="16A34A"/>
                </a:solidFill>
              </a:rPr>
              <a:t>Pursues a goal through steps</a:t>
            </a:r>
            <a:endParaRPr lang="en-US" sz="1300" dirty="0"/>
          </a:p>
        </p:txBody>
      </p:sp>
      <p:sp>
        <p:nvSpPr>
          <p:cNvPr id="34" name="Text 32"/>
          <p:cNvSpPr/>
          <p:nvPr/>
        </p:nvSpPr>
        <p:spPr>
          <a:xfrm>
            <a:off x="9070848" y="3547872"/>
            <a:ext cx="1929384" cy="594360"/>
          </a:xfrm>
          <a:prstGeom prst="rect">
            <a:avLst/>
          </a:prstGeom>
          <a:noFill/>
        </p:spPr>
        <p:txBody>
          <a:bodyPr wrap="square" lIns="0" tIns="0" rIns="0" bIns="0" rtlCol="0" anchor="ctr">
            <a:normAutofit/>
          </a:bodyPr>
          <a:lstStyle/>
          <a:p>
            <a:pPr marL="0" indent="0" algn="ctr">
              <a:buNone/>
            </a:pPr>
            <a:r>
              <a:rPr lang="en-US" sz="1150" dirty="0">
                <a:solidFill>
                  <a:srgbClr val="273449"/>
                </a:solidFill>
              </a:rPr>
              <a:t>Example: research, plan, act, check, and report.</a:t>
            </a:r>
            <a:endParaRPr lang="en-US" sz="1150" dirty="0"/>
          </a:p>
        </p:txBody>
      </p:sp>
      <p:sp>
        <p:nvSpPr>
          <p:cNvPr id="35" name="Shape 33"/>
          <p:cNvSpPr/>
          <p:nvPr/>
        </p:nvSpPr>
        <p:spPr>
          <a:xfrm>
            <a:off x="1325880" y="5166360"/>
            <a:ext cx="9098280" cy="0"/>
          </a:xfrm>
          <a:prstGeom prst="line">
            <a:avLst/>
          </a:prstGeom>
          <a:noFill/>
          <a:ln w="25400">
            <a:solidFill>
              <a:srgbClr val="AAB8C7"/>
            </a:solidFill>
            <a:prstDash val="solid"/>
            <a:headEnd type="none"/>
            <a:tailEnd type="triangle"/>
          </a:ln>
        </p:spPr>
      </p:sp>
      <p:sp>
        <p:nvSpPr>
          <p:cNvPr id="36" name="Text 34"/>
          <p:cNvSpPr/>
          <p:nvPr/>
        </p:nvSpPr>
        <p:spPr>
          <a:xfrm>
            <a:off x="3886200" y="5330952"/>
            <a:ext cx="4480560" cy="292608"/>
          </a:xfrm>
          <a:prstGeom prst="rect">
            <a:avLst/>
          </a:prstGeom>
          <a:noFill/>
        </p:spPr>
        <p:txBody>
          <a:bodyPr wrap="square" lIns="0" tIns="0" rIns="0" bIns="0" rtlCol="0" anchor="ctr"/>
          <a:lstStyle/>
          <a:p>
            <a:pPr marL="0" indent="0" algn="ctr">
              <a:buNone/>
            </a:pPr>
            <a:r>
              <a:rPr lang="en-US" sz="1300" b="1" dirty="0">
                <a:solidFill>
                  <a:srgbClr val="667085"/>
                </a:solidFill>
              </a:rPr>
              <a:t>Increasing autonomy and tool use →</a:t>
            </a:r>
            <a:endParaRPr lang="en-US" sz="1300" dirty="0"/>
          </a:p>
        </p:txBody>
      </p:sp>
      <p:sp>
        <p:nvSpPr>
          <p:cNvPr id="37"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Opening Challenge: One Goal, Different AI Choices</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The same prompt strategy is not best for every task.</a:t>
            </a:r>
            <a:endParaRPr lang="en-US" sz="1150" dirty="0"/>
          </a:p>
        </p:txBody>
      </p:sp>
      <p:sp>
        <p:nvSpPr>
          <p:cNvPr id="4" name="Shape 2"/>
          <p:cNvSpPr/>
          <p:nvPr/>
        </p:nvSpPr>
        <p:spPr>
          <a:xfrm>
            <a:off x="603504" y="1179576"/>
            <a:ext cx="5047488" cy="3310128"/>
          </a:xfrm>
          <a:prstGeom prst="roundRect">
            <a:avLst>
              <a:gd name="adj" fmla="val 3315"/>
            </a:avLst>
          </a:prstGeom>
          <a:solidFill>
            <a:srgbClr val="FFFFFF"/>
          </a:solidFill>
          <a:ln w="12700">
            <a:solidFill>
              <a:srgbClr val="DDE4EC"/>
            </a:solidFill>
            <a:prstDash val="solid"/>
          </a:ln>
          <a:effectLst>
            <a:outerShdw blurRad="322580000" dist="161290000" dir="-1" algn="bl" rotWithShape="0">
              <a:srgbClr val="000000">
                <a:alpha val="1400000000"/>
              </a:srgbClr>
            </a:outerShdw>
          </a:effectLst>
        </p:spPr>
      </p:sp>
      <p:pic>
        <p:nvPicPr>
          <p:cNvPr id="5" name="Image 0" descr="/mnt/data/WhatsApp Image 2026-07-16 at 11.32.35 PM.jpeg"/>
          <p:cNvPicPr>
            <a:picLocks noChangeAspect="1"/>
          </p:cNvPicPr>
          <p:nvPr/>
        </p:nvPicPr>
        <p:blipFill>
          <a:blip r:embed="rId1"/>
          <a:stretch>
            <a:fillRect/>
          </a:stretch>
        </p:blipFill>
        <p:spPr>
          <a:xfrm>
            <a:off x="663684" y="1234440"/>
            <a:ext cx="4927127" cy="3200400"/>
          </a:xfrm>
          <a:prstGeom prst="rect">
            <a:avLst/>
          </a:prstGeom>
        </p:spPr>
      </p:pic>
      <p:sp>
        <p:nvSpPr>
          <p:cNvPr id="6" name="Shape 3"/>
          <p:cNvSpPr/>
          <p:nvPr/>
        </p:nvSpPr>
        <p:spPr>
          <a:xfrm>
            <a:off x="5897880" y="1243584"/>
            <a:ext cx="5623560" cy="896112"/>
          </a:xfrm>
          <a:prstGeom prst="roundRect">
            <a:avLst>
              <a:gd name="adj" fmla="val 12245"/>
            </a:avLst>
          </a:prstGeom>
          <a:solidFill>
            <a:srgbClr val="FFFFFF"/>
          </a:solidFill>
          <a:ln w="12700">
            <a:solidFill>
              <a:srgbClr val="DCE5EF"/>
            </a:solidFill>
            <a:prstDash val="solid"/>
          </a:ln>
          <a:effectLst>
            <a:outerShdw blurRad="-2147483648" dist="-2147483648" dir="-1" algn="bl" rotWithShape="0">
              <a:srgbClr val="000000">
                <a:alpha val="-2147483648"/>
              </a:srgbClr>
            </a:outerShdw>
          </a:effectLst>
        </p:spPr>
      </p:sp>
      <p:sp>
        <p:nvSpPr>
          <p:cNvPr id="7" name="Shape 4"/>
          <p:cNvSpPr/>
          <p:nvPr/>
        </p:nvSpPr>
        <p:spPr>
          <a:xfrm>
            <a:off x="6099048" y="1435608"/>
            <a:ext cx="493776" cy="493776"/>
          </a:xfrm>
          <a:prstGeom prst="ellipse">
            <a:avLst/>
          </a:prstGeom>
          <a:solidFill>
            <a:srgbClr val="1677FF"/>
          </a:solidFill>
          <a:ln w="12700">
            <a:solidFill>
              <a:srgbClr val="1677FF"/>
            </a:solidFill>
            <a:prstDash val="solid"/>
          </a:ln>
        </p:spPr>
      </p:sp>
      <p:sp>
        <p:nvSpPr>
          <p:cNvPr id="8" name="Text 5"/>
          <p:cNvSpPr/>
          <p:nvPr/>
        </p:nvSpPr>
        <p:spPr>
          <a:xfrm>
            <a:off x="6099048" y="1527048"/>
            <a:ext cx="493776" cy="182880"/>
          </a:xfrm>
          <a:prstGeom prst="rect">
            <a:avLst/>
          </a:prstGeom>
          <a:noFill/>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9" name="Text 6"/>
          <p:cNvSpPr/>
          <p:nvPr/>
        </p:nvSpPr>
        <p:spPr>
          <a:xfrm>
            <a:off x="6784848" y="1371600"/>
            <a:ext cx="3063240" cy="219456"/>
          </a:xfrm>
          <a:prstGeom prst="rect">
            <a:avLst/>
          </a:prstGeom>
          <a:noFill/>
        </p:spPr>
        <p:txBody>
          <a:bodyPr wrap="square" lIns="0" tIns="0" rIns="0" bIns="0" rtlCol="0" anchor="ctr"/>
          <a:lstStyle/>
          <a:p>
            <a:pPr marL="0" indent="0">
              <a:buNone/>
            </a:pPr>
            <a:r>
              <a:rPr lang="en-US" sz="1400" b="1" dirty="0">
                <a:solidFill>
                  <a:srgbClr val="0B1F3A"/>
                </a:solidFill>
              </a:rPr>
              <a:t>Fast personal answer</a:t>
            </a:r>
            <a:endParaRPr lang="en-US" sz="1400" dirty="0"/>
          </a:p>
        </p:txBody>
      </p:sp>
      <p:sp>
        <p:nvSpPr>
          <p:cNvPr id="10" name="Text 7"/>
          <p:cNvSpPr/>
          <p:nvPr/>
        </p:nvSpPr>
        <p:spPr>
          <a:xfrm>
            <a:off x="6784848" y="1673352"/>
            <a:ext cx="3429000" cy="228600"/>
          </a:xfrm>
          <a:prstGeom prst="rect">
            <a:avLst/>
          </a:prstGeom>
          <a:noFill/>
        </p:spPr>
        <p:txBody>
          <a:bodyPr wrap="square" lIns="0" tIns="0" rIns="0" bIns="0" rtlCol="0" anchor="ctr"/>
          <a:lstStyle/>
          <a:p>
            <a:pPr marL="0" indent="0">
              <a:buNone/>
            </a:pPr>
            <a:r>
              <a:rPr lang="en-US" sz="1050" dirty="0">
                <a:solidFill>
                  <a:srgbClr val="667085"/>
                </a:solidFill>
              </a:rPr>
              <a:t>“Help me introduce myself.”</a:t>
            </a:r>
            <a:endParaRPr lang="en-US" sz="1050" dirty="0"/>
          </a:p>
        </p:txBody>
      </p:sp>
      <p:sp>
        <p:nvSpPr>
          <p:cNvPr id="11" name="Shape 8"/>
          <p:cNvSpPr/>
          <p:nvPr/>
        </p:nvSpPr>
        <p:spPr>
          <a:xfrm>
            <a:off x="9893808" y="1527048"/>
            <a:ext cx="1371600" cy="310896"/>
          </a:xfrm>
          <a:prstGeom prst="roundRect">
            <a:avLst>
              <a:gd name="adj" fmla="val 44118"/>
            </a:avLst>
          </a:prstGeom>
          <a:solidFill>
            <a:srgbClr val="1677FF"/>
          </a:solidFill>
          <a:ln w="12700">
            <a:solidFill>
              <a:srgbClr val="1677FF"/>
            </a:solidFill>
            <a:prstDash val="solid"/>
          </a:ln>
        </p:spPr>
      </p:sp>
      <p:sp>
        <p:nvSpPr>
          <p:cNvPr id="12" name="Text 9"/>
          <p:cNvSpPr/>
          <p:nvPr/>
        </p:nvSpPr>
        <p:spPr>
          <a:xfrm>
            <a:off x="9966960" y="1595628"/>
            <a:ext cx="1225296" cy="164592"/>
          </a:xfrm>
          <a:prstGeom prst="rect">
            <a:avLst/>
          </a:prstGeom>
          <a:noFill/>
        </p:spPr>
        <p:txBody>
          <a:bodyPr wrap="square" lIns="0" tIns="0" rIns="0" bIns="0" rtlCol="0" anchor="ctr"/>
          <a:lstStyle/>
          <a:p>
            <a:pPr marL="0" indent="0" algn="ctr">
              <a:buNone/>
            </a:pPr>
            <a:r>
              <a:rPr lang="en-US" sz="900" b="1" dirty="0">
                <a:solidFill>
                  <a:srgbClr val="FFFFFF"/>
                </a:solidFill>
              </a:rPr>
              <a:t>Chat / Instant</a:t>
            </a:r>
            <a:endParaRPr lang="en-US" sz="900" dirty="0"/>
          </a:p>
        </p:txBody>
      </p:sp>
      <p:sp>
        <p:nvSpPr>
          <p:cNvPr id="13" name="Shape 10"/>
          <p:cNvSpPr/>
          <p:nvPr/>
        </p:nvSpPr>
        <p:spPr>
          <a:xfrm>
            <a:off x="5897880" y="2432304"/>
            <a:ext cx="5623560" cy="896112"/>
          </a:xfrm>
          <a:prstGeom prst="roundRect">
            <a:avLst>
              <a:gd name="adj" fmla="val 12245"/>
            </a:avLst>
          </a:prstGeom>
          <a:solidFill>
            <a:srgbClr val="FFFFFF"/>
          </a:solidFill>
          <a:ln w="12700">
            <a:solidFill>
              <a:srgbClr val="DCE5EF"/>
            </a:solidFill>
            <a:prstDash val="solid"/>
          </a:ln>
          <a:effectLst>
            <a:outerShdw blurRad="-2147483648" dist="-2147483648" dir="-1" algn="bl" rotWithShape="0">
              <a:srgbClr val="000000">
                <a:alpha val="-2147483648"/>
              </a:srgbClr>
            </a:outerShdw>
          </a:effectLst>
        </p:spPr>
      </p:sp>
      <p:sp>
        <p:nvSpPr>
          <p:cNvPr id="14" name="Shape 11"/>
          <p:cNvSpPr/>
          <p:nvPr/>
        </p:nvSpPr>
        <p:spPr>
          <a:xfrm>
            <a:off x="6099048" y="2624328"/>
            <a:ext cx="493776" cy="493776"/>
          </a:xfrm>
          <a:prstGeom prst="ellipse">
            <a:avLst/>
          </a:prstGeom>
          <a:solidFill>
            <a:srgbClr val="16B8D4"/>
          </a:solidFill>
          <a:ln w="12700">
            <a:solidFill>
              <a:srgbClr val="16B8D4"/>
            </a:solidFill>
            <a:prstDash val="solid"/>
          </a:ln>
        </p:spPr>
      </p:sp>
      <p:sp>
        <p:nvSpPr>
          <p:cNvPr id="15" name="Text 12"/>
          <p:cNvSpPr/>
          <p:nvPr/>
        </p:nvSpPr>
        <p:spPr>
          <a:xfrm>
            <a:off x="6099048" y="2715768"/>
            <a:ext cx="493776" cy="182880"/>
          </a:xfrm>
          <a:prstGeom prst="rect">
            <a:avLst/>
          </a:prstGeom>
          <a:noFill/>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6" name="Text 13"/>
          <p:cNvSpPr/>
          <p:nvPr/>
        </p:nvSpPr>
        <p:spPr>
          <a:xfrm>
            <a:off x="6784848" y="2560320"/>
            <a:ext cx="3063240" cy="219456"/>
          </a:xfrm>
          <a:prstGeom prst="rect">
            <a:avLst/>
          </a:prstGeom>
          <a:noFill/>
        </p:spPr>
        <p:txBody>
          <a:bodyPr wrap="square" lIns="0" tIns="0" rIns="0" bIns="0" rtlCol="0" anchor="ctr"/>
          <a:lstStyle/>
          <a:p>
            <a:pPr marL="0" indent="0">
              <a:buNone/>
            </a:pPr>
            <a:r>
              <a:rPr lang="en-US" sz="1400" b="1" dirty="0">
                <a:solidFill>
                  <a:srgbClr val="0B1F3A"/>
                </a:solidFill>
              </a:rPr>
              <a:t>Current company research</a:t>
            </a:r>
            <a:endParaRPr lang="en-US" sz="1400" dirty="0"/>
          </a:p>
        </p:txBody>
      </p:sp>
      <p:sp>
        <p:nvSpPr>
          <p:cNvPr id="17" name="Text 14"/>
          <p:cNvSpPr/>
          <p:nvPr/>
        </p:nvSpPr>
        <p:spPr>
          <a:xfrm>
            <a:off x="6784848" y="2862072"/>
            <a:ext cx="3429000" cy="228600"/>
          </a:xfrm>
          <a:prstGeom prst="rect">
            <a:avLst/>
          </a:prstGeom>
          <a:noFill/>
        </p:spPr>
        <p:txBody>
          <a:bodyPr wrap="square" lIns="0" tIns="0" rIns="0" bIns="0" rtlCol="0" anchor="ctr"/>
          <a:lstStyle/>
          <a:p>
            <a:pPr marL="0" indent="0">
              <a:buNone/>
            </a:pPr>
            <a:r>
              <a:rPr lang="en-US" sz="1050" dirty="0">
                <a:solidFill>
                  <a:srgbClr val="667085"/>
                </a:solidFill>
              </a:rPr>
              <a:t>News, products, leadership, recent events</a:t>
            </a:r>
            <a:endParaRPr lang="en-US" sz="1050" dirty="0"/>
          </a:p>
        </p:txBody>
      </p:sp>
      <p:sp>
        <p:nvSpPr>
          <p:cNvPr id="18" name="Shape 15"/>
          <p:cNvSpPr/>
          <p:nvPr/>
        </p:nvSpPr>
        <p:spPr>
          <a:xfrm>
            <a:off x="9893808" y="2715768"/>
            <a:ext cx="1371600" cy="310896"/>
          </a:xfrm>
          <a:prstGeom prst="roundRect">
            <a:avLst>
              <a:gd name="adj" fmla="val 44118"/>
            </a:avLst>
          </a:prstGeom>
          <a:solidFill>
            <a:srgbClr val="16B8D4"/>
          </a:solidFill>
          <a:ln w="12700">
            <a:solidFill>
              <a:srgbClr val="16B8D4"/>
            </a:solidFill>
            <a:prstDash val="solid"/>
          </a:ln>
        </p:spPr>
      </p:sp>
      <p:sp>
        <p:nvSpPr>
          <p:cNvPr id="19" name="Text 16"/>
          <p:cNvSpPr/>
          <p:nvPr/>
        </p:nvSpPr>
        <p:spPr>
          <a:xfrm>
            <a:off x="9966960" y="2784348"/>
            <a:ext cx="1225296" cy="164592"/>
          </a:xfrm>
          <a:prstGeom prst="rect">
            <a:avLst/>
          </a:prstGeom>
          <a:noFill/>
        </p:spPr>
        <p:txBody>
          <a:bodyPr wrap="square" lIns="0" tIns="0" rIns="0" bIns="0" rtlCol="0" anchor="ctr"/>
          <a:lstStyle/>
          <a:p>
            <a:pPr marL="0" indent="0" algn="ctr">
              <a:buNone/>
            </a:pPr>
            <a:r>
              <a:rPr lang="en-US" sz="900" b="1" dirty="0">
                <a:solidFill>
                  <a:srgbClr val="FFFFFF"/>
                </a:solidFill>
              </a:rPr>
              <a:t>Web Search</a:t>
            </a:r>
            <a:endParaRPr lang="en-US" sz="900" dirty="0"/>
          </a:p>
        </p:txBody>
      </p:sp>
      <p:sp>
        <p:nvSpPr>
          <p:cNvPr id="20" name="Shape 17"/>
          <p:cNvSpPr/>
          <p:nvPr/>
        </p:nvSpPr>
        <p:spPr>
          <a:xfrm>
            <a:off x="5897880" y="3621024"/>
            <a:ext cx="5623560" cy="896112"/>
          </a:xfrm>
          <a:prstGeom prst="roundRect">
            <a:avLst>
              <a:gd name="adj" fmla="val 12245"/>
            </a:avLst>
          </a:prstGeom>
          <a:solidFill>
            <a:srgbClr val="FFFFFF"/>
          </a:solidFill>
          <a:ln w="12700">
            <a:solidFill>
              <a:srgbClr val="DCE5EF"/>
            </a:solidFill>
            <a:prstDash val="solid"/>
          </a:ln>
          <a:effectLst>
            <a:outerShdw blurRad="-2147483648" dist="-2147483648" dir="3" algn="bl" rotWithShape="0">
              <a:srgbClr val="000000">
                <a:alpha val="1"/>
              </a:srgbClr>
            </a:outerShdw>
          </a:effectLst>
        </p:spPr>
      </p:sp>
      <p:sp>
        <p:nvSpPr>
          <p:cNvPr id="21" name="Shape 18"/>
          <p:cNvSpPr/>
          <p:nvPr/>
        </p:nvSpPr>
        <p:spPr>
          <a:xfrm>
            <a:off x="6099048" y="3813048"/>
            <a:ext cx="493776" cy="493776"/>
          </a:xfrm>
          <a:prstGeom prst="ellipse">
            <a:avLst/>
          </a:prstGeom>
          <a:solidFill>
            <a:srgbClr val="F59E0B"/>
          </a:solidFill>
          <a:ln w="12700">
            <a:solidFill>
              <a:srgbClr val="F59E0B"/>
            </a:solidFill>
            <a:prstDash val="solid"/>
          </a:ln>
        </p:spPr>
      </p:sp>
      <p:sp>
        <p:nvSpPr>
          <p:cNvPr id="22" name="Text 19"/>
          <p:cNvSpPr/>
          <p:nvPr/>
        </p:nvSpPr>
        <p:spPr>
          <a:xfrm>
            <a:off x="6099048" y="3904488"/>
            <a:ext cx="493776" cy="182880"/>
          </a:xfrm>
          <a:prstGeom prst="rect">
            <a:avLst/>
          </a:prstGeom>
          <a:noFill/>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23" name="Text 20"/>
          <p:cNvSpPr/>
          <p:nvPr/>
        </p:nvSpPr>
        <p:spPr>
          <a:xfrm>
            <a:off x="6784848" y="3749040"/>
            <a:ext cx="3063240" cy="219456"/>
          </a:xfrm>
          <a:prstGeom prst="rect">
            <a:avLst/>
          </a:prstGeom>
          <a:noFill/>
        </p:spPr>
        <p:txBody>
          <a:bodyPr wrap="square" lIns="0" tIns="0" rIns="0" bIns="0" rtlCol="0" anchor="ctr"/>
          <a:lstStyle/>
          <a:p>
            <a:pPr marL="0" indent="0">
              <a:buNone/>
            </a:pPr>
            <a:r>
              <a:rPr lang="en-US" sz="1400" b="1" dirty="0">
                <a:solidFill>
                  <a:srgbClr val="0B1F3A"/>
                </a:solidFill>
              </a:rPr>
              <a:t>Evidence-based interview brief</a:t>
            </a:r>
            <a:endParaRPr lang="en-US" sz="1400" dirty="0"/>
          </a:p>
        </p:txBody>
      </p:sp>
      <p:sp>
        <p:nvSpPr>
          <p:cNvPr id="24" name="Text 21"/>
          <p:cNvSpPr/>
          <p:nvPr/>
        </p:nvSpPr>
        <p:spPr>
          <a:xfrm>
            <a:off x="6784848" y="4050792"/>
            <a:ext cx="3429000" cy="228600"/>
          </a:xfrm>
          <a:prstGeom prst="rect">
            <a:avLst/>
          </a:prstGeom>
          <a:noFill/>
        </p:spPr>
        <p:txBody>
          <a:bodyPr wrap="square" lIns="0" tIns="0" rIns="0" bIns="0" rtlCol="0" anchor="ctr"/>
          <a:lstStyle/>
          <a:p>
            <a:pPr marL="0" indent="0">
              <a:buNone/>
            </a:pPr>
            <a:r>
              <a:rPr lang="en-US" sz="1050" dirty="0">
                <a:solidFill>
                  <a:srgbClr val="667085"/>
                </a:solidFill>
              </a:rPr>
              <a:t>Compare sources and produce a documented report</a:t>
            </a:r>
            <a:endParaRPr lang="en-US" sz="1050" dirty="0"/>
          </a:p>
        </p:txBody>
      </p:sp>
      <p:sp>
        <p:nvSpPr>
          <p:cNvPr id="25" name="Shape 22"/>
          <p:cNvSpPr/>
          <p:nvPr/>
        </p:nvSpPr>
        <p:spPr>
          <a:xfrm>
            <a:off x="9893808" y="3904488"/>
            <a:ext cx="1371600" cy="310896"/>
          </a:xfrm>
          <a:prstGeom prst="roundRect">
            <a:avLst>
              <a:gd name="adj" fmla="val 44118"/>
            </a:avLst>
          </a:prstGeom>
          <a:solidFill>
            <a:srgbClr val="F59E0B"/>
          </a:solidFill>
          <a:ln w="12700">
            <a:solidFill>
              <a:srgbClr val="F59E0B"/>
            </a:solidFill>
            <a:prstDash val="solid"/>
          </a:ln>
        </p:spPr>
      </p:sp>
      <p:sp>
        <p:nvSpPr>
          <p:cNvPr id="26" name="Text 23"/>
          <p:cNvSpPr/>
          <p:nvPr/>
        </p:nvSpPr>
        <p:spPr>
          <a:xfrm>
            <a:off x="9966960" y="3973068"/>
            <a:ext cx="1225296" cy="164592"/>
          </a:xfrm>
          <a:prstGeom prst="rect">
            <a:avLst/>
          </a:prstGeom>
          <a:noFill/>
        </p:spPr>
        <p:txBody>
          <a:bodyPr wrap="square" lIns="0" tIns="0" rIns="0" bIns="0" rtlCol="0" anchor="ctr"/>
          <a:lstStyle/>
          <a:p>
            <a:pPr marL="0" indent="0" algn="ctr">
              <a:buNone/>
            </a:pPr>
            <a:r>
              <a:rPr lang="en-US" sz="900" b="1" dirty="0">
                <a:solidFill>
                  <a:srgbClr val="FFFFFF"/>
                </a:solidFill>
              </a:rPr>
              <a:t>Deep Research</a:t>
            </a:r>
            <a:endParaRPr lang="en-US" sz="900" dirty="0"/>
          </a:p>
        </p:txBody>
      </p:sp>
      <p:sp>
        <p:nvSpPr>
          <p:cNvPr id="27" name="Shape 24"/>
          <p:cNvSpPr/>
          <p:nvPr/>
        </p:nvSpPr>
        <p:spPr>
          <a:xfrm>
            <a:off x="5897880" y="4809744"/>
            <a:ext cx="5623560" cy="896112"/>
          </a:xfrm>
          <a:prstGeom prst="roundRect">
            <a:avLst>
              <a:gd name="adj" fmla="val 12245"/>
            </a:avLst>
          </a:prstGeom>
          <a:solidFill>
            <a:srgbClr val="FFFFFF"/>
          </a:solidFill>
          <a:ln w="12700">
            <a:solidFill>
              <a:srgbClr val="DCE5EF"/>
            </a:solidFill>
            <a:prstDash val="solid"/>
          </a:ln>
          <a:effectLst>
            <a:outerShdw blurRad="-2147483648" dist="-2147483648" dir="2" algn="bl" rotWithShape="0">
              <a:srgbClr val="000000">
                <a:alpha val="1"/>
              </a:srgbClr>
            </a:outerShdw>
          </a:effectLst>
        </p:spPr>
      </p:sp>
      <p:sp>
        <p:nvSpPr>
          <p:cNvPr id="28" name="Shape 25"/>
          <p:cNvSpPr/>
          <p:nvPr/>
        </p:nvSpPr>
        <p:spPr>
          <a:xfrm>
            <a:off x="6099048" y="5001768"/>
            <a:ext cx="493776" cy="493776"/>
          </a:xfrm>
          <a:prstGeom prst="ellipse">
            <a:avLst/>
          </a:prstGeom>
          <a:solidFill>
            <a:srgbClr val="16A34A"/>
          </a:solidFill>
          <a:ln w="12700">
            <a:solidFill>
              <a:srgbClr val="16A34A"/>
            </a:solidFill>
            <a:prstDash val="solid"/>
          </a:ln>
        </p:spPr>
      </p:sp>
      <p:sp>
        <p:nvSpPr>
          <p:cNvPr id="29" name="Text 26"/>
          <p:cNvSpPr/>
          <p:nvPr/>
        </p:nvSpPr>
        <p:spPr>
          <a:xfrm>
            <a:off x="6099048" y="5093208"/>
            <a:ext cx="493776" cy="182880"/>
          </a:xfrm>
          <a:prstGeom prst="rect">
            <a:avLst/>
          </a:prstGeom>
          <a:noFill/>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30" name="Text 27"/>
          <p:cNvSpPr/>
          <p:nvPr/>
        </p:nvSpPr>
        <p:spPr>
          <a:xfrm>
            <a:off x="6784848" y="4937760"/>
            <a:ext cx="3063240" cy="219456"/>
          </a:xfrm>
          <a:prstGeom prst="rect">
            <a:avLst/>
          </a:prstGeom>
          <a:noFill/>
        </p:spPr>
        <p:txBody>
          <a:bodyPr wrap="square" lIns="0" tIns="0" rIns="0" bIns="0" rtlCol="0" anchor="ctr"/>
          <a:lstStyle/>
          <a:p>
            <a:pPr marL="0" indent="0">
              <a:buNone/>
            </a:pPr>
            <a:r>
              <a:rPr lang="en-US" sz="1400" b="1" dirty="0">
                <a:solidFill>
                  <a:srgbClr val="0B1F3A"/>
                </a:solidFill>
              </a:rPr>
              <a:t>Book the interview and organize files</a:t>
            </a:r>
            <a:endParaRPr lang="en-US" sz="1400" dirty="0"/>
          </a:p>
        </p:txBody>
      </p:sp>
      <p:sp>
        <p:nvSpPr>
          <p:cNvPr id="31" name="Text 28"/>
          <p:cNvSpPr/>
          <p:nvPr/>
        </p:nvSpPr>
        <p:spPr>
          <a:xfrm>
            <a:off x="6784848" y="5239512"/>
            <a:ext cx="3429000" cy="228600"/>
          </a:xfrm>
          <a:prstGeom prst="rect">
            <a:avLst/>
          </a:prstGeom>
          <a:noFill/>
        </p:spPr>
        <p:txBody>
          <a:bodyPr wrap="square" lIns="0" tIns="0" rIns="0" bIns="0" rtlCol="0" anchor="ctr"/>
          <a:lstStyle/>
          <a:p>
            <a:pPr marL="0" indent="0">
              <a:buNone/>
            </a:pPr>
            <a:r>
              <a:rPr lang="en-US" sz="1050" dirty="0">
                <a:solidFill>
                  <a:srgbClr val="667085"/>
                </a:solidFill>
              </a:rPr>
              <a:t>Use connected tools and take approved actions</a:t>
            </a:r>
            <a:endParaRPr lang="en-US" sz="1050" dirty="0"/>
          </a:p>
        </p:txBody>
      </p:sp>
      <p:sp>
        <p:nvSpPr>
          <p:cNvPr id="32" name="Shape 29"/>
          <p:cNvSpPr/>
          <p:nvPr/>
        </p:nvSpPr>
        <p:spPr>
          <a:xfrm>
            <a:off x="9893808" y="5093208"/>
            <a:ext cx="1371600" cy="310896"/>
          </a:xfrm>
          <a:prstGeom prst="roundRect">
            <a:avLst>
              <a:gd name="adj" fmla="val 44118"/>
            </a:avLst>
          </a:prstGeom>
          <a:solidFill>
            <a:srgbClr val="16A34A"/>
          </a:solidFill>
          <a:ln w="12700">
            <a:solidFill>
              <a:srgbClr val="16A34A"/>
            </a:solidFill>
            <a:prstDash val="solid"/>
          </a:ln>
        </p:spPr>
      </p:sp>
      <p:sp>
        <p:nvSpPr>
          <p:cNvPr id="33" name="Text 30"/>
          <p:cNvSpPr/>
          <p:nvPr/>
        </p:nvSpPr>
        <p:spPr>
          <a:xfrm>
            <a:off x="9966960" y="5161788"/>
            <a:ext cx="1225296" cy="164592"/>
          </a:xfrm>
          <a:prstGeom prst="rect">
            <a:avLst/>
          </a:prstGeom>
          <a:noFill/>
        </p:spPr>
        <p:txBody>
          <a:bodyPr wrap="square" lIns="0" tIns="0" rIns="0" bIns="0" rtlCol="0" anchor="ctr"/>
          <a:lstStyle/>
          <a:p>
            <a:pPr marL="0" indent="0" algn="ctr">
              <a:buNone/>
            </a:pPr>
            <a:r>
              <a:rPr lang="en-US" sz="900" b="1" dirty="0">
                <a:solidFill>
                  <a:srgbClr val="FFFFFF"/>
                </a:solidFill>
              </a:rPr>
              <a:t>Agent / Apps</a:t>
            </a:r>
            <a:endParaRPr lang="en-US" sz="900" dirty="0"/>
          </a:p>
        </p:txBody>
      </p:sp>
      <p:sp>
        <p:nvSpPr>
          <p:cNvPr id="34"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ChatGPT: A Multimodal AI Workspace</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A single conversation can combine several kinds of input, reasoning, and output.</a:t>
            </a:r>
            <a:endParaRPr lang="en-US" sz="1150" dirty="0"/>
          </a:p>
        </p:txBody>
      </p:sp>
      <p:sp>
        <p:nvSpPr>
          <p:cNvPr id="4" name="Shape 2"/>
          <p:cNvSpPr/>
          <p:nvPr/>
        </p:nvSpPr>
        <p:spPr>
          <a:xfrm>
            <a:off x="4572000" y="1874520"/>
            <a:ext cx="2971800" cy="2971800"/>
          </a:xfrm>
          <a:prstGeom prst="ellipse">
            <a:avLst/>
          </a:prstGeom>
          <a:solidFill>
            <a:srgbClr val="0B1F3A"/>
          </a:solidFill>
          <a:ln w="12700">
            <a:solidFill>
              <a:srgbClr val="0B1F3A"/>
            </a:solidFill>
            <a:prstDash val="solid"/>
          </a:ln>
          <a:effectLst>
            <a:outerShdw blurRad="-2147483648" dist="-2147483648" dir="1" algn="bl" rotWithShape="0">
              <a:srgbClr val="000000">
                <a:alpha val="1"/>
              </a:srgbClr>
            </a:outerShdw>
          </a:effectLst>
        </p:spPr>
      </p:sp>
      <p:sp>
        <p:nvSpPr>
          <p:cNvPr id="5" name="Text 3"/>
          <p:cNvSpPr/>
          <p:nvPr/>
        </p:nvSpPr>
        <p:spPr>
          <a:xfrm>
            <a:off x="4919472" y="2816352"/>
            <a:ext cx="2286000" cy="384048"/>
          </a:xfrm>
          <a:prstGeom prst="rect">
            <a:avLst/>
          </a:prstGeom>
          <a:noFill/>
        </p:spPr>
        <p:txBody>
          <a:bodyPr wrap="square" lIns="0" tIns="0" rIns="0" bIns="0" rtlCol="0" anchor="ctr"/>
          <a:lstStyle/>
          <a:p>
            <a:pPr marL="0" indent="0" algn="ctr">
              <a:buNone/>
            </a:pPr>
            <a:r>
              <a:rPr lang="en-US" sz="2700" b="1" dirty="0">
                <a:solidFill>
                  <a:srgbClr val="FFFFFF"/>
                </a:solidFill>
              </a:rPr>
              <a:t>ChatGPT</a:t>
            </a:r>
            <a:endParaRPr lang="en-US" sz="2700" dirty="0"/>
          </a:p>
        </p:txBody>
      </p:sp>
      <p:sp>
        <p:nvSpPr>
          <p:cNvPr id="6" name="Text 4"/>
          <p:cNvSpPr/>
          <p:nvPr/>
        </p:nvSpPr>
        <p:spPr>
          <a:xfrm>
            <a:off x="5001768" y="3337560"/>
            <a:ext cx="2103120" cy="384048"/>
          </a:xfrm>
          <a:prstGeom prst="rect">
            <a:avLst/>
          </a:prstGeom>
          <a:noFill/>
        </p:spPr>
        <p:txBody>
          <a:bodyPr wrap="square" lIns="0" tIns="0" rIns="0" bIns="0" rtlCol="0" anchor="ctr"/>
          <a:lstStyle/>
          <a:p>
            <a:pPr marL="0" indent="0" algn="ctr">
              <a:buNone/>
            </a:pPr>
            <a:r>
              <a:rPr lang="en-US" sz="1100" dirty="0">
                <a:solidFill>
                  <a:srgbClr val="D6E4F5"/>
                </a:solidFill>
              </a:rPr>
              <a:t>conversation + models + tools</a:t>
            </a:r>
            <a:endParaRPr lang="en-US" sz="1100" dirty="0"/>
          </a:p>
        </p:txBody>
      </p:sp>
      <p:sp>
        <p:nvSpPr>
          <p:cNvPr id="7" name="Shape 5"/>
          <p:cNvSpPr/>
          <p:nvPr/>
        </p:nvSpPr>
        <p:spPr>
          <a:xfrm>
            <a:off x="640080" y="1234440"/>
            <a:ext cx="2103120" cy="896112"/>
          </a:xfrm>
          <a:prstGeom prst="roundRect">
            <a:avLst>
              <a:gd name="adj" fmla="val 12245"/>
            </a:avLst>
          </a:prstGeom>
          <a:solidFill>
            <a:srgbClr val="FFFFFF"/>
          </a:solidFill>
          <a:ln w="12700">
            <a:solidFill>
              <a:srgbClr val="DCE5EF"/>
            </a:solidFill>
            <a:prstDash val="solid"/>
          </a:ln>
          <a:effectLst>
            <a:outerShdw blurRad="-2147483648" dist="-2147483648" dir="7" algn="bl" rotWithShape="0">
              <a:srgbClr val="000000">
                <a:alpha val="1"/>
              </a:srgbClr>
            </a:outerShdw>
          </a:effectLst>
        </p:spPr>
      </p:sp>
      <p:sp>
        <p:nvSpPr>
          <p:cNvPr id="8" name="Shape 6"/>
          <p:cNvSpPr/>
          <p:nvPr/>
        </p:nvSpPr>
        <p:spPr>
          <a:xfrm>
            <a:off x="758952" y="1389888"/>
            <a:ext cx="621792" cy="310896"/>
          </a:xfrm>
          <a:prstGeom prst="roundRect">
            <a:avLst>
              <a:gd name="adj" fmla="val 44118"/>
            </a:avLst>
          </a:prstGeom>
          <a:solidFill>
            <a:srgbClr val="1677FF"/>
          </a:solidFill>
          <a:ln w="12700">
            <a:solidFill>
              <a:srgbClr val="1677FF"/>
            </a:solidFill>
            <a:prstDash val="solid"/>
          </a:ln>
        </p:spPr>
      </p:sp>
      <p:sp>
        <p:nvSpPr>
          <p:cNvPr id="9" name="Text 7"/>
          <p:cNvSpPr/>
          <p:nvPr/>
        </p:nvSpPr>
        <p:spPr>
          <a:xfrm>
            <a:off x="832104" y="1458468"/>
            <a:ext cx="475488" cy="164592"/>
          </a:xfrm>
          <a:prstGeom prst="rect">
            <a:avLst/>
          </a:prstGeom>
          <a:noFill/>
        </p:spPr>
        <p:txBody>
          <a:bodyPr wrap="square" lIns="0" tIns="0" rIns="0" bIns="0" rtlCol="0" anchor="ctr"/>
          <a:lstStyle/>
          <a:p>
            <a:pPr marL="0" indent="0" algn="ctr">
              <a:buNone/>
            </a:pPr>
            <a:r>
              <a:rPr lang="en-US" sz="900" b="1" dirty="0">
                <a:solidFill>
                  <a:srgbClr val="FFFFFF"/>
                </a:solidFill>
              </a:rPr>
              <a:t>TEXT</a:t>
            </a:r>
            <a:endParaRPr lang="en-US" sz="900" dirty="0"/>
          </a:p>
        </p:txBody>
      </p:sp>
      <p:sp>
        <p:nvSpPr>
          <p:cNvPr id="10" name="Text 8"/>
          <p:cNvSpPr/>
          <p:nvPr/>
        </p:nvSpPr>
        <p:spPr>
          <a:xfrm>
            <a:off x="1463040" y="1435608"/>
            <a:ext cx="1143000" cy="475488"/>
          </a:xfrm>
          <a:prstGeom prst="rect">
            <a:avLst/>
          </a:prstGeom>
          <a:noFill/>
        </p:spPr>
        <p:txBody>
          <a:bodyPr wrap="square" lIns="0" tIns="0" rIns="0" bIns="0" rtlCol="0" anchor="ctr">
            <a:normAutofit/>
          </a:bodyPr>
          <a:lstStyle/>
          <a:p>
            <a:pPr marL="0" indent="0">
              <a:buNone/>
            </a:pPr>
            <a:r>
              <a:rPr lang="en-US" sz="1050" b="1" dirty="0">
                <a:solidFill>
                  <a:srgbClr val="273449"/>
                </a:solidFill>
              </a:rPr>
              <a:t>Ask, write, explain</a:t>
            </a:r>
            <a:endParaRPr lang="en-US" sz="1050" dirty="0"/>
          </a:p>
        </p:txBody>
      </p:sp>
      <p:sp>
        <p:nvSpPr>
          <p:cNvPr id="11" name="Shape 9"/>
          <p:cNvSpPr/>
          <p:nvPr/>
        </p:nvSpPr>
        <p:spPr>
          <a:xfrm>
            <a:off x="1691640" y="1682496"/>
            <a:ext cx="4361688" cy="1682496"/>
          </a:xfrm>
          <a:prstGeom prst="line">
            <a:avLst/>
          </a:prstGeom>
          <a:noFill/>
          <a:ln w="15240">
            <a:solidFill>
              <a:srgbClr val="C7D2DE"/>
            </a:solidFill>
            <a:prstDash val="solid"/>
          </a:ln>
        </p:spPr>
      </p:sp>
      <p:sp>
        <p:nvSpPr>
          <p:cNvPr id="12" name="Shape 10"/>
          <p:cNvSpPr/>
          <p:nvPr/>
        </p:nvSpPr>
        <p:spPr>
          <a:xfrm>
            <a:off x="594360" y="4297680"/>
            <a:ext cx="2103120" cy="896112"/>
          </a:xfrm>
          <a:prstGeom prst="roundRect">
            <a:avLst>
              <a:gd name="adj" fmla="val 12245"/>
            </a:avLst>
          </a:prstGeom>
          <a:solidFill>
            <a:srgbClr val="FFFFFF"/>
          </a:solidFill>
          <a:ln w="12700">
            <a:solidFill>
              <a:srgbClr val="DCE5EF"/>
            </a:solidFill>
            <a:prstDash val="solid"/>
          </a:ln>
          <a:effectLst>
            <a:outerShdw blurRad="-2147483648" dist="-2147483648" dir="4" algn="bl" rotWithShape="0">
              <a:srgbClr val="000000">
                <a:alpha val="1"/>
              </a:srgbClr>
            </a:outerShdw>
          </a:effectLst>
        </p:spPr>
      </p:sp>
      <p:sp>
        <p:nvSpPr>
          <p:cNvPr id="13" name="Shape 11"/>
          <p:cNvSpPr/>
          <p:nvPr/>
        </p:nvSpPr>
        <p:spPr>
          <a:xfrm>
            <a:off x="713232" y="4453128"/>
            <a:ext cx="621792" cy="310896"/>
          </a:xfrm>
          <a:prstGeom prst="roundRect">
            <a:avLst>
              <a:gd name="adj" fmla="val 44118"/>
            </a:avLst>
          </a:prstGeom>
          <a:solidFill>
            <a:srgbClr val="16B8D4"/>
          </a:solidFill>
          <a:ln w="12700">
            <a:solidFill>
              <a:srgbClr val="16B8D4"/>
            </a:solidFill>
            <a:prstDash val="solid"/>
          </a:ln>
        </p:spPr>
      </p:sp>
      <p:sp>
        <p:nvSpPr>
          <p:cNvPr id="14" name="Text 12"/>
          <p:cNvSpPr/>
          <p:nvPr/>
        </p:nvSpPr>
        <p:spPr>
          <a:xfrm>
            <a:off x="786384" y="4521708"/>
            <a:ext cx="475488" cy="164592"/>
          </a:xfrm>
          <a:prstGeom prst="rect">
            <a:avLst/>
          </a:prstGeom>
          <a:noFill/>
        </p:spPr>
        <p:txBody>
          <a:bodyPr wrap="square" lIns="0" tIns="0" rIns="0" bIns="0" rtlCol="0" anchor="ctr"/>
          <a:lstStyle/>
          <a:p>
            <a:pPr marL="0" indent="0" algn="ctr">
              <a:buNone/>
            </a:pPr>
            <a:r>
              <a:rPr lang="en-US" sz="900" b="1" dirty="0">
                <a:solidFill>
                  <a:srgbClr val="FFFFFF"/>
                </a:solidFill>
              </a:rPr>
              <a:t>FILES</a:t>
            </a:r>
            <a:endParaRPr lang="en-US" sz="900" dirty="0"/>
          </a:p>
        </p:txBody>
      </p:sp>
      <p:sp>
        <p:nvSpPr>
          <p:cNvPr id="15" name="Text 13"/>
          <p:cNvSpPr/>
          <p:nvPr/>
        </p:nvSpPr>
        <p:spPr>
          <a:xfrm>
            <a:off x="1417320" y="4498848"/>
            <a:ext cx="1143000" cy="475488"/>
          </a:xfrm>
          <a:prstGeom prst="rect">
            <a:avLst/>
          </a:prstGeom>
          <a:noFill/>
        </p:spPr>
        <p:txBody>
          <a:bodyPr wrap="square" lIns="0" tIns="0" rIns="0" bIns="0" rtlCol="0" anchor="ctr">
            <a:normAutofit/>
          </a:bodyPr>
          <a:lstStyle/>
          <a:p>
            <a:pPr marL="0" indent="0">
              <a:buNone/>
            </a:pPr>
            <a:r>
              <a:rPr lang="en-US" sz="1050" b="1" dirty="0">
                <a:solidFill>
                  <a:srgbClr val="273449"/>
                </a:solidFill>
              </a:rPr>
              <a:t>PDF, PPTX, DOCX, XLSX</a:t>
            </a:r>
            <a:endParaRPr lang="en-US" sz="1050" dirty="0"/>
          </a:p>
        </p:txBody>
      </p:sp>
      <p:sp>
        <p:nvSpPr>
          <p:cNvPr id="16" name="Shape 14"/>
          <p:cNvSpPr/>
          <p:nvPr/>
        </p:nvSpPr>
        <p:spPr>
          <a:xfrm>
            <a:off x="1645920" y="3364992"/>
            <a:ext cx="4407408" cy="1380744"/>
          </a:xfrm>
          <a:prstGeom prst="line">
            <a:avLst/>
          </a:prstGeom>
          <a:noFill/>
          <a:ln w="15240">
            <a:solidFill>
              <a:srgbClr val="C7D2DE"/>
            </a:solidFill>
            <a:prstDash val="solid"/>
          </a:ln>
        </p:spPr>
      </p:sp>
      <p:sp>
        <p:nvSpPr>
          <p:cNvPr id="17" name="Shape 15"/>
          <p:cNvSpPr/>
          <p:nvPr/>
        </p:nvSpPr>
        <p:spPr>
          <a:xfrm>
            <a:off x="2743200" y="5148072"/>
            <a:ext cx="2103120" cy="896112"/>
          </a:xfrm>
          <a:prstGeom prst="roundRect">
            <a:avLst>
              <a:gd name="adj" fmla="val 12245"/>
            </a:avLst>
          </a:prstGeom>
          <a:solidFill>
            <a:srgbClr val="FFFFFF"/>
          </a:solidFill>
          <a:ln w="12700">
            <a:solidFill>
              <a:srgbClr val="DCE5EF"/>
            </a:solidFill>
            <a:prstDash val="solid"/>
          </a:ln>
          <a:effectLst>
            <a:outerShdw blurRad="-2147483648" dist="-2147483648" dir="2" algn="bl" rotWithShape="0">
              <a:srgbClr val="000000">
                <a:alpha val="1"/>
              </a:srgbClr>
            </a:outerShdw>
          </a:effectLst>
        </p:spPr>
      </p:sp>
      <p:sp>
        <p:nvSpPr>
          <p:cNvPr id="18" name="Shape 16"/>
          <p:cNvSpPr/>
          <p:nvPr/>
        </p:nvSpPr>
        <p:spPr>
          <a:xfrm>
            <a:off x="2862072" y="5303520"/>
            <a:ext cx="621792" cy="310896"/>
          </a:xfrm>
          <a:prstGeom prst="roundRect">
            <a:avLst>
              <a:gd name="adj" fmla="val 44118"/>
            </a:avLst>
          </a:prstGeom>
          <a:solidFill>
            <a:srgbClr val="F59E0B"/>
          </a:solidFill>
          <a:ln w="12700">
            <a:solidFill>
              <a:srgbClr val="F59E0B"/>
            </a:solidFill>
            <a:prstDash val="solid"/>
          </a:ln>
        </p:spPr>
      </p:sp>
      <p:sp>
        <p:nvSpPr>
          <p:cNvPr id="19" name="Text 17"/>
          <p:cNvSpPr/>
          <p:nvPr/>
        </p:nvSpPr>
        <p:spPr>
          <a:xfrm>
            <a:off x="2935224" y="5372100"/>
            <a:ext cx="475488" cy="164592"/>
          </a:xfrm>
          <a:prstGeom prst="rect">
            <a:avLst/>
          </a:prstGeom>
          <a:noFill/>
        </p:spPr>
        <p:txBody>
          <a:bodyPr wrap="square" lIns="0" tIns="0" rIns="0" bIns="0" rtlCol="0" anchor="ctr"/>
          <a:lstStyle/>
          <a:p>
            <a:pPr marL="0" indent="0" algn="ctr">
              <a:buNone/>
            </a:pPr>
            <a:r>
              <a:rPr lang="en-US" sz="900" b="1" dirty="0">
                <a:solidFill>
                  <a:srgbClr val="FFFFFF"/>
                </a:solidFill>
              </a:rPr>
              <a:t>DATA</a:t>
            </a:r>
            <a:endParaRPr lang="en-US" sz="900" dirty="0"/>
          </a:p>
        </p:txBody>
      </p:sp>
      <p:sp>
        <p:nvSpPr>
          <p:cNvPr id="20" name="Text 18"/>
          <p:cNvSpPr/>
          <p:nvPr/>
        </p:nvSpPr>
        <p:spPr>
          <a:xfrm>
            <a:off x="3566160" y="5349240"/>
            <a:ext cx="1143000" cy="475488"/>
          </a:xfrm>
          <a:prstGeom prst="rect">
            <a:avLst/>
          </a:prstGeom>
          <a:noFill/>
        </p:spPr>
        <p:txBody>
          <a:bodyPr wrap="square" lIns="0" tIns="0" rIns="0" bIns="0" rtlCol="0" anchor="ctr">
            <a:normAutofit/>
          </a:bodyPr>
          <a:lstStyle/>
          <a:p>
            <a:pPr marL="0" indent="0">
              <a:buNone/>
            </a:pPr>
            <a:r>
              <a:rPr lang="en-US" sz="1050" b="1" dirty="0">
                <a:solidFill>
                  <a:srgbClr val="273449"/>
                </a:solidFill>
              </a:rPr>
              <a:t>Tables, charts, Python</a:t>
            </a:r>
            <a:endParaRPr lang="en-US" sz="1050" dirty="0"/>
          </a:p>
        </p:txBody>
      </p:sp>
      <p:sp>
        <p:nvSpPr>
          <p:cNvPr id="21" name="Shape 19"/>
          <p:cNvSpPr/>
          <p:nvPr/>
        </p:nvSpPr>
        <p:spPr>
          <a:xfrm>
            <a:off x="3794760" y="3364992"/>
            <a:ext cx="2258568" cy="2231136"/>
          </a:xfrm>
          <a:prstGeom prst="line">
            <a:avLst/>
          </a:prstGeom>
          <a:noFill/>
          <a:ln w="15240">
            <a:solidFill>
              <a:srgbClr val="C7D2DE"/>
            </a:solidFill>
            <a:prstDash val="solid"/>
          </a:ln>
        </p:spPr>
      </p:sp>
      <p:sp>
        <p:nvSpPr>
          <p:cNvPr id="22" name="Shape 20"/>
          <p:cNvSpPr/>
          <p:nvPr/>
        </p:nvSpPr>
        <p:spPr>
          <a:xfrm>
            <a:off x="9052560" y="4736592"/>
            <a:ext cx="2103120" cy="896112"/>
          </a:xfrm>
          <a:prstGeom prst="roundRect">
            <a:avLst>
              <a:gd name="adj" fmla="val 12245"/>
            </a:avLst>
          </a:prstGeom>
          <a:solidFill>
            <a:srgbClr val="FFFFFF"/>
          </a:solidFill>
          <a:ln w="12700">
            <a:solidFill>
              <a:srgbClr val="DCE5EF"/>
            </a:solidFill>
            <a:prstDash val="solid"/>
          </a:ln>
          <a:effectLst>
            <a:outerShdw blurRad="-2147483648" dist="-2147483648" dir="1" algn="bl" rotWithShape="0">
              <a:srgbClr val="000000">
                <a:alpha val="1"/>
              </a:srgbClr>
            </a:outerShdw>
          </a:effectLst>
        </p:spPr>
      </p:sp>
      <p:sp>
        <p:nvSpPr>
          <p:cNvPr id="23" name="Shape 21"/>
          <p:cNvSpPr/>
          <p:nvPr/>
        </p:nvSpPr>
        <p:spPr>
          <a:xfrm>
            <a:off x="9171432" y="4892040"/>
            <a:ext cx="621792" cy="310896"/>
          </a:xfrm>
          <a:prstGeom prst="roundRect">
            <a:avLst>
              <a:gd name="adj" fmla="val 44118"/>
            </a:avLst>
          </a:prstGeom>
          <a:solidFill>
            <a:srgbClr val="DC2626"/>
          </a:solidFill>
          <a:ln w="12700">
            <a:solidFill>
              <a:srgbClr val="DC2626"/>
            </a:solidFill>
            <a:prstDash val="solid"/>
          </a:ln>
        </p:spPr>
      </p:sp>
      <p:sp>
        <p:nvSpPr>
          <p:cNvPr id="24" name="Text 22"/>
          <p:cNvSpPr/>
          <p:nvPr/>
        </p:nvSpPr>
        <p:spPr>
          <a:xfrm>
            <a:off x="9244584" y="4960620"/>
            <a:ext cx="475488" cy="164592"/>
          </a:xfrm>
          <a:prstGeom prst="rect">
            <a:avLst/>
          </a:prstGeom>
          <a:noFill/>
        </p:spPr>
        <p:txBody>
          <a:bodyPr wrap="square" lIns="0" tIns="0" rIns="0" bIns="0" rtlCol="0" anchor="ctr"/>
          <a:lstStyle/>
          <a:p>
            <a:pPr marL="0" indent="0" algn="ctr">
              <a:buNone/>
            </a:pPr>
            <a:r>
              <a:rPr lang="en-US" sz="900" b="1" dirty="0">
                <a:solidFill>
                  <a:srgbClr val="FFFFFF"/>
                </a:solidFill>
              </a:rPr>
              <a:t>IMAGES</a:t>
            </a:r>
            <a:endParaRPr lang="en-US" sz="900" dirty="0"/>
          </a:p>
        </p:txBody>
      </p:sp>
      <p:sp>
        <p:nvSpPr>
          <p:cNvPr id="25" name="Text 23"/>
          <p:cNvSpPr/>
          <p:nvPr/>
        </p:nvSpPr>
        <p:spPr>
          <a:xfrm>
            <a:off x="9875520" y="4937760"/>
            <a:ext cx="1143000" cy="475488"/>
          </a:xfrm>
          <a:prstGeom prst="rect">
            <a:avLst/>
          </a:prstGeom>
          <a:noFill/>
        </p:spPr>
        <p:txBody>
          <a:bodyPr wrap="square" lIns="0" tIns="0" rIns="0" bIns="0" rtlCol="0" anchor="ctr">
            <a:normAutofit/>
          </a:bodyPr>
          <a:lstStyle/>
          <a:p>
            <a:pPr marL="0" indent="0">
              <a:buNone/>
            </a:pPr>
            <a:r>
              <a:rPr lang="en-US" sz="1050" b="1" dirty="0">
                <a:solidFill>
                  <a:srgbClr val="273449"/>
                </a:solidFill>
              </a:rPr>
              <a:t>Understand, create, edit</a:t>
            </a:r>
            <a:endParaRPr lang="en-US" sz="1050" dirty="0"/>
          </a:p>
        </p:txBody>
      </p:sp>
      <p:sp>
        <p:nvSpPr>
          <p:cNvPr id="26" name="Shape 24"/>
          <p:cNvSpPr/>
          <p:nvPr/>
        </p:nvSpPr>
        <p:spPr>
          <a:xfrm>
            <a:off x="6053328" y="3364992"/>
            <a:ext cx="4050792" cy="1819656"/>
          </a:xfrm>
          <a:prstGeom prst="line">
            <a:avLst/>
          </a:prstGeom>
          <a:noFill/>
          <a:ln w="15240">
            <a:solidFill>
              <a:srgbClr val="C7D2DE"/>
            </a:solidFill>
            <a:prstDash val="solid"/>
          </a:ln>
        </p:spPr>
      </p:sp>
      <p:sp>
        <p:nvSpPr>
          <p:cNvPr id="27" name="Shape 25"/>
          <p:cNvSpPr/>
          <p:nvPr/>
        </p:nvSpPr>
        <p:spPr>
          <a:xfrm>
            <a:off x="9464040" y="1298448"/>
            <a:ext cx="2103120" cy="896112"/>
          </a:xfrm>
          <a:prstGeom prst="roundRect">
            <a:avLst>
              <a:gd name="adj" fmla="val 12245"/>
            </a:avLst>
          </a:prstGeom>
          <a:solidFill>
            <a:srgbClr val="FFFFFF"/>
          </a:solidFill>
          <a:ln w="12700">
            <a:solidFill>
              <a:srgbClr val="DCE5EF"/>
            </a:solidFill>
            <a:prstDash val="solid"/>
          </a:ln>
          <a:effectLst>
            <a:outerShdw blurRad="-2147483648" dist="-2147483648" dir="9" algn="bl" rotWithShape="0">
              <a:srgbClr val="000000">
                <a:alpha val="1"/>
              </a:srgbClr>
            </a:outerShdw>
          </a:effectLst>
        </p:spPr>
      </p:sp>
      <p:sp>
        <p:nvSpPr>
          <p:cNvPr id="28" name="Shape 26"/>
          <p:cNvSpPr/>
          <p:nvPr/>
        </p:nvSpPr>
        <p:spPr>
          <a:xfrm>
            <a:off x="9582912" y="1453896"/>
            <a:ext cx="621792" cy="310896"/>
          </a:xfrm>
          <a:prstGeom prst="roundRect">
            <a:avLst>
              <a:gd name="adj" fmla="val 44118"/>
            </a:avLst>
          </a:prstGeom>
          <a:solidFill>
            <a:srgbClr val="16A34A"/>
          </a:solidFill>
          <a:ln w="12700">
            <a:solidFill>
              <a:srgbClr val="16A34A"/>
            </a:solidFill>
            <a:prstDash val="solid"/>
          </a:ln>
        </p:spPr>
      </p:sp>
      <p:sp>
        <p:nvSpPr>
          <p:cNvPr id="29" name="Text 27"/>
          <p:cNvSpPr/>
          <p:nvPr/>
        </p:nvSpPr>
        <p:spPr>
          <a:xfrm>
            <a:off x="9656064" y="1522476"/>
            <a:ext cx="475488" cy="164592"/>
          </a:xfrm>
          <a:prstGeom prst="rect">
            <a:avLst/>
          </a:prstGeom>
          <a:noFill/>
        </p:spPr>
        <p:txBody>
          <a:bodyPr wrap="square" lIns="0" tIns="0" rIns="0" bIns="0" rtlCol="0" anchor="ctr"/>
          <a:lstStyle/>
          <a:p>
            <a:pPr marL="0" indent="0" algn="ctr">
              <a:buNone/>
            </a:pPr>
            <a:r>
              <a:rPr lang="en-US" sz="900" b="1" dirty="0">
                <a:solidFill>
                  <a:srgbClr val="FFFFFF"/>
                </a:solidFill>
              </a:rPr>
              <a:t>WEB</a:t>
            </a:r>
            <a:endParaRPr lang="en-US" sz="900" dirty="0"/>
          </a:p>
        </p:txBody>
      </p:sp>
      <p:sp>
        <p:nvSpPr>
          <p:cNvPr id="30" name="Text 28"/>
          <p:cNvSpPr/>
          <p:nvPr/>
        </p:nvSpPr>
        <p:spPr>
          <a:xfrm>
            <a:off x="10287000" y="1499616"/>
            <a:ext cx="1143000" cy="475488"/>
          </a:xfrm>
          <a:prstGeom prst="rect">
            <a:avLst/>
          </a:prstGeom>
          <a:noFill/>
        </p:spPr>
        <p:txBody>
          <a:bodyPr wrap="square" lIns="0" tIns="0" rIns="0" bIns="0" rtlCol="0" anchor="ctr">
            <a:normAutofit/>
          </a:bodyPr>
          <a:lstStyle/>
          <a:p>
            <a:pPr marL="0" indent="0">
              <a:buNone/>
            </a:pPr>
            <a:r>
              <a:rPr lang="en-US" sz="1050" b="1" dirty="0">
                <a:solidFill>
                  <a:srgbClr val="273449"/>
                </a:solidFill>
              </a:rPr>
              <a:t>Current information + sources</a:t>
            </a:r>
            <a:endParaRPr lang="en-US" sz="1050" dirty="0"/>
          </a:p>
        </p:txBody>
      </p:sp>
      <p:sp>
        <p:nvSpPr>
          <p:cNvPr id="31" name="Shape 29"/>
          <p:cNvSpPr/>
          <p:nvPr/>
        </p:nvSpPr>
        <p:spPr>
          <a:xfrm>
            <a:off x="6053328" y="1746504"/>
            <a:ext cx="4462272" cy="1618488"/>
          </a:xfrm>
          <a:prstGeom prst="line">
            <a:avLst/>
          </a:prstGeom>
          <a:noFill/>
          <a:ln w="15240">
            <a:solidFill>
              <a:srgbClr val="C7D2DE"/>
            </a:solidFill>
            <a:prstDash val="solid"/>
          </a:ln>
        </p:spPr>
      </p:sp>
      <p:sp>
        <p:nvSpPr>
          <p:cNvPr id="32" name="Shape 30"/>
          <p:cNvSpPr/>
          <p:nvPr/>
        </p:nvSpPr>
        <p:spPr>
          <a:xfrm>
            <a:off x="7269480" y="777240"/>
            <a:ext cx="2103120" cy="896112"/>
          </a:xfrm>
          <a:prstGeom prst="roundRect">
            <a:avLst>
              <a:gd name="adj" fmla="val 12245"/>
            </a:avLst>
          </a:prstGeom>
          <a:solidFill>
            <a:srgbClr val="FFFFFF"/>
          </a:solidFill>
          <a:ln w="12700">
            <a:solidFill>
              <a:srgbClr val="DCE5EF"/>
            </a:solidFill>
            <a:prstDash val="solid"/>
          </a:ln>
          <a:effectLst>
            <a:outerShdw blurRad="-2147483648" dist="-2147483648" dir="5" algn="bl" rotWithShape="0">
              <a:srgbClr val="000000">
                <a:alpha val="1"/>
              </a:srgbClr>
            </a:outerShdw>
          </a:effectLst>
        </p:spPr>
      </p:sp>
      <p:sp>
        <p:nvSpPr>
          <p:cNvPr id="33" name="Shape 31"/>
          <p:cNvSpPr/>
          <p:nvPr/>
        </p:nvSpPr>
        <p:spPr>
          <a:xfrm>
            <a:off x="7388352" y="932688"/>
            <a:ext cx="621792" cy="310896"/>
          </a:xfrm>
          <a:prstGeom prst="roundRect">
            <a:avLst>
              <a:gd name="adj" fmla="val 44118"/>
            </a:avLst>
          </a:prstGeom>
          <a:solidFill>
            <a:srgbClr val="7C3AED"/>
          </a:solidFill>
          <a:ln w="12700">
            <a:solidFill>
              <a:srgbClr val="7C3AED"/>
            </a:solidFill>
            <a:prstDash val="solid"/>
          </a:ln>
        </p:spPr>
      </p:sp>
      <p:sp>
        <p:nvSpPr>
          <p:cNvPr id="34" name="Text 32"/>
          <p:cNvSpPr/>
          <p:nvPr/>
        </p:nvSpPr>
        <p:spPr>
          <a:xfrm>
            <a:off x="7461504" y="1001268"/>
            <a:ext cx="475488" cy="164592"/>
          </a:xfrm>
          <a:prstGeom prst="rect">
            <a:avLst/>
          </a:prstGeom>
          <a:noFill/>
        </p:spPr>
        <p:txBody>
          <a:bodyPr wrap="square" lIns="0" tIns="0" rIns="0" bIns="0" rtlCol="0" anchor="ctr"/>
          <a:lstStyle/>
          <a:p>
            <a:pPr marL="0" indent="0" algn="ctr">
              <a:buNone/>
            </a:pPr>
            <a:r>
              <a:rPr lang="en-US" sz="900" b="1" dirty="0">
                <a:solidFill>
                  <a:srgbClr val="FFFFFF"/>
                </a:solidFill>
              </a:rPr>
              <a:t>VOICE</a:t>
            </a:r>
            <a:endParaRPr lang="en-US" sz="900" dirty="0"/>
          </a:p>
        </p:txBody>
      </p:sp>
      <p:sp>
        <p:nvSpPr>
          <p:cNvPr id="35" name="Text 33"/>
          <p:cNvSpPr/>
          <p:nvPr/>
        </p:nvSpPr>
        <p:spPr>
          <a:xfrm>
            <a:off x="8092440" y="978408"/>
            <a:ext cx="1143000" cy="475488"/>
          </a:xfrm>
          <a:prstGeom prst="rect">
            <a:avLst/>
          </a:prstGeom>
          <a:noFill/>
        </p:spPr>
        <p:txBody>
          <a:bodyPr wrap="square" lIns="0" tIns="0" rIns="0" bIns="0" rtlCol="0" anchor="ctr">
            <a:normAutofit/>
          </a:bodyPr>
          <a:lstStyle/>
          <a:p>
            <a:pPr marL="0" indent="0">
              <a:buNone/>
            </a:pPr>
            <a:r>
              <a:rPr lang="en-US" sz="1050" b="1" dirty="0">
                <a:solidFill>
                  <a:srgbClr val="273449"/>
                </a:solidFill>
              </a:rPr>
              <a:t>Speak and listen</a:t>
            </a:r>
            <a:endParaRPr lang="en-US" sz="1050" dirty="0"/>
          </a:p>
        </p:txBody>
      </p:sp>
      <p:sp>
        <p:nvSpPr>
          <p:cNvPr id="36" name="Shape 34"/>
          <p:cNvSpPr/>
          <p:nvPr/>
        </p:nvSpPr>
        <p:spPr>
          <a:xfrm>
            <a:off x="6053328" y="1225296"/>
            <a:ext cx="2267712" cy="2139696"/>
          </a:xfrm>
          <a:prstGeom prst="line">
            <a:avLst/>
          </a:prstGeom>
          <a:noFill/>
          <a:ln w="15240">
            <a:solidFill>
              <a:srgbClr val="C7D2DE"/>
            </a:solidFill>
            <a:prstDash val="solid"/>
          </a:ln>
        </p:spPr>
      </p:sp>
      <p:sp>
        <p:nvSpPr>
          <p:cNvPr id="37" name="Text 35"/>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Help — ChatGPT Capabilities Overview; Data Analysis with ChatGPT; Working with Files (accessed 17 Jul 2026).</a:t>
            </a:r>
            <a:endParaRPr lang="en-US" sz="750" dirty="0"/>
          </a:p>
        </p:txBody>
      </p:sp>
      <p:sp>
        <p:nvSpPr>
          <p:cNvPr id="38"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Choosing an Intelligence Level</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Use the lightest level that reliably solves the task; escalate when reasoning is harder.</a:t>
            </a:r>
            <a:endParaRPr lang="en-US" sz="1150" dirty="0"/>
          </a:p>
        </p:txBody>
      </p:sp>
      <p:sp>
        <p:nvSpPr>
          <p:cNvPr id="4" name="Shape 2"/>
          <p:cNvSpPr/>
          <p:nvPr/>
        </p:nvSpPr>
        <p:spPr>
          <a:xfrm>
            <a:off x="603504" y="1179576"/>
            <a:ext cx="4864608" cy="4544568"/>
          </a:xfrm>
          <a:prstGeom prst="roundRect">
            <a:avLst>
              <a:gd name="adj" fmla="val 2414"/>
            </a:avLst>
          </a:prstGeom>
          <a:solidFill>
            <a:srgbClr val="FFFFFF"/>
          </a:solidFill>
          <a:ln w="12700">
            <a:solidFill>
              <a:srgbClr val="DDE4EC"/>
            </a:solidFill>
            <a:prstDash val="solid"/>
          </a:ln>
          <a:effectLst>
            <a:outerShdw blurRad="-2147483648" dist="-2147483648" dir="3" algn="bl" rotWithShape="0">
              <a:srgbClr val="000000">
                <a:alpha val="1"/>
              </a:srgbClr>
            </a:outerShdw>
          </a:effectLst>
        </p:spPr>
      </p:sp>
      <p:pic>
        <p:nvPicPr>
          <p:cNvPr id="5" name="Image 0" descr="/mnt/data/WhatsApp Image 2026-07-16 at 11.39.36 PM.jpeg"/>
          <p:cNvPicPr>
            <a:picLocks noChangeAspect="1"/>
          </p:cNvPicPr>
          <p:nvPr/>
        </p:nvPicPr>
        <p:blipFill>
          <a:blip r:embed="rId1"/>
          <a:stretch>
            <a:fillRect/>
          </a:stretch>
        </p:blipFill>
        <p:spPr>
          <a:xfrm>
            <a:off x="811617" y="1234440"/>
            <a:ext cx="4448381" cy="4434840"/>
          </a:xfrm>
          <a:prstGeom prst="rect">
            <a:avLst/>
          </a:prstGeom>
        </p:spPr>
      </p:pic>
      <p:sp>
        <p:nvSpPr>
          <p:cNvPr id="6" name="Shape 3"/>
          <p:cNvSpPr/>
          <p:nvPr/>
        </p:nvSpPr>
        <p:spPr>
          <a:xfrm>
            <a:off x="5806440" y="1417320"/>
            <a:ext cx="5394960" cy="987552"/>
          </a:xfrm>
          <a:prstGeom prst="roundRect">
            <a:avLst>
              <a:gd name="adj" fmla="val 11111"/>
            </a:avLst>
          </a:prstGeom>
          <a:solidFill>
            <a:srgbClr val="FFFFFF"/>
          </a:solidFill>
          <a:ln w="12700">
            <a:solidFill>
              <a:srgbClr val="DCE5EF"/>
            </a:solidFill>
            <a:prstDash val="solid"/>
          </a:ln>
          <a:effectLst>
            <a:outerShdw blurRad="-2147483648" dist="-2147483648" dir="2" algn="bl" rotWithShape="0">
              <a:srgbClr val="000000">
                <a:alpha val="1"/>
              </a:srgbClr>
            </a:outerShdw>
          </a:effectLst>
        </p:spPr>
      </p:sp>
      <p:sp>
        <p:nvSpPr>
          <p:cNvPr id="7" name="Shape 4"/>
          <p:cNvSpPr/>
          <p:nvPr/>
        </p:nvSpPr>
        <p:spPr>
          <a:xfrm>
            <a:off x="6035040" y="1645920"/>
            <a:ext cx="530352" cy="530352"/>
          </a:xfrm>
          <a:prstGeom prst="ellipse">
            <a:avLst/>
          </a:prstGeom>
          <a:solidFill>
            <a:srgbClr val="1677FF"/>
          </a:solidFill>
          <a:ln w="12700">
            <a:solidFill>
              <a:srgbClr val="1677FF"/>
            </a:solidFill>
            <a:prstDash val="solid"/>
          </a:ln>
        </p:spPr>
      </p:sp>
      <p:sp>
        <p:nvSpPr>
          <p:cNvPr id="8" name="Text 5"/>
          <p:cNvSpPr/>
          <p:nvPr/>
        </p:nvSpPr>
        <p:spPr>
          <a:xfrm>
            <a:off x="6035040" y="1737360"/>
            <a:ext cx="530352" cy="182880"/>
          </a:xfrm>
          <a:prstGeom prst="rect">
            <a:avLst/>
          </a:prstGeom>
          <a:noFill/>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9" name="Text 6"/>
          <p:cNvSpPr/>
          <p:nvPr/>
        </p:nvSpPr>
        <p:spPr>
          <a:xfrm>
            <a:off x="6784848" y="1572768"/>
            <a:ext cx="1920240" cy="256032"/>
          </a:xfrm>
          <a:prstGeom prst="rect">
            <a:avLst/>
          </a:prstGeom>
          <a:noFill/>
        </p:spPr>
        <p:txBody>
          <a:bodyPr wrap="square" lIns="0" tIns="0" rIns="0" bIns="0" rtlCol="0" anchor="ctr"/>
          <a:lstStyle/>
          <a:p>
            <a:pPr marL="0" indent="0">
              <a:buNone/>
            </a:pPr>
            <a:r>
              <a:rPr lang="en-US" sz="1600" b="1" dirty="0">
                <a:solidFill>
                  <a:srgbClr val="0B1F3A"/>
                </a:solidFill>
              </a:rPr>
              <a:t>INSTANT</a:t>
            </a:r>
            <a:endParaRPr lang="en-US" sz="1600" dirty="0"/>
          </a:p>
        </p:txBody>
      </p:sp>
      <p:sp>
        <p:nvSpPr>
          <p:cNvPr id="10" name="Text 7"/>
          <p:cNvSpPr/>
          <p:nvPr/>
        </p:nvSpPr>
        <p:spPr>
          <a:xfrm>
            <a:off x="6784848" y="1892808"/>
            <a:ext cx="3246120" cy="384048"/>
          </a:xfrm>
          <a:prstGeom prst="rect">
            <a:avLst/>
          </a:prstGeom>
          <a:noFill/>
        </p:spPr>
        <p:txBody>
          <a:bodyPr wrap="square" lIns="0" tIns="0" rIns="0" bIns="0" rtlCol="0" anchor="ctr">
            <a:normAutofit/>
          </a:bodyPr>
          <a:lstStyle/>
          <a:p>
            <a:pPr marL="0" indent="0">
              <a:buNone/>
            </a:pPr>
            <a:r>
              <a:rPr lang="en-US" sz="1050" dirty="0">
                <a:solidFill>
                  <a:srgbClr val="273449"/>
                </a:solidFill>
              </a:rPr>
              <a:t>Everyday questions, rewriting, brainstorming, quick explanations</a:t>
            </a:r>
            <a:endParaRPr lang="en-US" sz="1050" dirty="0"/>
          </a:p>
        </p:txBody>
      </p:sp>
      <p:sp>
        <p:nvSpPr>
          <p:cNvPr id="11" name="Shape 8"/>
          <p:cNvSpPr/>
          <p:nvPr/>
        </p:nvSpPr>
        <p:spPr>
          <a:xfrm>
            <a:off x="10012680" y="1746504"/>
            <a:ext cx="896112" cy="310896"/>
          </a:xfrm>
          <a:prstGeom prst="roundRect">
            <a:avLst>
              <a:gd name="adj" fmla="val 44118"/>
            </a:avLst>
          </a:prstGeom>
          <a:solidFill>
            <a:srgbClr val="1677FF"/>
          </a:solidFill>
          <a:ln w="12700">
            <a:solidFill>
              <a:srgbClr val="1677FF"/>
            </a:solidFill>
            <a:prstDash val="solid"/>
          </a:ln>
        </p:spPr>
      </p:sp>
      <p:sp>
        <p:nvSpPr>
          <p:cNvPr id="12" name="Text 9"/>
          <p:cNvSpPr/>
          <p:nvPr/>
        </p:nvSpPr>
        <p:spPr>
          <a:xfrm>
            <a:off x="10085832" y="1815084"/>
            <a:ext cx="749808" cy="164592"/>
          </a:xfrm>
          <a:prstGeom prst="rect">
            <a:avLst/>
          </a:prstGeom>
          <a:noFill/>
        </p:spPr>
        <p:txBody>
          <a:bodyPr wrap="square" lIns="0" tIns="0" rIns="0" bIns="0" rtlCol="0" anchor="ctr"/>
          <a:lstStyle/>
          <a:p>
            <a:pPr marL="0" indent="0" algn="ctr">
              <a:buNone/>
            </a:pPr>
            <a:r>
              <a:rPr lang="en-US" sz="900" b="1" dirty="0">
                <a:solidFill>
                  <a:srgbClr val="FFFFFF"/>
                </a:solidFill>
              </a:rPr>
              <a:t>Fast</a:t>
            </a:r>
            <a:endParaRPr lang="en-US" sz="900" dirty="0"/>
          </a:p>
        </p:txBody>
      </p:sp>
      <p:sp>
        <p:nvSpPr>
          <p:cNvPr id="13" name="Shape 10"/>
          <p:cNvSpPr/>
          <p:nvPr/>
        </p:nvSpPr>
        <p:spPr>
          <a:xfrm>
            <a:off x="5806440" y="2743200"/>
            <a:ext cx="5394960" cy="987552"/>
          </a:xfrm>
          <a:prstGeom prst="roundRect">
            <a:avLst>
              <a:gd name="adj" fmla="val 11111"/>
            </a:avLst>
          </a:prstGeom>
          <a:solidFill>
            <a:srgbClr val="FFFFFF"/>
          </a:solidFill>
          <a:ln w="12700">
            <a:solidFill>
              <a:srgbClr val="DCE5EF"/>
            </a:solidFill>
            <a:prstDash val="solid"/>
          </a:ln>
          <a:effectLst>
            <a:outerShdw blurRad="-2147483648" dist="-2147483648" dir="1" algn="bl" rotWithShape="0">
              <a:srgbClr val="000000">
                <a:alpha val="1"/>
              </a:srgbClr>
            </a:outerShdw>
          </a:effectLst>
        </p:spPr>
      </p:sp>
      <p:sp>
        <p:nvSpPr>
          <p:cNvPr id="14" name="Shape 11"/>
          <p:cNvSpPr/>
          <p:nvPr/>
        </p:nvSpPr>
        <p:spPr>
          <a:xfrm>
            <a:off x="6035040" y="2971800"/>
            <a:ext cx="530352" cy="530352"/>
          </a:xfrm>
          <a:prstGeom prst="ellipse">
            <a:avLst/>
          </a:prstGeom>
          <a:solidFill>
            <a:srgbClr val="16B8D4"/>
          </a:solidFill>
          <a:ln w="12700">
            <a:solidFill>
              <a:srgbClr val="16B8D4"/>
            </a:solidFill>
            <a:prstDash val="solid"/>
          </a:ln>
        </p:spPr>
      </p:sp>
      <p:sp>
        <p:nvSpPr>
          <p:cNvPr id="15" name="Text 12"/>
          <p:cNvSpPr/>
          <p:nvPr/>
        </p:nvSpPr>
        <p:spPr>
          <a:xfrm>
            <a:off x="6035040" y="3063240"/>
            <a:ext cx="530352" cy="182880"/>
          </a:xfrm>
          <a:prstGeom prst="rect">
            <a:avLst/>
          </a:prstGeom>
          <a:noFill/>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6" name="Text 13"/>
          <p:cNvSpPr/>
          <p:nvPr/>
        </p:nvSpPr>
        <p:spPr>
          <a:xfrm>
            <a:off x="6784848" y="2898648"/>
            <a:ext cx="1920240" cy="256032"/>
          </a:xfrm>
          <a:prstGeom prst="rect">
            <a:avLst/>
          </a:prstGeom>
          <a:noFill/>
        </p:spPr>
        <p:txBody>
          <a:bodyPr wrap="square" lIns="0" tIns="0" rIns="0" bIns="0" rtlCol="0" anchor="ctr"/>
          <a:lstStyle/>
          <a:p>
            <a:pPr marL="0" indent="0">
              <a:buNone/>
            </a:pPr>
            <a:r>
              <a:rPr lang="en-US" sz="1600" b="1" dirty="0">
                <a:solidFill>
                  <a:srgbClr val="0B1F3A"/>
                </a:solidFill>
              </a:rPr>
              <a:t>MEDIUM</a:t>
            </a:r>
            <a:endParaRPr lang="en-US" sz="1600" dirty="0"/>
          </a:p>
        </p:txBody>
      </p:sp>
      <p:sp>
        <p:nvSpPr>
          <p:cNvPr id="17" name="Text 14"/>
          <p:cNvSpPr/>
          <p:nvPr/>
        </p:nvSpPr>
        <p:spPr>
          <a:xfrm>
            <a:off x="6784848" y="3218688"/>
            <a:ext cx="3246120" cy="384048"/>
          </a:xfrm>
          <a:prstGeom prst="rect">
            <a:avLst/>
          </a:prstGeom>
          <a:noFill/>
        </p:spPr>
        <p:txBody>
          <a:bodyPr wrap="square" lIns="0" tIns="0" rIns="0" bIns="0" rtlCol="0" anchor="ctr">
            <a:normAutofit/>
          </a:bodyPr>
          <a:lstStyle/>
          <a:p>
            <a:pPr marL="0" indent="0">
              <a:buNone/>
            </a:pPr>
            <a:r>
              <a:rPr lang="en-US" sz="1050" dirty="0">
                <a:solidFill>
                  <a:srgbClr val="273449"/>
                </a:solidFill>
              </a:rPr>
              <a:t>Standard analysis, comparisons, structured reasoning, data interpretation</a:t>
            </a:r>
            <a:endParaRPr lang="en-US" sz="1050" dirty="0"/>
          </a:p>
        </p:txBody>
      </p:sp>
      <p:sp>
        <p:nvSpPr>
          <p:cNvPr id="18" name="Shape 15"/>
          <p:cNvSpPr/>
          <p:nvPr/>
        </p:nvSpPr>
        <p:spPr>
          <a:xfrm>
            <a:off x="10012680" y="3072384"/>
            <a:ext cx="896112" cy="310896"/>
          </a:xfrm>
          <a:prstGeom prst="roundRect">
            <a:avLst>
              <a:gd name="adj" fmla="val 44118"/>
            </a:avLst>
          </a:prstGeom>
          <a:solidFill>
            <a:srgbClr val="16B8D4"/>
          </a:solidFill>
          <a:ln w="12700">
            <a:solidFill>
              <a:srgbClr val="16B8D4"/>
            </a:solidFill>
            <a:prstDash val="solid"/>
          </a:ln>
        </p:spPr>
      </p:sp>
      <p:sp>
        <p:nvSpPr>
          <p:cNvPr id="19" name="Text 16"/>
          <p:cNvSpPr/>
          <p:nvPr/>
        </p:nvSpPr>
        <p:spPr>
          <a:xfrm>
            <a:off x="10085832" y="3140964"/>
            <a:ext cx="749808" cy="164592"/>
          </a:xfrm>
          <a:prstGeom prst="rect">
            <a:avLst/>
          </a:prstGeom>
          <a:noFill/>
        </p:spPr>
        <p:txBody>
          <a:bodyPr wrap="square" lIns="0" tIns="0" rIns="0" bIns="0" rtlCol="0" anchor="ctr"/>
          <a:lstStyle/>
          <a:p>
            <a:pPr marL="0" indent="0" algn="ctr">
              <a:buNone/>
            </a:pPr>
            <a:r>
              <a:rPr lang="en-US" sz="900" b="1" dirty="0">
                <a:solidFill>
                  <a:srgbClr val="FFFFFF"/>
                </a:solidFill>
              </a:rPr>
              <a:t>Balanced</a:t>
            </a:r>
            <a:endParaRPr lang="en-US" sz="900" dirty="0"/>
          </a:p>
        </p:txBody>
      </p:sp>
      <p:sp>
        <p:nvSpPr>
          <p:cNvPr id="20" name="Shape 17"/>
          <p:cNvSpPr/>
          <p:nvPr/>
        </p:nvSpPr>
        <p:spPr>
          <a:xfrm>
            <a:off x="5806440" y="4069080"/>
            <a:ext cx="5394960" cy="987552"/>
          </a:xfrm>
          <a:prstGeom prst="roundRect">
            <a:avLst>
              <a:gd name="adj" fmla="val 11111"/>
            </a:avLst>
          </a:prstGeom>
          <a:solidFill>
            <a:srgbClr val="FFF4DF"/>
          </a:solidFill>
          <a:ln w="12700">
            <a:solidFill>
              <a:srgbClr val="F2C978"/>
            </a:solidFill>
            <a:prstDash val="solid"/>
          </a:ln>
          <a:effectLst>
            <a:outerShdw blurRad="-2147483648" dist="-2147483648" dir="7" algn="bl" rotWithShape="0">
              <a:srgbClr val="000000">
                <a:alpha val="1"/>
              </a:srgbClr>
            </a:outerShdw>
          </a:effectLst>
        </p:spPr>
      </p:sp>
      <p:sp>
        <p:nvSpPr>
          <p:cNvPr id="21" name="Shape 18"/>
          <p:cNvSpPr/>
          <p:nvPr/>
        </p:nvSpPr>
        <p:spPr>
          <a:xfrm>
            <a:off x="6035040" y="4297680"/>
            <a:ext cx="530352" cy="530352"/>
          </a:xfrm>
          <a:prstGeom prst="ellipse">
            <a:avLst/>
          </a:prstGeom>
          <a:solidFill>
            <a:srgbClr val="F59E0B"/>
          </a:solidFill>
          <a:ln w="12700">
            <a:solidFill>
              <a:srgbClr val="F59E0B"/>
            </a:solidFill>
            <a:prstDash val="solid"/>
          </a:ln>
        </p:spPr>
      </p:sp>
      <p:sp>
        <p:nvSpPr>
          <p:cNvPr id="22" name="Text 19"/>
          <p:cNvSpPr/>
          <p:nvPr/>
        </p:nvSpPr>
        <p:spPr>
          <a:xfrm>
            <a:off x="6035040" y="4389120"/>
            <a:ext cx="530352" cy="182880"/>
          </a:xfrm>
          <a:prstGeom prst="rect">
            <a:avLst/>
          </a:prstGeom>
          <a:noFill/>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23" name="Text 20"/>
          <p:cNvSpPr/>
          <p:nvPr/>
        </p:nvSpPr>
        <p:spPr>
          <a:xfrm>
            <a:off x="6784848" y="4224528"/>
            <a:ext cx="1920240" cy="256032"/>
          </a:xfrm>
          <a:prstGeom prst="rect">
            <a:avLst/>
          </a:prstGeom>
          <a:noFill/>
        </p:spPr>
        <p:txBody>
          <a:bodyPr wrap="square" lIns="0" tIns="0" rIns="0" bIns="0" rtlCol="0" anchor="ctr"/>
          <a:lstStyle/>
          <a:p>
            <a:pPr marL="0" indent="0">
              <a:buNone/>
            </a:pPr>
            <a:r>
              <a:rPr lang="en-US" sz="1600" b="1" dirty="0">
                <a:solidFill>
                  <a:srgbClr val="0B1F3A"/>
                </a:solidFill>
              </a:rPr>
              <a:t>HIGH / THINKING</a:t>
            </a:r>
            <a:endParaRPr lang="en-US" sz="1600" dirty="0"/>
          </a:p>
        </p:txBody>
      </p:sp>
      <p:sp>
        <p:nvSpPr>
          <p:cNvPr id="24" name="Text 21"/>
          <p:cNvSpPr/>
          <p:nvPr/>
        </p:nvSpPr>
        <p:spPr>
          <a:xfrm>
            <a:off x="6784848" y="4544568"/>
            <a:ext cx="3246120" cy="384048"/>
          </a:xfrm>
          <a:prstGeom prst="rect">
            <a:avLst/>
          </a:prstGeom>
          <a:noFill/>
        </p:spPr>
        <p:txBody>
          <a:bodyPr wrap="square" lIns="0" tIns="0" rIns="0" bIns="0" rtlCol="0" anchor="ctr">
            <a:normAutofit/>
          </a:bodyPr>
          <a:lstStyle/>
          <a:p>
            <a:pPr marL="0" indent="0">
              <a:buNone/>
            </a:pPr>
            <a:r>
              <a:rPr lang="en-US" sz="1050" dirty="0">
                <a:solidFill>
                  <a:srgbClr val="273449"/>
                </a:solidFill>
              </a:rPr>
              <a:t>Complex multi-step reasoning, proofs, difficult coding, detailed planning</a:t>
            </a:r>
            <a:endParaRPr lang="en-US" sz="1050" dirty="0"/>
          </a:p>
        </p:txBody>
      </p:sp>
      <p:sp>
        <p:nvSpPr>
          <p:cNvPr id="25" name="Shape 22"/>
          <p:cNvSpPr/>
          <p:nvPr/>
        </p:nvSpPr>
        <p:spPr>
          <a:xfrm>
            <a:off x="10012680" y="4398264"/>
            <a:ext cx="896112" cy="310896"/>
          </a:xfrm>
          <a:prstGeom prst="roundRect">
            <a:avLst>
              <a:gd name="adj" fmla="val 44118"/>
            </a:avLst>
          </a:prstGeom>
          <a:solidFill>
            <a:srgbClr val="F59E0B"/>
          </a:solidFill>
          <a:ln w="12700">
            <a:solidFill>
              <a:srgbClr val="F59E0B"/>
            </a:solidFill>
            <a:prstDash val="solid"/>
          </a:ln>
        </p:spPr>
      </p:sp>
      <p:sp>
        <p:nvSpPr>
          <p:cNvPr id="26" name="Text 23"/>
          <p:cNvSpPr/>
          <p:nvPr/>
        </p:nvSpPr>
        <p:spPr>
          <a:xfrm>
            <a:off x="10085832" y="4466844"/>
            <a:ext cx="749808" cy="164592"/>
          </a:xfrm>
          <a:prstGeom prst="rect">
            <a:avLst/>
          </a:prstGeom>
          <a:noFill/>
        </p:spPr>
        <p:txBody>
          <a:bodyPr wrap="square" lIns="0" tIns="0" rIns="0" bIns="0" rtlCol="0" anchor="ctr"/>
          <a:lstStyle/>
          <a:p>
            <a:pPr marL="0" indent="0" algn="ctr">
              <a:buNone/>
            </a:pPr>
            <a:r>
              <a:rPr lang="en-US" sz="900" b="1" dirty="0">
                <a:solidFill>
                  <a:srgbClr val="FFFFFF"/>
                </a:solidFill>
              </a:rPr>
              <a:t>Deeper</a:t>
            </a:r>
            <a:endParaRPr lang="en-US" sz="900" dirty="0"/>
          </a:p>
        </p:txBody>
      </p:sp>
      <p:sp>
        <p:nvSpPr>
          <p:cNvPr id="27" name="Text 24"/>
          <p:cNvSpPr/>
          <p:nvPr/>
        </p:nvSpPr>
        <p:spPr>
          <a:xfrm>
            <a:off x="5870448" y="5440680"/>
            <a:ext cx="5212080" cy="256032"/>
          </a:xfrm>
          <a:prstGeom prst="rect">
            <a:avLst/>
          </a:prstGeom>
          <a:noFill/>
        </p:spPr>
        <p:txBody>
          <a:bodyPr wrap="square" lIns="0" tIns="0" rIns="0" bIns="0" rtlCol="0" anchor="ctr"/>
          <a:lstStyle/>
          <a:p>
            <a:pPr marL="0" indent="0">
              <a:buNone/>
            </a:pPr>
            <a:r>
              <a:rPr lang="en-US" sz="1050" i="1" dirty="0">
                <a:solidFill>
                  <a:srgbClr val="667085"/>
                </a:solidFill>
              </a:rPr>
              <a:t>Model names, levels, and limits may vary by plan and can change over time.</a:t>
            </a:r>
            <a:endParaRPr lang="en-US" sz="1050" dirty="0"/>
          </a:p>
        </p:txBody>
      </p:sp>
      <p:sp>
        <p:nvSpPr>
          <p:cNvPr id="28" name="Text 25"/>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Help — GPT-5.6 in ChatGPT and ChatGPT release notes (accessed 17 Jul 2026).</a:t>
            </a:r>
            <a:endParaRPr lang="en-US" sz="750" dirty="0"/>
          </a:p>
        </p:txBody>
      </p:sp>
      <p:sp>
        <p:nvSpPr>
          <p:cNvPr id="29"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ChatGPT Capability Map</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Choose the feature based on the evidence, input, and action required.</a:t>
            </a:r>
            <a:endParaRPr lang="en-US" sz="1150" dirty="0"/>
          </a:p>
        </p:txBody>
      </p:sp>
      <p:sp>
        <p:nvSpPr>
          <p:cNvPr id="4" name="Shape 2"/>
          <p:cNvSpPr/>
          <p:nvPr/>
        </p:nvSpPr>
        <p:spPr>
          <a:xfrm>
            <a:off x="6848856" y="1188720"/>
            <a:ext cx="4727448" cy="2596896"/>
          </a:xfrm>
          <a:prstGeom prst="roundRect">
            <a:avLst>
              <a:gd name="adj" fmla="val 4225"/>
            </a:avLst>
          </a:prstGeom>
          <a:solidFill>
            <a:srgbClr val="FFFFFF"/>
          </a:solidFill>
          <a:ln w="12700">
            <a:solidFill>
              <a:srgbClr val="DDE4EC"/>
            </a:solidFill>
            <a:prstDash val="solid"/>
          </a:ln>
          <a:effectLst>
            <a:outerShdw blurRad="-2147483648" dist="-2147483648" dir="4" algn="bl" rotWithShape="0">
              <a:srgbClr val="000000">
                <a:alpha val="1"/>
              </a:srgbClr>
            </a:outerShdw>
          </a:effectLst>
        </p:spPr>
      </p:sp>
      <p:pic>
        <p:nvPicPr>
          <p:cNvPr id="5" name="Image 0" descr="/mnt/data/WhatsApp Image 2026-07-16 at 11.58.17 PM.jpeg"/>
          <p:cNvPicPr>
            <a:picLocks noChangeAspect="1"/>
          </p:cNvPicPr>
          <p:nvPr/>
        </p:nvPicPr>
        <p:blipFill>
          <a:blip r:embed="rId1"/>
          <a:stretch>
            <a:fillRect/>
          </a:stretch>
        </p:blipFill>
        <p:spPr>
          <a:xfrm>
            <a:off x="6910973" y="1243584"/>
            <a:ext cx="4603214" cy="2487168"/>
          </a:xfrm>
          <a:prstGeom prst="rect">
            <a:avLst/>
          </a:prstGeom>
        </p:spPr>
      </p:pic>
      <p:sp>
        <p:nvSpPr>
          <p:cNvPr id="6" name="Text 3"/>
          <p:cNvSpPr/>
          <p:nvPr/>
        </p:nvSpPr>
        <p:spPr>
          <a:xfrm>
            <a:off x="6903720" y="3776472"/>
            <a:ext cx="4617720" cy="201168"/>
          </a:xfrm>
          <a:prstGeom prst="rect">
            <a:avLst/>
          </a:prstGeom>
          <a:noFill/>
        </p:spPr>
        <p:txBody>
          <a:bodyPr wrap="square" lIns="0" tIns="0" rIns="0" bIns="0" rtlCol="0" anchor="ctr"/>
          <a:lstStyle/>
          <a:p>
            <a:pPr marL="0" indent="0" algn="ctr">
              <a:buNone/>
            </a:pPr>
            <a:r>
              <a:rPr lang="en-US" sz="800" dirty="0">
                <a:solidFill>
                  <a:srgbClr val="667085"/>
                </a:solidFill>
              </a:rPr>
              <a:t>Example feature menu</a:t>
            </a:r>
            <a:endParaRPr lang="en-US" sz="800" dirty="0"/>
          </a:p>
        </p:txBody>
      </p:sp>
      <p:sp>
        <p:nvSpPr>
          <p:cNvPr id="7" name="Shape 4"/>
          <p:cNvSpPr/>
          <p:nvPr/>
        </p:nvSpPr>
        <p:spPr>
          <a:xfrm>
            <a:off x="658368" y="1261872"/>
            <a:ext cx="2788920" cy="1115568"/>
          </a:xfrm>
          <a:prstGeom prst="roundRect">
            <a:avLst>
              <a:gd name="adj" fmla="val 9836"/>
            </a:avLst>
          </a:prstGeom>
          <a:solidFill>
            <a:srgbClr val="FFFFFF"/>
          </a:solidFill>
          <a:ln w="12700">
            <a:solidFill>
              <a:srgbClr val="DCE5EF"/>
            </a:solidFill>
            <a:prstDash val="solid"/>
          </a:ln>
          <a:effectLst>
            <a:outerShdw blurRad="-2147483648" dist="-2147483648" dir="2" algn="bl" rotWithShape="0">
              <a:srgbClr val="000000">
                <a:alpha val="1"/>
              </a:srgbClr>
            </a:outerShdw>
          </a:effectLst>
        </p:spPr>
      </p:sp>
      <p:sp>
        <p:nvSpPr>
          <p:cNvPr id="8" name="Shape 5"/>
          <p:cNvSpPr/>
          <p:nvPr/>
        </p:nvSpPr>
        <p:spPr>
          <a:xfrm>
            <a:off x="822960" y="1426464"/>
            <a:ext cx="1115568" cy="310896"/>
          </a:xfrm>
          <a:prstGeom prst="roundRect">
            <a:avLst>
              <a:gd name="adj" fmla="val 44118"/>
            </a:avLst>
          </a:prstGeom>
          <a:solidFill>
            <a:srgbClr val="1677FF"/>
          </a:solidFill>
          <a:ln w="12700">
            <a:solidFill>
              <a:srgbClr val="1677FF"/>
            </a:solidFill>
            <a:prstDash val="solid"/>
          </a:ln>
        </p:spPr>
      </p:sp>
      <p:sp>
        <p:nvSpPr>
          <p:cNvPr id="9" name="Text 6"/>
          <p:cNvSpPr/>
          <p:nvPr/>
        </p:nvSpPr>
        <p:spPr>
          <a:xfrm>
            <a:off x="896112" y="1495044"/>
            <a:ext cx="969264" cy="164592"/>
          </a:xfrm>
          <a:prstGeom prst="rect">
            <a:avLst/>
          </a:prstGeom>
          <a:noFill/>
        </p:spPr>
        <p:txBody>
          <a:bodyPr wrap="square" lIns="0" tIns="0" rIns="0" bIns="0" rtlCol="0" anchor="ctr"/>
          <a:lstStyle/>
          <a:p>
            <a:pPr marL="0" indent="0" algn="ctr">
              <a:buNone/>
            </a:pPr>
            <a:r>
              <a:rPr lang="en-US" sz="900" b="1" dirty="0">
                <a:solidFill>
                  <a:srgbClr val="FFFFFF"/>
                </a:solidFill>
              </a:rPr>
              <a:t>SEARCH</a:t>
            </a:r>
            <a:endParaRPr lang="en-US" sz="900" dirty="0"/>
          </a:p>
        </p:txBody>
      </p:sp>
      <p:sp>
        <p:nvSpPr>
          <p:cNvPr id="10" name="Text 7"/>
          <p:cNvSpPr/>
          <p:nvPr/>
        </p:nvSpPr>
        <p:spPr>
          <a:xfrm>
            <a:off x="822960" y="1847088"/>
            <a:ext cx="2423160" cy="228600"/>
          </a:xfrm>
          <a:prstGeom prst="rect">
            <a:avLst/>
          </a:prstGeom>
          <a:noFill/>
        </p:spPr>
        <p:txBody>
          <a:bodyPr wrap="square" lIns="0" tIns="0" rIns="0" bIns="0" rtlCol="0" anchor="ctr"/>
          <a:lstStyle/>
          <a:p>
            <a:pPr marL="0" indent="0">
              <a:buNone/>
            </a:pPr>
            <a:r>
              <a:rPr lang="en-US" sz="1350" b="1" dirty="0">
                <a:solidFill>
                  <a:srgbClr val="0B1F3A"/>
                </a:solidFill>
              </a:rPr>
              <a:t>Current information</a:t>
            </a:r>
            <a:endParaRPr lang="en-US" sz="1350" dirty="0"/>
          </a:p>
        </p:txBody>
      </p:sp>
      <p:sp>
        <p:nvSpPr>
          <p:cNvPr id="11" name="Text 8"/>
          <p:cNvSpPr/>
          <p:nvPr/>
        </p:nvSpPr>
        <p:spPr>
          <a:xfrm>
            <a:off x="822960" y="2103120"/>
            <a:ext cx="2423160" cy="201168"/>
          </a:xfrm>
          <a:prstGeom prst="rect">
            <a:avLst/>
          </a:prstGeom>
          <a:noFill/>
        </p:spPr>
        <p:txBody>
          <a:bodyPr wrap="square" lIns="0" tIns="0" rIns="0" bIns="0" rtlCol="0" anchor="ctr">
            <a:normAutofit/>
          </a:bodyPr>
          <a:lstStyle/>
          <a:p>
            <a:pPr marL="0" indent="0">
              <a:buNone/>
            </a:pPr>
            <a:r>
              <a:rPr lang="en-US" sz="950" dirty="0">
                <a:solidFill>
                  <a:srgbClr val="667085"/>
                </a:solidFill>
              </a:rPr>
              <a:t>News, recent facts, source links</a:t>
            </a:r>
            <a:endParaRPr lang="en-US" sz="950" dirty="0"/>
          </a:p>
        </p:txBody>
      </p:sp>
      <p:sp>
        <p:nvSpPr>
          <p:cNvPr id="12" name="Shape 9"/>
          <p:cNvSpPr/>
          <p:nvPr/>
        </p:nvSpPr>
        <p:spPr>
          <a:xfrm>
            <a:off x="3721608" y="1261872"/>
            <a:ext cx="2788920" cy="1115568"/>
          </a:xfrm>
          <a:prstGeom prst="roundRect">
            <a:avLst>
              <a:gd name="adj" fmla="val 9836"/>
            </a:avLst>
          </a:prstGeom>
          <a:solidFill>
            <a:srgbClr val="FFFFFF"/>
          </a:solidFill>
          <a:ln w="12700">
            <a:solidFill>
              <a:srgbClr val="DCE5EF"/>
            </a:solidFill>
            <a:prstDash val="solid"/>
          </a:ln>
          <a:effectLst>
            <a:outerShdw blurRad="-2147483648" dist="-2147483648" dir="1" algn="bl" rotWithShape="0">
              <a:srgbClr val="000000">
                <a:alpha val="1"/>
              </a:srgbClr>
            </a:outerShdw>
          </a:effectLst>
        </p:spPr>
      </p:sp>
      <p:sp>
        <p:nvSpPr>
          <p:cNvPr id="13" name="Shape 10"/>
          <p:cNvSpPr/>
          <p:nvPr/>
        </p:nvSpPr>
        <p:spPr>
          <a:xfrm>
            <a:off x="3886200" y="1426464"/>
            <a:ext cx="1115568" cy="310896"/>
          </a:xfrm>
          <a:prstGeom prst="roundRect">
            <a:avLst>
              <a:gd name="adj" fmla="val 44118"/>
            </a:avLst>
          </a:prstGeom>
          <a:solidFill>
            <a:srgbClr val="F59E0B"/>
          </a:solidFill>
          <a:ln w="12700">
            <a:solidFill>
              <a:srgbClr val="F59E0B"/>
            </a:solidFill>
            <a:prstDash val="solid"/>
          </a:ln>
        </p:spPr>
      </p:sp>
      <p:sp>
        <p:nvSpPr>
          <p:cNvPr id="14" name="Text 11"/>
          <p:cNvSpPr/>
          <p:nvPr/>
        </p:nvSpPr>
        <p:spPr>
          <a:xfrm>
            <a:off x="3959352" y="1495044"/>
            <a:ext cx="969264" cy="164592"/>
          </a:xfrm>
          <a:prstGeom prst="rect">
            <a:avLst/>
          </a:prstGeom>
          <a:noFill/>
        </p:spPr>
        <p:txBody>
          <a:bodyPr wrap="square" lIns="0" tIns="0" rIns="0" bIns="0" rtlCol="0" anchor="ctr"/>
          <a:lstStyle/>
          <a:p>
            <a:pPr marL="0" indent="0" algn="ctr">
              <a:buNone/>
            </a:pPr>
            <a:r>
              <a:rPr lang="en-US" sz="900" b="1" dirty="0">
                <a:solidFill>
                  <a:srgbClr val="FFFFFF"/>
                </a:solidFill>
              </a:rPr>
              <a:t>DEEP RESEARCH</a:t>
            </a:r>
            <a:endParaRPr lang="en-US" sz="900" dirty="0"/>
          </a:p>
        </p:txBody>
      </p:sp>
      <p:sp>
        <p:nvSpPr>
          <p:cNvPr id="15" name="Text 12"/>
          <p:cNvSpPr/>
          <p:nvPr/>
        </p:nvSpPr>
        <p:spPr>
          <a:xfrm>
            <a:off x="3886200" y="1847088"/>
            <a:ext cx="2423160" cy="228600"/>
          </a:xfrm>
          <a:prstGeom prst="rect">
            <a:avLst/>
          </a:prstGeom>
          <a:noFill/>
        </p:spPr>
        <p:txBody>
          <a:bodyPr wrap="square" lIns="0" tIns="0" rIns="0" bIns="0" rtlCol="0" anchor="ctr"/>
          <a:lstStyle/>
          <a:p>
            <a:pPr marL="0" indent="0">
              <a:buNone/>
            </a:pPr>
            <a:r>
              <a:rPr lang="en-US" sz="1350" b="1" dirty="0">
                <a:solidFill>
                  <a:srgbClr val="0B1F3A"/>
                </a:solidFill>
              </a:rPr>
              <a:t>Documented synthesis</a:t>
            </a:r>
            <a:endParaRPr lang="en-US" sz="1350" dirty="0"/>
          </a:p>
        </p:txBody>
      </p:sp>
      <p:sp>
        <p:nvSpPr>
          <p:cNvPr id="16" name="Text 13"/>
          <p:cNvSpPr/>
          <p:nvPr/>
        </p:nvSpPr>
        <p:spPr>
          <a:xfrm>
            <a:off x="3886200" y="2103120"/>
            <a:ext cx="2423160" cy="201168"/>
          </a:xfrm>
          <a:prstGeom prst="rect">
            <a:avLst/>
          </a:prstGeom>
          <a:noFill/>
        </p:spPr>
        <p:txBody>
          <a:bodyPr wrap="square" lIns="0" tIns="0" rIns="0" bIns="0" rtlCol="0" anchor="ctr">
            <a:normAutofit/>
          </a:bodyPr>
          <a:lstStyle/>
          <a:p>
            <a:pPr marL="0" indent="0">
              <a:buNone/>
            </a:pPr>
            <a:r>
              <a:rPr lang="en-US" sz="950" dirty="0">
                <a:solidFill>
                  <a:srgbClr val="667085"/>
                </a:solidFill>
              </a:rPr>
              <a:t>Literature review, market or policy brief</a:t>
            </a:r>
            <a:endParaRPr lang="en-US" sz="950" dirty="0"/>
          </a:p>
        </p:txBody>
      </p:sp>
      <p:sp>
        <p:nvSpPr>
          <p:cNvPr id="17" name="Shape 14"/>
          <p:cNvSpPr/>
          <p:nvPr/>
        </p:nvSpPr>
        <p:spPr>
          <a:xfrm>
            <a:off x="658368" y="2679192"/>
            <a:ext cx="2788920" cy="1115568"/>
          </a:xfrm>
          <a:prstGeom prst="roundRect">
            <a:avLst>
              <a:gd name="adj" fmla="val 9836"/>
            </a:avLst>
          </a:prstGeom>
          <a:solidFill>
            <a:srgbClr val="FFFFFF"/>
          </a:solidFill>
          <a:ln w="12700">
            <a:solidFill>
              <a:srgbClr val="DCE5EF"/>
            </a:solidFill>
            <a:prstDash val="solid"/>
          </a:ln>
          <a:effectLst>
            <a:outerShdw blurRad="-2147483648" dist="-2147483648" dir="9" algn="bl" rotWithShape="0">
              <a:srgbClr val="000000">
                <a:alpha val="1"/>
              </a:srgbClr>
            </a:outerShdw>
          </a:effectLst>
        </p:spPr>
      </p:sp>
      <p:sp>
        <p:nvSpPr>
          <p:cNvPr id="18" name="Shape 15"/>
          <p:cNvSpPr/>
          <p:nvPr/>
        </p:nvSpPr>
        <p:spPr>
          <a:xfrm>
            <a:off x="822960" y="2843784"/>
            <a:ext cx="1115568" cy="310896"/>
          </a:xfrm>
          <a:prstGeom prst="roundRect">
            <a:avLst>
              <a:gd name="adj" fmla="val 44118"/>
            </a:avLst>
          </a:prstGeom>
          <a:solidFill>
            <a:srgbClr val="16B8D4"/>
          </a:solidFill>
          <a:ln w="12700">
            <a:solidFill>
              <a:srgbClr val="16B8D4"/>
            </a:solidFill>
            <a:prstDash val="solid"/>
          </a:ln>
        </p:spPr>
      </p:sp>
      <p:sp>
        <p:nvSpPr>
          <p:cNvPr id="19" name="Text 16"/>
          <p:cNvSpPr/>
          <p:nvPr/>
        </p:nvSpPr>
        <p:spPr>
          <a:xfrm>
            <a:off x="896112" y="2912364"/>
            <a:ext cx="969264" cy="164592"/>
          </a:xfrm>
          <a:prstGeom prst="rect">
            <a:avLst/>
          </a:prstGeom>
          <a:noFill/>
        </p:spPr>
        <p:txBody>
          <a:bodyPr wrap="square" lIns="0" tIns="0" rIns="0" bIns="0" rtlCol="0" anchor="ctr"/>
          <a:lstStyle/>
          <a:p>
            <a:pPr marL="0" indent="0" algn="ctr">
              <a:buNone/>
            </a:pPr>
            <a:r>
              <a:rPr lang="en-US" sz="900" b="1" dirty="0">
                <a:solidFill>
                  <a:srgbClr val="FFFFFF"/>
                </a:solidFill>
              </a:rPr>
              <a:t>FILES + DATA</a:t>
            </a:r>
            <a:endParaRPr lang="en-US" sz="900" dirty="0"/>
          </a:p>
        </p:txBody>
      </p:sp>
      <p:sp>
        <p:nvSpPr>
          <p:cNvPr id="20" name="Text 17"/>
          <p:cNvSpPr/>
          <p:nvPr/>
        </p:nvSpPr>
        <p:spPr>
          <a:xfrm>
            <a:off x="822960" y="3264408"/>
            <a:ext cx="2423160" cy="228600"/>
          </a:xfrm>
          <a:prstGeom prst="rect">
            <a:avLst/>
          </a:prstGeom>
          <a:noFill/>
        </p:spPr>
        <p:txBody>
          <a:bodyPr wrap="square" lIns="0" tIns="0" rIns="0" bIns="0" rtlCol="0" anchor="ctr"/>
          <a:lstStyle/>
          <a:p>
            <a:pPr marL="0" indent="0">
              <a:buNone/>
            </a:pPr>
            <a:r>
              <a:rPr lang="en-US" sz="1350" b="1" dirty="0">
                <a:solidFill>
                  <a:srgbClr val="0B1F3A"/>
                </a:solidFill>
              </a:rPr>
              <a:t>Analyze evidence</a:t>
            </a:r>
            <a:endParaRPr lang="en-US" sz="1350" dirty="0"/>
          </a:p>
        </p:txBody>
      </p:sp>
      <p:sp>
        <p:nvSpPr>
          <p:cNvPr id="21" name="Text 18"/>
          <p:cNvSpPr/>
          <p:nvPr/>
        </p:nvSpPr>
        <p:spPr>
          <a:xfrm>
            <a:off x="822960" y="3520440"/>
            <a:ext cx="2423160" cy="201168"/>
          </a:xfrm>
          <a:prstGeom prst="rect">
            <a:avLst/>
          </a:prstGeom>
          <a:noFill/>
        </p:spPr>
        <p:txBody>
          <a:bodyPr wrap="square" lIns="0" tIns="0" rIns="0" bIns="0" rtlCol="0" anchor="ctr">
            <a:normAutofit/>
          </a:bodyPr>
          <a:lstStyle/>
          <a:p>
            <a:pPr marL="0" indent="0">
              <a:buNone/>
            </a:pPr>
            <a:r>
              <a:rPr lang="en-US" sz="950" dirty="0">
                <a:solidFill>
                  <a:srgbClr val="667085"/>
                </a:solidFill>
              </a:rPr>
              <a:t>PDFs, spreadsheets, charts, code-backed analysis</a:t>
            </a:r>
            <a:endParaRPr lang="en-US" sz="950" dirty="0"/>
          </a:p>
        </p:txBody>
      </p:sp>
      <p:sp>
        <p:nvSpPr>
          <p:cNvPr id="22" name="Shape 19"/>
          <p:cNvSpPr/>
          <p:nvPr/>
        </p:nvSpPr>
        <p:spPr>
          <a:xfrm>
            <a:off x="3721608" y="2679192"/>
            <a:ext cx="2788920" cy="1115568"/>
          </a:xfrm>
          <a:prstGeom prst="roundRect">
            <a:avLst>
              <a:gd name="adj" fmla="val 9836"/>
            </a:avLst>
          </a:prstGeom>
          <a:solidFill>
            <a:srgbClr val="FFFFFF"/>
          </a:solidFill>
          <a:ln w="12700">
            <a:solidFill>
              <a:srgbClr val="DCE5EF"/>
            </a:solidFill>
            <a:prstDash val="solid"/>
          </a:ln>
          <a:effectLst>
            <a:outerShdw blurRad="-2147483648" dist="-2147483648" dir="5" algn="bl" rotWithShape="0">
              <a:srgbClr val="000000">
                <a:alpha val="1"/>
              </a:srgbClr>
            </a:outerShdw>
          </a:effectLst>
        </p:spPr>
      </p:sp>
      <p:sp>
        <p:nvSpPr>
          <p:cNvPr id="23" name="Shape 20"/>
          <p:cNvSpPr/>
          <p:nvPr/>
        </p:nvSpPr>
        <p:spPr>
          <a:xfrm>
            <a:off x="3886200" y="2843784"/>
            <a:ext cx="1115568" cy="310896"/>
          </a:xfrm>
          <a:prstGeom prst="roundRect">
            <a:avLst>
              <a:gd name="adj" fmla="val 44118"/>
            </a:avLst>
          </a:prstGeom>
          <a:solidFill>
            <a:srgbClr val="DC2626"/>
          </a:solidFill>
          <a:ln w="12700">
            <a:solidFill>
              <a:srgbClr val="DC2626"/>
            </a:solidFill>
            <a:prstDash val="solid"/>
          </a:ln>
        </p:spPr>
      </p:sp>
      <p:sp>
        <p:nvSpPr>
          <p:cNvPr id="24" name="Text 21"/>
          <p:cNvSpPr/>
          <p:nvPr/>
        </p:nvSpPr>
        <p:spPr>
          <a:xfrm>
            <a:off x="3959352" y="2912364"/>
            <a:ext cx="969264" cy="164592"/>
          </a:xfrm>
          <a:prstGeom prst="rect">
            <a:avLst/>
          </a:prstGeom>
          <a:noFill/>
        </p:spPr>
        <p:txBody>
          <a:bodyPr wrap="square" lIns="0" tIns="0" rIns="0" bIns="0" rtlCol="0" anchor="ctr"/>
          <a:lstStyle/>
          <a:p>
            <a:pPr marL="0" indent="0" algn="ctr">
              <a:buNone/>
            </a:pPr>
            <a:r>
              <a:rPr lang="en-US" sz="900" b="1" dirty="0">
                <a:solidFill>
                  <a:srgbClr val="FFFFFF"/>
                </a:solidFill>
              </a:rPr>
              <a:t>IMAGES</a:t>
            </a:r>
            <a:endParaRPr lang="en-US" sz="900" dirty="0"/>
          </a:p>
        </p:txBody>
      </p:sp>
      <p:sp>
        <p:nvSpPr>
          <p:cNvPr id="25" name="Text 22"/>
          <p:cNvSpPr/>
          <p:nvPr/>
        </p:nvSpPr>
        <p:spPr>
          <a:xfrm>
            <a:off x="3886200" y="3264408"/>
            <a:ext cx="2423160" cy="228600"/>
          </a:xfrm>
          <a:prstGeom prst="rect">
            <a:avLst/>
          </a:prstGeom>
          <a:noFill/>
        </p:spPr>
        <p:txBody>
          <a:bodyPr wrap="square" lIns="0" tIns="0" rIns="0" bIns="0" rtlCol="0" anchor="ctr"/>
          <a:lstStyle/>
          <a:p>
            <a:pPr marL="0" indent="0">
              <a:buNone/>
            </a:pPr>
            <a:r>
              <a:rPr lang="en-US" sz="1350" b="1" dirty="0">
                <a:solidFill>
                  <a:srgbClr val="0B1F3A"/>
                </a:solidFill>
              </a:rPr>
              <a:t>Visual creation</a:t>
            </a:r>
            <a:endParaRPr lang="en-US" sz="1350" dirty="0"/>
          </a:p>
        </p:txBody>
      </p:sp>
      <p:sp>
        <p:nvSpPr>
          <p:cNvPr id="26" name="Text 23"/>
          <p:cNvSpPr/>
          <p:nvPr/>
        </p:nvSpPr>
        <p:spPr>
          <a:xfrm>
            <a:off x="3886200" y="3520440"/>
            <a:ext cx="2423160" cy="201168"/>
          </a:xfrm>
          <a:prstGeom prst="rect">
            <a:avLst/>
          </a:prstGeom>
          <a:noFill/>
        </p:spPr>
        <p:txBody>
          <a:bodyPr wrap="square" lIns="0" tIns="0" rIns="0" bIns="0" rtlCol="0" anchor="ctr">
            <a:normAutofit/>
          </a:bodyPr>
          <a:lstStyle/>
          <a:p>
            <a:pPr marL="0" indent="0">
              <a:buNone/>
            </a:pPr>
            <a:r>
              <a:rPr lang="en-US" sz="950" dirty="0">
                <a:solidFill>
                  <a:srgbClr val="667085"/>
                </a:solidFill>
              </a:rPr>
              <a:t>Diagrams, infographics, editing and interpretation</a:t>
            </a:r>
            <a:endParaRPr lang="en-US" sz="950" dirty="0"/>
          </a:p>
        </p:txBody>
      </p:sp>
      <p:sp>
        <p:nvSpPr>
          <p:cNvPr id="27" name="Shape 24"/>
          <p:cNvSpPr/>
          <p:nvPr/>
        </p:nvSpPr>
        <p:spPr>
          <a:xfrm>
            <a:off x="658368" y="4096512"/>
            <a:ext cx="2788920" cy="1115568"/>
          </a:xfrm>
          <a:prstGeom prst="roundRect">
            <a:avLst>
              <a:gd name="adj" fmla="val 9836"/>
            </a:avLst>
          </a:prstGeom>
          <a:solidFill>
            <a:srgbClr val="FFFFFF"/>
          </a:solidFill>
          <a:ln w="12700">
            <a:solidFill>
              <a:srgbClr val="DCE5EF"/>
            </a:solidFill>
            <a:prstDash val="solid"/>
          </a:ln>
          <a:effectLst>
            <a:outerShdw blurRad="-2147483648" dist="-2147483648" dir="3" algn="bl" rotWithShape="0">
              <a:srgbClr val="000000">
                <a:alpha val="1"/>
              </a:srgbClr>
            </a:outerShdw>
          </a:effectLst>
        </p:spPr>
      </p:sp>
      <p:sp>
        <p:nvSpPr>
          <p:cNvPr id="28" name="Shape 25"/>
          <p:cNvSpPr/>
          <p:nvPr/>
        </p:nvSpPr>
        <p:spPr>
          <a:xfrm>
            <a:off x="822960" y="4261104"/>
            <a:ext cx="1115568" cy="310896"/>
          </a:xfrm>
          <a:prstGeom prst="roundRect">
            <a:avLst>
              <a:gd name="adj" fmla="val 44118"/>
            </a:avLst>
          </a:prstGeom>
          <a:solidFill>
            <a:srgbClr val="7C3AED"/>
          </a:solidFill>
          <a:ln w="12700">
            <a:solidFill>
              <a:srgbClr val="7C3AED"/>
            </a:solidFill>
            <a:prstDash val="solid"/>
          </a:ln>
        </p:spPr>
      </p:sp>
      <p:sp>
        <p:nvSpPr>
          <p:cNvPr id="29" name="Text 26"/>
          <p:cNvSpPr/>
          <p:nvPr/>
        </p:nvSpPr>
        <p:spPr>
          <a:xfrm>
            <a:off x="896112" y="4329684"/>
            <a:ext cx="969264" cy="164592"/>
          </a:xfrm>
          <a:prstGeom prst="rect">
            <a:avLst/>
          </a:prstGeom>
          <a:noFill/>
        </p:spPr>
        <p:txBody>
          <a:bodyPr wrap="square" lIns="0" tIns="0" rIns="0" bIns="0" rtlCol="0" anchor="ctr"/>
          <a:lstStyle/>
          <a:p>
            <a:pPr marL="0" indent="0" algn="ctr">
              <a:buNone/>
            </a:pPr>
            <a:r>
              <a:rPr lang="en-US" sz="900" b="1" dirty="0">
                <a:solidFill>
                  <a:srgbClr val="FFFFFF"/>
                </a:solidFill>
              </a:rPr>
              <a:t>VOICE</a:t>
            </a:r>
            <a:endParaRPr lang="en-US" sz="900" dirty="0"/>
          </a:p>
        </p:txBody>
      </p:sp>
      <p:sp>
        <p:nvSpPr>
          <p:cNvPr id="30" name="Text 27"/>
          <p:cNvSpPr/>
          <p:nvPr/>
        </p:nvSpPr>
        <p:spPr>
          <a:xfrm>
            <a:off x="822960" y="4681728"/>
            <a:ext cx="2423160" cy="228600"/>
          </a:xfrm>
          <a:prstGeom prst="rect">
            <a:avLst/>
          </a:prstGeom>
          <a:noFill/>
        </p:spPr>
        <p:txBody>
          <a:bodyPr wrap="square" lIns="0" tIns="0" rIns="0" bIns="0" rtlCol="0" anchor="ctr"/>
          <a:lstStyle/>
          <a:p>
            <a:pPr marL="0" indent="0">
              <a:buNone/>
            </a:pPr>
            <a:r>
              <a:rPr lang="en-US" sz="1350" b="1" dirty="0">
                <a:solidFill>
                  <a:srgbClr val="0B1F3A"/>
                </a:solidFill>
              </a:rPr>
              <a:t>Natural conversation</a:t>
            </a:r>
            <a:endParaRPr lang="en-US" sz="1350" dirty="0"/>
          </a:p>
        </p:txBody>
      </p:sp>
      <p:sp>
        <p:nvSpPr>
          <p:cNvPr id="31" name="Text 28"/>
          <p:cNvSpPr/>
          <p:nvPr/>
        </p:nvSpPr>
        <p:spPr>
          <a:xfrm>
            <a:off x="822960" y="4937760"/>
            <a:ext cx="2423160" cy="201168"/>
          </a:xfrm>
          <a:prstGeom prst="rect">
            <a:avLst/>
          </a:prstGeom>
          <a:noFill/>
        </p:spPr>
        <p:txBody>
          <a:bodyPr wrap="square" lIns="0" tIns="0" rIns="0" bIns="0" rtlCol="0" anchor="ctr">
            <a:normAutofit/>
          </a:bodyPr>
          <a:lstStyle/>
          <a:p>
            <a:pPr marL="0" indent="0">
              <a:buNone/>
            </a:pPr>
            <a:r>
              <a:rPr lang="en-US" sz="950" dirty="0">
                <a:solidFill>
                  <a:srgbClr val="667085"/>
                </a:solidFill>
              </a:rPr>
              <a:t>Practice, brainstorming, oral explanation</a:t>
            </a:r>
            <a:endParaRPr lang="en-US" sz="950" dirty="0"/>
          </a:p>
        </p:txBody>
      </p:sp>
      <p:sp>
        <p:nvSpPr>
          <p:cNvPr id="32" name="Shape 29"/>
          <p:cNvSpPr/>
          <p:nvPr/>
        </p:nvSpPr>
        <p:spPr>
          <a:xfrm>
            <a:off x="3721608" y="4096512"/>
            <a:ext cx="2788920" cy="1115568"/>
          </a:xfrm>
          <a:prstGeom prst="roundRect">
            <a:avLst>
              <a:gd name="adj" fmla="val 9836"/>
            </a:avLst>
          </a:prstGeom>
          <a:solidFill>
            <a:srgbClr val="FFFFFF"/>
          </a:solidFill>
          <a:ln w="12700">
            <a:solidFill>
              <a:srgbClr val="DCE5EF"/>
            </a:solidFill>
            <a:prstDash val="solid"/>
          </a:ln>
          <a:effectLst>
            <a:outerShdw blurRad="-2147483648" dist="-2147483648" dir="2" algn="bl" rotWithShape="0">
              <a:srgbClr val="000000">
                <a:alpha val="1"/>
              </a:srgbClr>
            </a:outerShdw>
          </a:effectLst>
        </p:spPr>
      </p:sp>
      <p:sp>
        <p:nvSpPr>
          <p:cNvPr id="33" name="Shape 30"/>
          <p:cNvSpPr/>
          <p:nvPr/>
        </p:nvSpPr>
        <p:spPr>
          <a:xfrm>
            <a:off x="3886200" y="4261104"/>
            <a:ext cx="1115568" cy="310896"/>
          </a:xfrm>
          <a:prstGeom prst="roundRect">
            <a:avLst>
              <a:gd name="adj" fmla="val 44118"/>
            </a:avLst>
          </a:prstGeom>
          <a:solidFill>
            <a:srgbClr val="16A34A"/>
          </a:solidFill>
          <a:ln w="12700">
            <a:solidFill>
              <a:srgbClr val="16A34A"/>
            </a:solidFill>
            <a:prstDash val="solid"/>
          </a:ln>
        </p:spPr>
      </p:sp>
      <p:sp>
        <p:nvSpPr>
          <p:cNvPr id="34" name="Text 31"/>
          <p:cNvSpPr/>
          <p:nvPr/>
        </p:nvSpPr>
        <p:spPr>
          <a:xfrm>
            <a:off x="3959352" y="4329684"/>
            <a:ext cx="969264" cy="164592"/>
          </a:xfrm>
          <a:prstGeom prst="rect">
            <a:avLst/>
          </a:prstGeom>
          <a:noFill/>
        </p:spPr>
        <p:txBody>
          <a:bodyPr wrap="square" lIns="0" tIns="0" rIns="0" bIns="0" rtlCol="0" anchor="ctr"/>
          <a:lstStyle/>
          <a:p>
            <a:pPr marL="0" indent="0" algn="ctr">
              <a:buNone/>
            </a:pPr>
            <a:r>
              <a:rPr lang="en-US" sz="900" b="1" dirty="0">
                <a:solidFill>
                  <a:srgbClr val="FFFFFF"/>
                </a:solidFill>
              </a:rPr>
              <a:t>APPS / AGENT</a:t>
            </a:r>
            <a:endParaRPr lang="en-US" sz="900" dirty="0"/>
          </a:p>
        </p:txBody>
      </p:sp>
      <p:sp>
        <p:nvSpPr>
          <p:cNvPr id="35" name="Text 32"/>
          <p:cNvSpPr/>
          <p:nvPr/>
        </p:nvSpPr>
        <p:spPr>
          <a:xfrm>
            <a:off x="3886200" y="4681728"/>
            <a:ext cx="2423160" cy="228600"/>
          </a:xfrm>
          <a:prstGeom prst="rect">
            <a:avLst/>
          </a:prstGeom>
          <a:noFill/>
        </p:spPr>
        <p:txBody>
          <a:bodyPr wrap="square" lIns="0" tIns="0" rIns="0" bIns="0" rtlCol="0" anchor="ctr"/>
          <a:lstStyle/>
          <a:p>
            <a:pPr marL="0" indent="0">
              <a:buNone/>
            </a:pPr>
            <a:r>
              <a:rPr lang="en-US" sz="1350" b="1" dirty="0">
                <a:solidFill>
                  <a:srgbClr val="0B1F3A"/>
                </a:solidFill>
              </a:rPr>
              <a:t>Connect and act</a:t>
            </a:r>
            <a:endParaRPr lang="en-US" sz="1350" dirty="0"/>
          </a:p>
        </p:txBody>
      </p:sp>
      <p:sp>
        <p:nvSpPr>
          <p:cNvPr id="36" name="Text 33"/>
          <p:cNvSpPr/>
          <p:nvPr/>
        </p:nvSpPr>
        <p:spPr>
          <a:xfrm>
            <a:off x="3886200" y="4937760"/>
            <a:ext cx="2423160" cy="201168"/>
          </a:xfrm>
          <a:prstGeom prst="rect">
            <a:avLst/>
          </a:prstGeom>
          <a:noFill/>
        </p:spPr>
        <p:txBody>
          <a:bodyPr wrap="square" lIns="0" tIns="0" rIns="0" bIns="0" rtlCol="0" anchor="ctr">
            <a:normAutofit/>
          </a:bodyPr>
          <a:lstStyle/>
          <a:p>
            <a:pPr marL="0" indent="0">
              <a:buNone/>
            </a:pPr>
            <a:r>
              <a:rPr lang="en-US" sz="950" dirty="0">
                <a:solidFill>
                  <a:srgbClr val="667085"/>
                </a:solidFill>
              </a:rPr>
              <a:t>Use external data, complete approved multi-step work</a:t>
            </a:r>
            <a:endParaRPr lang="en-US" sz="950" dirty="0"/>
          </a:p>
        </p:txBody>
      </p:sp>
      <p:sp>
        <p:nvSpPr>
          <p:cNvPr id="37" name="Shape 34"/>
          <p:cNvSpPr/>
          <p:nvPr/>
        </p:nvSpPr>
        <p:spPr>
          <a:xfrm>
            <a:off x="6903720" y="4023360"/>
            <a:ext cx="4617720" cy="1463040"/>
          </a:xfrm>
          <a:prstGeom prst="roundRect">
            <a:avLst>
              <a:gd name="adj" fmla="val 7500"/>
            </a:avLst>
          </a:prstGeom>
          <a:solidFill>
            <a:srgbClr val="EAF3FF"/>
          </a:solidFill>
          <a:ln w="12700">
            <a:solidFill>
              <a:srgbClr val="B7D6FF"/>
            </a:solidFill>
            <a:prstDash val="solid"/>
          </a:ln>
        </p:spPr>
      </p:sp>
      <p:sp>
        <p:nvSpPr>
          <p:cNvPr id="38" name="Text 35"/>
          <p:cNvSpPr/>
          <p:nvPr/>
        </p:nvSpPr>
        <p:spPr>
          <a:xfrm>
            <a:off x="7150608" y="4279392"/>
            <a:ext cx="1417320" cy="274320"/>
          </a:xfrm>
          <a:prstGeom prst="rect">
            <a:avLst/>
          </a:prstGeom>
          <a:noFill/>
        </p:spPr>
        <p:txBody>
          <a:bodyPr wrap="square" lIns="0" tIns="0" rIns="0" bIns="0" rtlCol="0" anchor="ctr"/>
          <a:lstStyle/>
          <a:p>
            <a:pPr marL="0" indent="0">
              <a:buNone/>
            </a:pPr>
            <a:r>
              <a:rPr lang="en-US" sz="1400" b="1" dirty="0">
                <a:solidFill>
                  <a:srgbClr val="1677FF"/>
                </a:solidFill>
              </a:rPr>
              <a:t>Selection rule</a:t>
            </a:r>
            <a:endParaRPr lang="en-US" sz="1400" dirty="0"/>
          </a:p>
        </p:txBody>
      </p:sp>
      <p:sp>
        <p:nvSpPr>
          <p:cNvPr id="39" name="Text 36"/>
          <p:cNvSpPr/>
          <p:nvPr/>
        </p:nvSpPr>
        <p:spPr>
          <a:xfrm>
            <a:off x="7150608" y="4645152"/>
            <a:ext cx="4069080" cy="548640"/>
          </a:xfrm>
          <a:prstGeom prst="rect">
            <a:avLst/>
          </a:prstGeom>
          <a:noFill/>
        </p:spPr>
        <p:txBody>
          <a:bodyPr wrap="square" lIns="0" tIns="0" rIns="0" bIns="0" rtlCol="0" anchor="ctr">
            <a:normAutofit/>
          </a:bodyPr>
          <a:lstStyle/>
          <a:p>
            <a:pPr marL="0" indent="0">
              <a:buNone/>
            </a:pPr>
            <a:r>
              <a:rPr lang="en-US" sz="1500" b="1" dirty="0">
                <a:solidFill>
                  <a:srgbClr val="0B1F3A"/>
                </a:solidFill>
              </a:rPr>
              <a:t>Do I need current facts, a cited report, uploaded evidence, a visual, a conversation, or an action?</a:t>
            </a:r>
            <a:endParaRPr lang="en-US" sz="1500" dirty="0"/>
          </a:p>
        </p:txBody>
      </p:sp>
      <p:sp>
        <p:nvSpPr>
          <p:cNvPr id="40" name="Text 37"/>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Help — ChatGPT Capabilities Overview, Apps in ChatGPT, and ChatGPT agent.</a:t>
            </a:r>
            <a:endParaRPr lang="en-US" sz="750" dirty="0"/>
          </a:p>
        </p:txBody>
      </p:sp>
      <p:sp>
        <p:nvSpPr>
          <p:cNvPr id="41"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Feature 1: Web Search</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Best for recent, changing, or source-sensitive information.</a:t>
            </a:r>
            <a:endParaRPr lang="en-US" sz="1150" dirty="0"/>
          </a:p>
        </p:txBody>
      </p:sp>
      <p:sp>
        <p:nvSpPr>
          <p:cNvPr id="4" name="Shape 2"/>
          <p:cNvSpPr/>
          <p:nvPr/>
        </p:nvSpPr>
        <p:spPr>
          <a:xfrm>
            <a:off x="603504" y="1243584"/>
            <a:ext cx="4910328" cy="2359152"/>
          </a:xfrm>
          <a:prstGeom prst="roundRect">
            <a:avLst>
              <a:gd name="adj" fmla="val 4651"/>
            </a:avLst>
          </a:prstGeom>
          <a:solidFill>
            <a:srgbClr val="FFFFFF"/>
          </a:solidFill>
          <a:ln w="12700">
            <a:solidFill>
              <a:srgbClr val="DDE4EC"/>
            </a:solidFill>
            <a:prstDash val="solid"/>
          </a:ln>
          <a:effectLst>
            <a:outerShdw blurRad="-2147483648" dist="-2147483648" dir="1" algn="bl" rotWithShape="0">
              <a:srgbClr val="000000">
                <a:alpha val="1"/>
              </a:srgbClr>
            </a:outerShdw>
          </a:effectLst>
        </p:spPr>
      </p:sp>
      <p:pic>
        <p:nvPicPr>
          <p:cNvPr id="5" name="Image 0" descr="/mnt/data/WhatsApp Image 2026-07-17 at 12.03.08 AM.jpeg"/>
          <p:cNvPicPr>
            <a:picLocks noChangeAspect="1"/>
          </p:cNvPicPr>
          <p:nvPr/>
        </p:nvPicPr>
        <p:blipFill>
          <a:blip r:embed="rId1"/>
          <a:stretch>
            <a:fillRect/>
          </a:stretch>
        </p:blipFill>
        <p:spPr>
          <a:xfrm>
            <a:off x="658368" y="1319421"/>
            <a:ext cx="4800600" cy="2207478"/>
          </a:xfrm>
          <a:prstGeom prst="rect">
            <a:avLst/>
          </a:prstGeom>
        </p:spPr>
      </p:pic>
      <p:sp>
        <p:nvSpPr>
          <p:cNvPr id="6" name="Shape 3"/>
          <p:cNvSpPr/>
          <p:nvPr/>
        </p:nvSpPr>
        <p:spPr>
          <a:xfrm>
            <a:off x="658368" y="3913632"/>
            <a:ext cx="4800600" cy="1572768"/>
          </a:xfrm>
          <a:prstGeom prst="roundRect">
            <a:avLst>
              <a:gd name="adj" fmla="val 6977"/>
            </a:avLst>
          </a:prstGeom>
          <a:solidFill>
            <a:srgbClr val="EAF3FF"/>
          </a:solidFill>
          <a:ln w="12700">
            <a:solidFill>
              <a:srgbClr val="B7D6FF"/>
            </a:solidFill>
            <a:prstDash val="solid"/>
          </a:ln>
          <a:effectLst>
            <a:outerShdw blurRad="-2147483648" dist="-2147483648" dir="7" algn="bl" rotWithShape="0">
              <a:srgbClr val="000000">
                <a:alpha val="1"/>
              </a:srgbClr>
            </a:outerShdw>
          </a:effectLst>
        </p:spPr>
      </p:sp>
      <p:sp>
        <p:nvSpPr>
          <p:cNvPr id="7" name="Text 4"/>
          <p:cNvSpPr/>
          <p:nvPr/>
        </p:nvSpPr>
        <p:spPr>
          <a:xfrm>
            <a:off x="896112" y="4160520"/>
            <a:ext cx="1463040" cy="219456"/>
          </a:xfrm>
          <a:prstGeom prst="rect">
            <a:avLst/>
          </a:prstGeom>
          <a:noFill/>
        </p:spPr>
        <p:txBody>
          <a:bodyPr wrap="square" lIns="0" tIns="0" rIns="0" bIns="0" rtlCol="0" anchor="ctr"/>
          <a:lstStyle/>
          <a:p>
            <a:pPr marL="0" indent="0">
              <a:buNone/>
            </a:pPr>
            <a:r>
              <a:rPr lang="en-US" sz="1200" b="1" dirty="0">
                <a:solidFill>
                  <a:srgbClr val="1677FF"/>
                </a:solidFill>
              </a:rPr>
              <a:t>Example prompt</a:t>
            </a:r>
            <a:endParaRPr lang="en-US" sz="1200" dirty="0"/>
          </a:p>
        </p:txBody>
      </p:sp>
      <p:sp>
        <p:nvSpPr>
          <p:cNvPr id="8" name="Text 5"/>
          <p:cNvSpPr/>
          <p:nvPr/>
        </p:nvSpPr>
        <p:spPr>
          <a:xfrm>
            <a:off x="896112" y="4498848"/>
            <a:ext cx="4297680" cy="713232"/>
          </a:xfrm>
          <a:prstGeom prst="rect">
            <a:avLst/>
          </a:prstGeom>
          <a:noFill/>
        </p:spPr>
        <p:txBody>
          <a:bodyPr wrap="square" lIns="0" tIns="0" rIns="0" bIns="0" rtlCol="0" anchor="ctr">
            <a:normAutofit/>
          </a:bodyPr>
          <a:lstStyle/>
          <a:p>
            <a:pPr marL="0" indent="0">
              <a:buNone/>
            </a:pPr>
            <a:r>
              <a:rPr lang="en-US" sz="1300" b="1" dirty="0">
                <a:solidFill>
                  <a:srgbClr val="0B1F3A"/>
                </a:solidFill>
              </a:rPr>
              <a:t>“Search the web for the latest applications of graph neural networks in cryptography. Give five credible sources and explain why each is relevant.”</a:t>
            </a:r>
            <a:endParaRPr lang="en-US" sz="1300" dirty="0"/>
          </a:p>
        </p:txBody>
      </p:sp>
      <p:sp>
        <p:nvSpPr>
          <p:cNvPr id="9" name="Text 6"/>
          <p:cNvSpPr/>
          <p:nvPr/>
        </p:nvSpPr>
        <p:spPr>
          <a:xfrm>
            <a:off x="5897880" y="1344168"/>
            <a:ext cx="2011680" cy="182880"/>
          </a:xfrm>
          <a:prstGeom prst="rect">
            <a:avLst/>
          </a:prstGeom>
          <a:noFill/>
        </p:spPr>
        <p:txBody>
          <a:bodyPr wrap="square" lIns="0" tIns="0" rIns="0" bIns="0" rtlCol="0" anchor="ctr"/>
          <a:lstStyle/>
          <a:p>
            <a:pPr marL="0" indent="0">
              <a:buNone/>
            </a:pPr>
            <a:r>
              <a:rPr lang="en-US" sz="850" b="1" kern="0" spc="120" dirty="0">
                <a:solidFill>
                  <a:srgbClr val="1677FF"/>
                </a:solidFill>
              </a:rPr>
              <a:t>USE SEARCH WHEN</a:t>
            </a:r>
            <a:endParaRPr lang="en-US" sz="850" dirty="0"/>
          </a:p>
        </p:txBody>
      </p:sp>
      <p:sp>
        <p:nvSpPr>
          <p:cNvPr id="10" name="Text 7"/>
          <p:cNvSpPr/>
          <p:nvPr/>
        </p:nvSpPr>
        <p:spPr>
          <a:xfrm>
            <a:off x="5897880" y="1645920"/>
            <a:ext cx="5212080" cy="2148840"/>
          </a:xfrm>
          <a:prstGeom prst="rect">
            <a:avLst/>
          </a:prstGeom>
          <a:noFill/>
        </p:spPr>
        <p:txBody>
          <a:bodyPr wrap="square" lIns="508" tIns="508" rIns="508" bIns="508" rtlCol="0" anchor="ctr">
            <a:normAutofit/>
          </a:bodyPr>
          <a:lstStyle/>
          <a:p>
            <a:pPr marL="171450" indent="-171450">
              <a:buSzPct val="100000"/>
              <a:buChar char="•"/>
            </a:pPr>
            <a:r>
              <a:rPr lang="en-US" sz="1500" dirty="0">
                <a:solidFill>
                  <a:srgbClr val="273449"/>
                </a:solidFill>
              </a:rPr>
              <a:t>The fact may have changed recently</a:t>
            </a:r>
            <a:endParaRPr lang="en-US" sz="1500" dirty="0"/>
          </a:p>
          <a:p>
            <a:pPr marL="171450" indent="-171450">
              <a:buSzPct val="100000"/>
              <a:buChar char="•"/>
            </a:pPr>
            <a:r>
              <a:rPr lang="en-US" sz="1500" dirty="0">
                <a:solidFill>
                  <a:srgbClr val="273449"/>
                </a:solidFill>
              </a:rPr>
              <a:t>You need direct sources or links</a:t>
            </a:r>
            <a:endParaRPr lang="en-US" sz="1500" dirty="0"/>
          </a:p>
          <a:p>
            <a:pPr marL="171450" indent="-171450">
              <a:buSzPct val="100000"/>
              <a:buChar char="•"/>
            </a:pPr>
            <a:r>
              <a:rPr lang="en-US" sz="1500" dirty="0">
                <a:solidFill>
                  <a:srgbClr val="273449"/>
                </a:solidFill>
              </a:rPr>
              <a:t>You are comparing products, policies, events, or current research</a:t>
            </a:r>
            <a:endParaRPr lang="en-US" sz="1500" dirty="0"/>
          </a:p>
          <a:p>
            <a:pPr marL="171450" indent="-171450">
              <a:buSzPct val="100000"/>
              <a:buChar char="•"/>
            </a:pPr>
            <a:r>
              <a:rPr lang="en-US" sz="1500" dirty="0">
                <a:solidFill>
                  <a:srgbClr val="273449"/>
                </a:solidFill>
              </a:rPr>
              <a:t>You want a quick overview—not a full research report</a:t>
            </a:r>
            <a:endParaRPr lang="en-US" sz="1500" dirty="0"/>
          </a:p>
        </p:txBody>
      </p:sp>
      <p:sp>
        <p:nvSpPr>
          <p:cNvPr id="11" name="Text 8"/>
          <p:cNvSpPr/>
          <p:nvPr/>
        </p:nvSpPr>
        <p:spPr>
          <a:xfrm>
            <a:off x="5897880" y="4160520"/>
            <a:ext cx="2011680" cy="182880"/>
          </a:xfrm>
          <a:prstGeom prst="rect">
            <a:avLst/>
          </a:prstGeom>
          <a:noFill/>
        </p:spPr>
        <p:txBody>
          <a:bodyPr wrap="square" lIns="0" tIns="0" rIns="0" bIns="0" rtlCol="0" anchor="ctr"/>
          <a:lstStyle/>
          <a:p>
            <a:pPr marL="0" indent="0">
              <a:buNone/>
            </a:pPr>
            <a:r>
              <a:rPr lang="en-US" sz="850" b="1" kern="0" spc="120" dirty="0">
                <a:solidFill>
                  <a:srgbClr val="F59E0B"/>
                </a:solidFill>
              </a:rPr>
              <a:t>CHECK BEFORE USING</a:t>
            </a:r>
            <a:endParaRPr lang="en-US" sz="850" dirty="0"/>
          </a:p>
        </p:txBody>
      </p:sp>
      <p:sp>
        <p:nvSpPr>
          <p:cNvPr id="12" name="Text 9"/>
          <p:cNvSpPr/>
          <p:nvPr/>
        </p:nvSpPr>
        <p:spPr>
          <a:xfrm>
            <a:off x="5897880" y="4434840"/>
            <a:ext cx="4937760" cy="960120"/>
          </a:xfrm>
          <a:prstGeom prst="rect">
            <a:avLst/>
          </a:prstGeom>
          <a:noFill/>
        </p:spPr>
        <p:txBody>
          <a:bodyPr wrap="square" lIns="508" tIns="508" rIns="508" bIns="508" rtlCol="0" anchor="ctr">
            <a:normAutofit/>
          </a:bodyPr>
          <a:lstStyle/>
          <a:p>
            <a:pPr marL="160020" indent="-160020">
              <a:buSzPct val="100000"/>
              <a:buChar char="•"/>
            </a:pPr>
            <a:r>
              <a:rPr lang="en-US" sz="1400" dirty="0">
                <a:solidFill>
                  <a:srgbClr val="273449"/>
                </a:solidFill>
              </a:rPr>
              <a:t>Is the source authoritative?</a:t>
            </a:r>
            <a:endParaRPr lang="en-US" sz="1400" dirty="0"/>
          </a:p>
          <a:p>
            <a:pPr marL="160020" indent="-160020">
              <a:buSzPct val="100000"/>
              <a:buChar char="•"/>
            </a:pPr>
            <a:r>
              <a:rPr lang="en-US" sz="1400" dirty="0">
                <a:solidFill>
                  <a:srgbClr val="273449"/>
                </a:solidFill>
              </a:rPr>
              <a:t>Is the date current?</a:t>
            </a:r>
            <a:endParaRPr lang="en-US" sz="1400" dirty="0"/>
          </a:p>
          <a:p>
            <a:pPr marL="160020" indent="-160020">
              <a:buSzPct val="100000"/>
              <a:buChar char="•"/>
            </a:pPr>
            <a:r>
              <a:rPr lang="en-US" sz="1400" dirty="0">
                <a:solidFill>
                  <a:srgbClr val="273449"/>
                </a:solidFill>
              </a:rPr>
              <a:t>Do multiple sources agree?</a:t>
            </a:r>
            <a:endParaRPr lang="en-US" sz="1400" dirty="0"/>
          </a:p>
        </p:txBody>
      </p:sp>
      <p:sp>
        <p:nvSpPr>
          <p:cNvPr id="13" name="Text 10"/>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 Introducing ChatGPT Search (31 Oct 2024; accessed 17 Jul 2026).</a:t>
            </a:r>
            <a:endParaRPr lang="en-US" sz="750" dirty="0"/>
          </a:p>
        </p:txBody>
      </p:sp>
      <p:sp>
        <p:nvSpPr>
          <p:cNvPr id="25"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Feature 2: Deep Research</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For multi-step questions that require planning, synthesis, and a documented report.</a:t>
            </a:r>
            <a:endParaRPr lang="en-US" sz="1150" dirty="0"/>
          </a:p>
        </p:txBody>
      </p:sp>
      <p:sp>
        <p:nvSpPr>
          <p:cNvPr id="4" name="Shape 2"/>
          <p:cNvSpPr/>
          <p:nvPr/>
        </p:nvSpPr>
        <p:spPr>
          <a:xfrm>
            <a:off x="603504" y="1243584"/>
            <a:ext cx="4910328" cy="2340864"/>
          </a:xfrm>
          <a:prstGeom prst="roundRect">
            <a:avLst>
              <a:gd name="adj" fmla="val 4688"/>
            </a:avLst>
          </a:prstGeom>
          <a:solidFill>
            <a:srgbClr val="FFFFFF"/>
          </a:solidFill>
          <a:ln w="12700">
            <a:solidFill>
              <a:srgbClr val="DDE4EC"/>
            </a:solidFill>
            <a:prstDash val="solid"/>
          </a:ln>
          <a:effectLst>
            <a:outerShdw blurRad="-2147483648" dist="-2147483648" dir="4" algn="bl" rotWithShape="0">
              <a:srgbClr val="000000">
                <a:alpha val="1"/>
              </a:srgbClr>
            </a:outerShdw>
          </a:effectLst>
        </p:spPr>
      </p:sp>
      <p:pic>
        <p:nvPicPr>
          <p:cNvPr id="5" name="Image 0" descr="/mnt/data/WhatsApp Image 2026-07-17 at 12.03.58 AM.jpeg"/>
          <p:cNvPicPr>
            <a:picLocks noChangeAspect="1"/>
          </p:cNvPicPr>
          <p:nvPr/>
        </p:nvPicPr>
        <p:blipFill>
          <a:blip r:embed="rId1"/>
          <a:stretch>
            <a:fillRect/>
          </a:stretch>
        </p:blipFill>
        <p:spPr>
          <a:xfrm>
            <a:off x="658368" y="1322279"/>
            <a:ext cx="4800600" cy="2183474"/>
          </a:xfrm>
          <a:prstGeom prst="rect">
            <a:avLst/>
          </a:prstGeom>
        </p:spPr>
      </p:pic>
      <p:sp>
        <p:nvSpPr>
          <p:cNvPr id="6" name="Shape 3"/>
          <p:cNvSpPr/>
          <p:nvPr/>
        </p:nvSpPr>
        <p:spPr>
          <a:xfrm>
            <a:off x="731520" y="4069080"/>
            <a:ext cx="530352" cy="530352"/>
          </a:xfrm>
          <a:prstGeom prst="ellipse">
            <a:avLst/>
          </a:prstGeom>
          <a:solidFill>
            <a:srgbClr val="F59E0B"/>
          </a:solidFill>
          <a:ln w="12700">
            <a:solidFill>
              <a:srgbClr val="F59E0B"/>
            </a:solidFill>
            <a:prstDash val="solid"/>
          </a:ln>
        </p:spPr>
      </p:sp>
      <p:sp>
        <p:nvSpPr>
          <p:cNvPr id="7" name="Text 4"/>
          <p:cNvSpPr/>
          <p:nvPr/>
        </p:nvSpPr>
        <p:spPr>
          <a:xfrm>
            <a:off x="731520" y="4169664"/>
            <a:ext cx="530352" cy="182880"/>
          </a:xfrm>
          <a:prstGeom prst="rect">
            <a:avLst/>
          </a:prstGeom>
          <a:noFill/>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8" name="Text 5"/>
          <p:cNvSpPr/>
          <p:nvPr/>
        </p:nvSpPr>
        <p:spPr>
          <a:xfrm>
            <a:off x="420624" y="4681728"/>
            <a:ext cx="1143000" cy="457200"/>
          </a:xfrm>
          <a:prstGeom prst="rect">
            <a:avLst/>
          </a:prstGeom>
          <a:noFill/>
        </p:spPr>
        <p:txBody>
          <a:bodyPr wrap="square" lIns="0" tIns="0" rIns="0" bIns="0" rtlCol="0" anchor="ctr">
            <a:normAutofit/>
          </a:bodyPr>
          <a:lstStyle/>
          <a:p>
            <a:pPr marL="0" indent="0" algn="ctr">
              <a:buNone/>
            </a:pPr>
            <a:r>
              <a:rPr lang="en-US" sz="1050" b="1" dirty="0">
                <a:solidFill>
                  <a:srgbClr val="0B1F3A"/>
                </a:solidFill>
              </a:rPr>
              <a:t>Define the outcome</a:t>
            </a:r>
            <a:endParaRPr lang="en-US" sz="1050" dirty="0"/>
          </a:p>
        </p:txBody>
      </p:sp>
      <p:sp>
        <p:nvSpPr>
          <p:cNvPr id="9" name="Shape 6"/>
          <p:cNvSpPr/>
          <p:nvPr/>
        </p:nvSpPr>
        <p:spPr>
          <a:xfrm>
            <a:off x="1481328" y="4114800"/>
            <a:ext cx="475488" cy="438912"/>
          </a:xfrm>
          <a:prstGeom prst="chevron">
            <a:avLst/>
          </a:prstGeom>
          <a:solidFill>
            <a:srgbClr val="CBD5E1"/>
          </a:solidFill>
          <a:ln w="12700">
            <a:solidFill>
              <a:srgbClr val="CBD5E1"/>
            </a:solidFill>
            <a:prstDash val="solid"/>
          </a:ln>
        </p:spPr>
      </p:sp>
      <p:sp>
        <p:nvSpPr>
          <p:cNvPr id="10" name="Shape 7"/>
          <p:cNvSpPr/>
          <p:nvPr/>
        </p:nvSpPr>
        <p:spPr>
          <a:xfrm>
            <a:off x="2990088" y="4069080"/>
            <a:ext cx="530352" cy="530352"/>
          </a:xfrm>
          <a:prstGeom prst="ellipse">
            <a:avLst/>
          </a:prstGeom>
          <a:solidFill>
            <a:srgbClr val="F59E0B"/>
          </a:solidFill>
          <a:ln w="12700">
            <a:solidFill>
              <a:srgbClr val="F59E0B"/>
            </a:solidFill>
            <a:prstDash val="solid"/>
          </a:ln>
        </p:spPr>
      </p:sp>
      <p:sp>
        <p:nvSpPr>
          <p:cNvPr id="11" name="Text 8"/>
          <p:cNvSpPr/>
          <p:nvPr/>
        </p:nvSpPr>
        <p:spPr>
          <a:xfrm>
            <a:off x="2990088" y="4169664"/>
            <a:ext cx="530352" cy="182880"/>
          </a:xfrm>
          <a:prstGeom prst="rect">
            <a:avLst/>
          </a:prstGeom>
          <a:noFill/>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2" name="Text 9"/>
          <p:cNvSpPr/>
          <p:nvPr/>
        </p:nvSpPr>
        <p:spPr>
          <a:xfrm>
            <a:off x="2679192" y="4681728"/>
            <a:ext cx="1143000" cy="457200"/>
          </a:xfrm>
          <a:prstGeom prst="rect">
            <a:avLst/>
          </a:prstGeom>
          <a:noFill/>
        </p:spPr>
        <p:txBody>
          <a:bodyPr wrap="square" lIns="0" tIns="0" rIns="0" bIns="0" rtlCol="0" anchor="ctr">
            <a:normAutofit/>
          </a:bodyPr>
          <a:lstStyle/>
          <a:p>
            <a:pPr marL="0" indent="0" algn="ctr">
              <a:buNone/>
            </a:pPr>
            <a:r>
              <a:rPr lang="en-US" sz="1050" b="1" dirty="0">
                <a:solidFill>
                  <a:srgbClr val="0B1F3A"/>
                </a:solidFill>
              </a:rPr>
              <a:t>Choose sources</a:t>
            </a:r>
            <a:endParaRPr lang="en-US" sz="1050" dirty="0"/>
          </a:p>
        </p:txBody>
      </p:sp>
      <p:sp>
        <p:nvSpPr>
          <p:cNvPr id="13" name="Shape 10"/>
          <p:cNvSpPr/>
          <p:nvPr/>
        </p:nvSpPr>
        <p:spPr>
          <a:xfrm>
            <a:off x="3739896" y="4114800"/>
            <a:ext cx="475488" cy="438912"/>
          </a:xfrm>
          <a:prstGeom prst="chevron">
            <a:avLst/>
          </a:prstGeom>
          <a:solidFill>
            <a:srgbClr val="CBD5E1"/>
          </a:solidFill>
          <a:ln w="12700">
            <a:solidFill>
              <a:srgbClr val="CBD5E1"/>
            </a:solidFill>
            <a:prstDash val="solid"/>
          </a:ln>
        </p:spPr>
      </p:sp>
      <p:sp>
        <p:nvSpPr>
          <p:cNvPr id="14" name="Shape 11"/>
          <p:cNvSpPr/>
          <p:nvPr/>
        </p:nvSpPr>
        <p:spPr>
          <a:xfrm>
            <a:off x="5248656" y="4069080"/>
            <a:ext cx="530352" cy="530352"/>
          </a:xfrm>
          <a:prstGeom prst="ellipse">
            <a:avLst/>
          </a:prstGeom>
          <a:solidFill>
            <a:srgbClr val="F59E0B"/>
          </a:solidFill>
          <a:ln w="12700">
            <a:solidFill>
              <a:srgbClr val="F59E0B"/>
            </a:solidFill>
            <a:prstDash val="solid"/>
          </a:ln>
        </p:spPr>
      </p:sp>
      <p:sp>
        <p:nvSpPr>
          <p:cNvPr id="15" name="Text 12"/>
          <p:cNvSpPr/>
          <p:nvPr/>
        </p:nvSpPr>
        <p:spPr>
          <a:xfrm>
            <a:off x="5248656" y="4169664"/>
            <a:ext cx="530352" cy="182880"/>
          </a:xfrm>
          <a:prstGeom prst="rect">
            <a:avLst/>
          </a:prstGeom>
          <a:noFill/>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6" name="Text 13"/>
          <p:cNvSpPr/>
          <p:nvPr/>
        </p:nvSpPr>
        <p:spPr>
          <a:xfrm>
            <a:off x="4937760" y="4681728"/>
            <a:ext cx="1143000" cy="457200"/>
          </a:xfrm>
          <a:prstGeom prst="rect">
            <a:avLst/>
          </a:prstGeom>
          <a:noFill/>
        </p:spPr>
        <p:txBody>
          <a:bodyPr wrap="square" lIns="0" tIns="0" rIns="0" bIns="0" rtlCol="0" anchor="ctr">
            <a:normAutofit/>
          </a:bodyPr>
          <a:lstStyle/>
          <a:p>
            <a:pPr marL="0" indent="0" algn="ctr">
              <a:buNone/>
            </a:pPr>
            <a:r>
              <a:rPr lang="en-US" sz="1050" b="1" dirty="0">
                <a:solidFill>
                  <a:srgbClr val="0B1F3A"/>
                </a:solidFill>
              </a:rPr>
              <a:t>Review the plan</a:t>
            </a:r>
            <a:endParaRPr lang="en-US" sz="1050" dirty="0"/>
          </a:p>
        </p:txBody>
      </p:sp>
      <p:sp>
        <p:nvSpPr>
          <p:cNvPr id="17" name="Shape 14"/>
          <p:cNvSpPr/>
          <p:nvPr/>
        </p:nvSpPr>
        <p:spPr>
          <a:xfrm>
            <a:off x="5998464" y="4114800"/>
            <a:ext cx="475488" cy="438912"/>
          </a:xfrm>
          <a:prstGeom prst="chevron">
            <a:avLst/>
          </a:prstGeom>
          <a:solidFill>
            <a:srgbClr val="CBD5E1"/>
          </a:solidFill>
          <a:ln w="12700">
            <a:solidFill>
              <a:srgbClr val="CBD5E1"/>
            </a:solidFill>
            <a:prstDash val="solid"/>
          </a:ln>
        </p:spPr>
      </p:sp>
      <p:sp>
        <p:nvSpPr>
          <p:cNvPr id="18" name="Shape 15"/>
          <p:cNvSpPr/>
          <p:nvPr/>
        </p:nvSpPr>
        <p:spPr>
          <a:xfrm>
            <a:off x="7507224" y="4069080"/>
            <a:ext cx="530352" cy="530352"/>
          </a:xfrm>
          <a:prstGeom prst="ellipse">
            <a:avLst/>
          </a:prstGeom>
          <a:solidFill>
            <a:srgbClr val="F59E0B"/>
          </a:solidFill>
          <a:ln w="12700">
            <a:solidFill>
              <a:srgbClr val="F59E0B"/>
            </a:solidFill>
            <a:prstDash val="solid"/>
          </a:ln>
        </p:spPr>
      </p:sp>
      <p:sp>
        <p:nvSpPr>
          <p:cNvPr id="19" name="Text 16"/>
          <p:cNvSpPr/>
          <p:nvPr/>
        </p:nvSpPr>
        <p:spPr>
          <a:xfrm>
            <a:off x="7507224" y="4169664"/>
            <a:ext cx="530352" cy="182880"/>
          </a:xfrm>
          <a:prstGeom prst="rect">
            <a:avLst/>
          </a:prstGeom>
          <a:noFill/>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20" name="Text 17"/>
          <p:cNvSpPr/>
          <p:nvPr/>
        </p:nvSpPr>
        <p:spPr>
          <a:xfrm>
            <a:off x="7196328" y="4681728"/>
            <a:ext cx="1143000" cy="457200"/>
          </a:xfrm>
          <a:prstGeom prst="rect">
            <a:avLst/>
          </a:prstGeom>
          <a:noFill/>
        </p:spPr>
        <p:txBody>
          <a:bodyPr wrap="square" lIns="0" tIns="0" rIns="0" bIns="0" rtlCol="0" anchor="ctr">
            <a:normAutofit/>
          </a:bodyPr>
          <a:lstStyle/>
          <a:p>
            <a:pPr marL="0" indent="0" algn="ctr">
              <a:buNone/>
            </a:pPr>
            <a:r>
              <a:rPr lang="en-US" sz="1050" b="1" dirty="0">
                <a:solidFill>
                  <a:srgbClr val="0B1F3A"/>
                </a:solidFill>
              </a:rPr>
              <a:t>Monitor research</a:t>
            </a:r>
            <a:endParaRPr lang="en-US" sz="1050" dirty="0"/>
          </a:p>
        </p:txBody>
      </p:sp>
      <p:sp>
        <p:nvSpPr>
          <p:cNvPr id="21" name="Shape 18"/>
          <p:cNvSpPr/>
          <p:nvPr/>
        </p:nvSpPr>
        <p:spPr>
          <a:xfrm>
            <a:off x="8257032" y="4114800"/>
            <a:ext cx="475488" cy="438912"/>
          </a:xfrm>
          <a:prstGeom prst="chevron">
            <a:avLst/>
          </a:prstGeom>
          <a:solidFill>
            <a:srgbClr val="CBD5E1"/>
          </a:solidFill>
          <a:ln w="12700">
            <a:solidFill>
              <a:srgbClr val="CBD5E1"/>
            </a:solidFill>
            <a:prstDash val="solid"/>
          </a:ln>
        </p:spPr>
      </p:sp>
      <p:sp>
        <p:nvSpPr>
          <p:cNvPr id="22" name="Shape 19"/>
          <p:cNvSpPr/>
          <p:nvPr/>
        </p:nvSpPr>
        <p:spPr>
          <a:xfrm>
            <a:off x="9765792" y="4069080"/>
            <a:ext cx="530352" cy="530352"/>
          </a:xfrm>
          <a:prstGeom prst="ellipse">
            <a:avLst/>
          </a:prstGeom>
          <a:solidFill>
            <a:srgbClr val="16A34A"/>
          </a:solidFill>
          <a:ln w="12700">
            <a:solidFill>
              <a:srgbClr val="16A34A"/>
            </a:solidFill>
            <a:prstDash val="solid"/>
          </a:ln>
        </p:spPr>
      </p:sp>
      <p:sp>
        <p:nvSpPr>
          <p:cNvPr id="23" name="Text 20"/>
          <p:cNvSpPr/>
          <p:nvPr/>
        </p:nvSpPr>
        <p:spPr>
          <a:xfrm>
            <a:off x="9765792" y="4169664"/>
            <a:ext cx="530352" cy="182880"/>
          </a:xfrm>
          <a:prstGeom prst="rect">
            <a:avLst/>
          </a:prstGeom>
          <a:noFill/>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24" name="Text 21"/>
          <p:cNvSpPr/>
          <p:nvPr/>
        </p:nvSpPr>
        <p:spPr>
          <a:xfrm>
            <a:off x="9454896" y="4681728"/>
            <a:ext cx="1143000" cy="457200"/>
          </a:xfrm>
          <a:prstGeom prst="rect">
            <a:avLst/>
          </a:prstGeom>
          <a:noFill/>
        </p:spPr>
        <p:txBody>
          <a:bodyPr wrap="square" lIns="0" tIns="0" rIns="0" bIns="0" rtlCol="0" anchor="ctr">
            <a:normAutofit/>
          </a:bodyPr>
          <a:lstStyle/>
          <a:p>
            <a:pPr marL="0" indent="0" algn="ctr">
              <a:buNone/>
            </a:pPr>
            <a:r>
              <a:rPr lang="en-US" sz="1050" b="1" dirty="0">
                <a:solidFill>
                  <a:srgbClr val="0B1F3A"/>
                </a:solidFill>
              </a:rPr>
              <a:t>Verify the report</a:t>
            </a:r>
            <a:endParaRPr lang="en-US" sz="1050" dirty="0"/>
          </a:p>
        </p:txBody>
      </p:sp>
      <p:sp>
        <p:nvSpPr>
          <p:cNvPr id="25" name="Shape 22"/>
          <p:cNvSpPr/>
          <p:nvPr/>
        </p:nvSpPr>
        <p:spPr>
          <a:xfrm>
            <a:off x="5897880" y="1298448"/>
            <a:ext cx="5349240" cy="2240280"/>
          </a:xfrm>
          <a:prstGeom prst="roundRect">
            <a:avLst>
              <a:gd name="adj" fmla="val 4898"/>
            </a:avLst>
          </a:prstGeom>
          <a:solidFill>
            <a:srgbClr val="FFF4DF"/>
          </a:solidFill>
          <a:ln w="12700">
            <a:solidFill>
              <a:srgbClr val="F1CB82"/>
            </a:solidFill>
            <a:prstDash val="solid"/>
          </a:ln>
          <a:effectLst>
            <a:outerShdw blurRad="-2147483648" dist="-2147483648" dir="2" algn="bl" rotWithShape="0">
              <a:srgbClr val="000000">
                <a:alpha val="1"/>
              </a:srgbClr>
            </a:outerShdw>
          </a:effectLst>
        </p:spPr>
      </p:sp>
      <p:sp>
        <p:nvSpPr>
          <p:cNvPr id="26" name="Text 23"/>
          <p:cNvSpPr/>
          <p:nvPr/>
        </p:nvSpPr>
        <p:spPr>
          <a:xfrm>
            <a:off x="6172200" y="1572768"/>
            <a:ext cx="2103120" cy="256032"/>
          </a:xfrm>
          <a:prstGeom prst="rect">
            <a:avLst/>
          </a:prstGeom>
          <a:noFill/>
        </p:spPr>
        <p:txBody>
          <a:bodyPr wrap="square" lIns="0" tIns="0" rIns="0" bIns="0" rtlCol="0" anchor="ctr"/>
          <a:lstStyle/>
          <a:p>
            <a:pPr marL="0" indent="0">
              <a:buNone/>
            </a:pPr>
            <a:r>
              <a:rPr lang="en-US" sz="1500" b="1" dirty="0">
                <a:solidFill>
                  <a:srgbClr val="F59E0B"/>
                </a:solidFill>
              </a:rPr>
              <a:t>Ideal academic uses</a:t>
            </a:r>
            <a:endParaRPr lang="en-US" sz="1500" dirty="0"/>
          </a:p>
        </p:txBody>
      </p:sp>
      <p:sp>
        <p:nvSpPr>
          <p:cNvPr id="27" name="Text 24"/>
          <p:cNvSpPr/>
          <p:nvPr/>
        </p:nvSpPr>
        <p:spPr>
          <a:xfrm>
            <a:off x="6172200" y="1947672"/>
            <a:ext cx="4663440" cy="1325880"/>
          </a:xfrm>
          <a:prstGeom prst="rect">
            <a:avLst/>
          </a:prstGeom>
          <a:noFill/>
        </p:spPr>
        <p:txBody>
          <a:bodyPr wrap="square" lIns="508" tIns="508" rIns="508" bIns="508" rtlCol="0" anchor="ctr">
            <a:normAutofit/>
          </a:bodyPr>
          <a:lstStyle/>
          <a:p>
            <a:pPr marL="160020" indent="-160020">
              <a:buSzPct val="100000"/>
              <a:buChar char="•"/>
            </a:pPr>
            <a:r>
              <a:rPr lang="en-US" sz="1400" dirty="0">
                <a:solidFill>
                  <a:srgbClr val="273449"/>
                </a:solidFill>
              </a:rPr>
              <a:t>Literature reviews and research-gap mapping</a:t>
            </a:r>
            <a:endParaRPr lang="en-US" sz="1400" dirty="0"/>
          </a:p>
          <a:p>
            <a:pPr marL="160020" indent="-160020">
              <a:buSzPct val="100000"/>
              <a:buChar char="•"/>
            </a:pPr>
            <a:r>
              <a:rPr lang="en-US" sz="1400" dirty="0">
                <a:solidFill>
                  <a:srgbClr val="273449"/>
                </a:solidFill>
              </a:rPr>
              <a:t>Comparison of algorithms or theoretical approaches</a:t>
            </a:r>
            <a:endParaRPr lang="en-US" sz="1400" dirty="0"/>
          </a:p>
          <a:p>
            <a:pPr marL="160020" indent="-160020">
              <a:buSzPct val="100000"/>
              <a:buChar char="•"/>
            </a:pPr>
            <a:r>
              <a:rPr lang="en-US" sz="1400" dirty="0">
                <a:solidFill>
                  <a:srgbClr val="273449"/>
                </a:solidFill>
              </a:rPr>
              <a:t>Policy, market, and technology landscape reports</a:t>
            </a:r>
            <a:endParaRPr lang="en-US" sz="1400" dirty="0"/>
          </a:p>
          <a:p>
            <a:pPr marL="160020" indent="-160020">
              <a:buSzPct val="100000"/>
              <a:buChar char="•"/>
            </a:pPr>
            <a:r>
              <a:rPr lang="en-US" sz="1400" dirty="0">
                <a:solidFill>
                  <a:srgbClr val="273449"/>
                </a:solidFill>
              </a:rPr>
              <a:t>Decision briefs with traceable evidence</a:t>
            </a:r>
            <a:endParaRPr lang="en-US" sz="1400" dirty="0"/>
          </a:p>
        </p:txBody>
      </p:sp>
      <p:sp>
        <p:nvSpPr>
          <p:cNvPr id="28" name="Shape 25"/>
          <p:cNvSpPr/>
          <p:nvPr/>
        </p:nvSpPr>
        <p:spPr>
          <a:xfrm>
            <a:off x="5897880" y="3886200"/>
            <a:ext cx="5349240" cy="1554480"/>
          </a:xfrm>
          <a:prstGeom prst="roundRect">
            <a:avLst>
              <a:gd name="adj" fmla="val 7059"/>
            </a:avLst>
          </a:prstGeom>
          <a:solidFill>
            <a:srgbClr val="FFFFFF"/>
          </a:solidFill>
          <a:ln w="12700">
            <a:solidFill>
              <a:srgbClr val="DCE5EF"/>
            </a:solidFill>
            <a:prstDash val="solid"/>
          </a:ln>
          <a:effectLst>
            <a:outerShdw blurRad="-2147483648" dist="-2147483648" dir="1" algn="bl" rotWithShape="0">
              <a:srgbClr val="000000">
                <a:alpha val="1"/>
              </a:srgbClr>
            </a:outerShdw>
          </a:effectLst>
        </p:spPr>
      </p:sp>
      <p:sp>
        <p:nvSpPr>
          <p:cNvPr id="29" name="Text 26"/>
          <p:cNvSpPr/>
          <p:nvPr/>
        </p:nvSpPr>
        <p:spPr>
          <a:xfrm>
            <a:off x="6172200" y="4114800"/>
            <a:ext cx="2194560" cy="256032"/>
          </a:xfrm>
          <a:prstGeom prst="rect">
            <a:avLst/>
          </a:prstGeom>
          <a:noFill/>
        </p:spPr>
        <p:txBody>
          <a:bodyPr wrap="square" lIns="0" tIns="0" rIns="0" bIns="0" rtlCol="0" anchor="ctr"/>
          <a:lstStyle/>
          <a:p>
            <a:pPr marL="0" indent="0">
              <a:buNone/>
            </a:pPr>
            <a:r>
              <a:rPr lang="en-US" sz="1400" b="1" dirty="0">
                <a:solidFill>
                  <a:srgbClr val="0B1F3A"/>
                </a:solidFill>
              </a:rPr>
              <a:t>Search vs Deep Research</a:t>
            </a:r>
            <a:endParaRPr lang="en-US" sz="1400" dirty="0"/>
          </a:p>
        </p:txBody>
      </p:sp>
      <p:sp>
        <p:nvSpPr>
          <p:cNvPr id="30" name="Text 27"/>
          <p:cNvSpPr/>
          <p:nvPr/>
        </p:nvSpPr>
        <p:spPr>
          <a:xfrm>
            <a:off x="6172200" y="4526280"/>
            <a:ext cx="4480560" cy="566928"/>
          </a:xfrm>
          <a:prstGeom prst="rect">
            <a:avLst/>
          </a:prstGeom>
          <a:noFill/>
        </p:spPr>
        <p:txBody>
          <a:bodyPr wrap="square" lIns="0" tIns="0" rIns="0" bIns="0" rtlCol="0" anchor="ctr"/>
          <a:lstStyle/>
          <a:p>
            <a:pPr marL="0" indent="0">
              <a:buNone/>
            </a:pPr>
            <a:r>
              <a:rPr lang="en-US" sz="1400" b="1" dirty="0">
                <a:solidFill>
                  <a:srgbClr val="273449"/>
                </a:solidFill>
              </a:rPr>
              <a:t>Search = fast current answer</a:t>
            </a:r>
            <a:endParaRPr lang="en-US" sz="1400" dirty="0"/>
          </a:p>
          <a:p>
            <a:pPr marL="0" indent="0">
              <a:buNone/>
            </a:pPr>
            <a:r>
              <a:rPr lang="en-US" sz="1400" b="1" dirty="0">
                <a:solidFill>
                  <a:srgbClr val="273449"/>
                </a:solidFill>
              </a:rPr>
              <a:t>Deep Research = planned, multi-source, cited synthesis</a:t>
            </a:r>
            <a:endParaRPr lang="en-US" sz="1400" dirty="0"/>
          </a:p>
        </p:txBody>
      </p:sp>
      <p:sp>
        <p:nvSpPr>
          <p:cNvPr id="31" name="Text 28"/>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Help — Deep Research in ChatGPT (updated Jul 2026).</a:t>
            </a:r>
            <a:endParaRPr lang="en-US" sz="750" dirty="0"/>
          </a:p>
        </p:txBody>
      </p:sp>
      <p:sp>
        <p:nvSpPr>
          <p:cNvPr id="32"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Feature 3: Files &amp; Data Analysis</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Turn documents and datasets into structured questions, calculations, tables, and charts.</a:t>
            </a:r>
            <a:endParaRPr lang="en-US" sz="1150" dirty="0"/>
          </a:p>
        </p:txBody>
      </p:sp>
      <p:sp>
        <p:nvSpPr>
          <p:cNvPr id="4" name="Shape 2"/>
          <p:cNvSpPr/>
          <p:nvPr/>
        </p:nvSpPr>
        <p:spPr>
          <a:xfrm>
            <a:off x="603504" y="1243584"/>
            <a:ext cx="5047488" cy="2450592"/>
          </a:xfrm>
          <a:prstGeom prst="roundRect">
            <a:avLst>
              <a:gd name="adj" fmla="val 4478"/>
            </a:avLst>
          </a:prstGeom>
          <a:solidFill>
            <a:srgbClr val="FFFFFF"/>
          </a:solidFill>
          <a:ln w="12700">
            <a:solidFill>
              <a:srgbClr val="DDE4EC"/>
            </a:solidFill>
            <a:prstDash val="solid"/>
          </a:ln>
          <a:effectLst>
            <a:outerShdw blurRad="-2147483648" dist="-2147483648" dir="1" algn="bl" rotWithShape="0">
              <a:srgbClr val="000000">
                <a:alpha val="1"/>
              </a:srgbClr>
            </a:outerShdw>
          </a:effectLst>
        </p:spPr>
      </p:sp>
      <p:pic>
        <p:nvPicPr>
          <p:cNvPr id="5" name="Image 0" descr="/mnt/data/WhatsApp Image 2026-07-17 at 12.05.17 AM.jpeg"/>
          <p:cNvPicPr>
            <a:picLocks noChangeAspect="1"/>
          </p:cNvPicPr>
          <p:nvPr/>
        </p:nvPicPr>
        <p:blipFill>
          <a:blip r:embed="rId1"/>
          <a:stretch>
            <a:fillRect/>
          </a:stretch>
        </p:blipFill>
        <p:spPr>
          <a:xfrm>
            <a:off x="658368" y="1307258"/>
            <a:ext cx="4937760" cy="2323244"/>
          </a:xfrm>
          <a:prstGeom prst="rect">
            <a:avLst/>
          </a:prstGeom>
        </p:spPr>
      </p:pic>
      <p:sp>
        <p:nvSpPr>
          <p:cNvPr id="6" name="Shape 3"/>
          <p:cNvSpPr/>
          <p:nvPr/>
        </p:nvSpPr>
        <p:spPr>
          <a:xfrm>
            <a:off x="713232" y="4251960"/>
            <a:ext cx="1965960" cy="1097280"/>
          </a:xfrm>
          <a:prstGeom prst="roundRect">
            <a:avLst>
              <a:gd name="adj" fmla="val 10000"/>
            </a:avLst>
          </a:prstGeom>
          <a:solidFill>
            <a:srgbClr val="FFFFFF"/>
          </a:solidFill>
          <a:ln w="12700">
            <a:solidFill>
              <a:srgbClr val="DCE5EF"/>
            </a:solidFill>
            <a:prstDash val="solid"/>
          </a:ln>
          <a:effectLst>
            <a:outerShdw blurRad="-2147483648" dist="-2147483648" dir="6" algn="bl" rotWithShape="0">
              <a:srgbClr val="000000">
                <a:alpha val="1"/>
              </a:srgbClr>
            </a:outerShdw>
          </a:effectLst>
        </p:spPr>
      </p:sp>
      <p:sp>
        <p:nvSpPr>
          <p:cNvPr id="7" name="Shape 4"/>
          <p:cNvSpPr/>
          <p:nvPr/>
        </p:nvSpPr>
        <p:spPr>
          <a:xfrm>
            <a:off x="932688" y="4462272"/>
            <a:ext cx="960120" cy="310896"/>
          </a:xfrm>
          <a:prstGeom prst="roundRect">
            <a:avLst>
              <a:gd name="adj" fmla="val 44118"/>
            </a:avLst>
          </a:prstGeom>
          <a:solidFill>
            <a:srgbClr val="1677FF"/>
          </a:solidFill>
          <a:ln w="12700">
            <a:solidFill>
              <a:srgbClr val="1677FF"/>
            </a:solidFill>
            <a:prstDash val="solid"/>
          </a:ln>
        </p:spPr>
      </p:sp>
      <p:sp>
        <p:nvSpPr>
          <p:cNvPr id="8" name="Text 5"/>
          <p:cNvSpPr/>
          <p:nvPr/>
        </p:nvSpPr>
        <p:spPr>
          <a:xfrm>
            <a:off x="1005840" y="4530852"/>
            <a:ext cx="813816" cy="164592"/>
          </a:xfrm>
          <a:prstGeom prst="rect">
            <a:avLst/>
          </a:prstGeom>
          <a:noFill/>
        </p:spPr>
        <p:txBody>
          <a:bodyPr wrap="square" lIns="0" tIns="0" rIns="0" bIns="0" rtlCol="0" anchor="ctr"/>
          <a:lstStyle/>
          <a:p>
            <a:pPr marL="0" indent="0" algn="ctr">
              <a:buNone/>
            </a:pPr>
            <a:r>
              <a:rPr lang="en-US" sz="900" b="1" dirty="0">
                <a:solidFill>
                  <a:srgbClr val="FFFFFF"/>
                </a:solidFill>
              </a:rPr>
              <a:t>UPLOAD</a:t>
            </a:r>
            <a:endParaRPr lang="en-US" sz="900" dirty="0"/>
          </a:p>
        </p:txBody>
      </p:sp>
      <p:sp>
        <p:nvSpPr>
          <p:cNvPr id="9" name="Text 6"/>
          <p:cNvSpPr/>
          <p:nvPr/>
        </p:nvSpPr>
        <p:spPr>
          <a:xfrm>
            <a:off x="877824" y="4892040"/>
            <a:ext cx="1645920" cy="329184"/>
          </a:xfrm>
          <a:prstGeom prst="rect">
            <a:avLst/>
          </a:prstGeom>
          <a:noFill/>
        </p:spPr>
        <p:txBody>
          <a:bodyPr wrap="square" lIns="0" tIns="0" rIns="0" bIns="0" rtlCol="0" anchor="ctr">
            <a:normAutofit/>
          </a:bodyPr>
          <a:lstStyle/>
          <a:p>
            <a:pPr marL="0" indent="0" algn="ctr">
              <a:buNone/>
            </a:pPr>
            <a:r>
              <a:rPr lang="en-US" sz="1020" b="1" dirty="0">
                <a:solidFill>
                  <a:srgbClr val="273449"/>
                </a:solidFill>
              </a:rPr>
              <a:t>PDF • PPTX • DOCX • XLSX • CSV</a:t>
            </a:r>
            <a:endParaRPr lang="en-US" sz="1020" dirty="0"/>
          </a:p>
        </p:txBody>
      </p:sp>
      <p:sp>
        <p:nvSpPr>
          <p:cNvPr id="10" name="Shape 7"/>
          <p:cNvSpPr/>
          <p:nvPr/>
        </p:nvSpPr>
        <p:spPr>
          <a:xfrm>
            <a:off x="2743200" y="4590288"/>
            <a:ext cx="320040" cy="402336"/>
          </a:xfrm>
          <a:prstGeom prst="chevron">
            <a:avLst/>
          </a:prstGeom>
          <a:solidFill>
            <a:srgbClr val="C9D4DF"/>
          </a:solidFill>
          <a:ln w="12700">
            <a:solidFill>
              <a:srgbClr val="C9D4DF"/>
            </a:solidFill>
            <a:prstDash val="solid"/>
          </a:ln>
        </p:spPr>
      </p:sp>
      <p:sp>
        <p:nvSpPr>
          <p:cNvPr id="11" name="Shape 8"/>
          <p:cNvSpPr/>
          <p:nvPr/>
        </p:nvSpPr>
        <p:spPr>
          <a:xfrm>
            <a:off x="3108960" y="4251960"/>
            <a:ext cx="1965960" cy="1097280"/>
          </a:xfrm>
          <a:prstGeom prst="roundRect">
            <a:avLst>
              <a:gd name="adj" fmla="val 10000"/>
            </a:avLst>
          </a:prstGeom>
          <a:solidFill>
            <a:srgbClr val="FFFFFF"/>
          </a:solidFill>
          <a:ln w="12700">
            <a:solidFill>
              <a:srgbClr val="DCE5EF"/>
            </a:solidFill>
            <a:prstDash val="solid"/>
          </a:ln>
          <a:effectLst>
            <a:outerShdw blurRad="-2147483648" dist="-2147483648" dir="3" algn="bl" rotWithShape="0">
              <a:srgbClr val="000000">
                <a:alpha val="1"/>
              </a:srgbClr>
            </a:outerShdw>
          </a:effectLst>
        </p:spPr>
      </p:sp>
      <p:sp>
        <p:nvSpPr>
          <p:cNvPr id="12" name="Shape 9"/>
          <p:cNvSpPr/>
          <p:nvPr/>
        </p:nvSpPr>
        <p:spPr>
          <a:xfrm>
            <a:off x="3328416" y="4462272"/>
            <a:ext cx="960120" cy="310896"/>
          </a:xfrm>
          <a:prstGeom prst="roundRect">
            <a:avLst>
              <a:gd name="adj" fmla="val 44118"/>
            </a:avLst>
          </a:prstGeom>
          <a:solidFill>
            <a:srgbClr val="16B8D4"/>
          </a:solidFill>
          <a:ln w="12700">
            <a:solidFill>
              <a:srgbClr val="16B8D4"/>
            </a:solidFill>
            <a:prstDash val="solid"/>
          </a:ln>
        </p:spPr>
      </p:sp>
      <p:sp>
        <p:nvSpPr>
          <p:cNvPr id="13" name="Text 10"/>
          <p:cNvSpPr/>
          <p:nvPr/>
        </p:nvSpPr>
        <p:spPr>
          <a:xfrm>
            <a:off x="3401568" y="4530852"/>
            <a:ext cx="813816" cy="164592"/>
          </a:xfrm>
          <a:prstGeom prst="rect">
            <a:avLst/>
          </a:prstGeom>
          <a:noFill/>
        </p:spPr>
        <p:txBody>
          <a:bodyPr wrap="square" lIns="0" tIns="0" rIns="0" bIns="0" rtlCol="0" anchor="ctr"/>
          <a:lstStyle/>
          <a:p>
            <a:pPr marL="0" indent="0" algn="ctr">
              <a:buNone/>
            </a:pPr>
            <a:r>
              <a:rPr lang="en-US" sz="900" b="1" dirty="0">
                <a:solidFill>
                  <a:srgbClr val="FFFFFF"/>
                </a:solidFill>
              </a:rPr>
              <a:t>ASK</a:t>
            </a:r>
            <a:endParaRPr lang="en-US" sz="900" dirty="0"/>
          </a:p>
        </p:txBody>
      </p:sp>
      <p:sp>
        <p:nvSpPr>
          <p:cNvPr id="14" name="Text 11"/>
          <p:cNvSpPr/>
          <p:nvPr/>
        </p:nvSpPr>
        <p:spPr>
          <a:xfrm>
            <a:off x="3273552" y="4892040"/>
            <a:ext cx="1645920" cy="329184"/>
          </a:xfrm>
          <a:prstGeom prst="rect">
            <a:avLst/>
          </a:prstGeom>
          <a:noFill/>
        </p:spPr>
        <p:txBody>
          <a:bodyPr wrap="square" lIns="0" tIns="0" rIns="0" bIns="0" rtlCol="0" anchor="ctr">
            <a:normAutofit/>
          </a:bodyPr>
          <a:lstStyle/>
          <a:p>
            <a:pPr marL="0" indent="0" algn="ctr">
              <a:buNone/>
            </a:pPr>
            <a:r>
              <a:rPr lang="en-US" sz="1020" b="1" dirty="0">
                <a:solidFill>
                  <a:srgbClr val="273449"/>
                </a:solidFill>
              </a:rPr>
              <a:t>Summarize • compare • calculate • extract</a:t>
            </a:r>
            <a:endParaRPr lang="en-US" sz="1020" dirty="0"/>
          </a:p>
        </p:txBody>
      </p:sp>
      <p:sp>
        <p:nvSpPr>
          <p:cNvPr id="15" name="Shape 12"/>
          <p:cNvSpPr/>
          <p:nvPr/>
        </p:nvSpPr>
        <p:spPr>
          <a:xfrm>
            <a:off x="5138928" y="4590288"/>
            <a:ext cx="320040" cy="402336"/>
          </a:xfrm>
          <a:prstGeom prst="chevron">
            <a:avLst/>
          </a:prstGeom>
          <a:solidFill>
            <a:srgbClr val="C9D4DF"/>
          </a:solidFill>
          <a:ln w="12700">
            <a:solidFill>
              <a:srgbClr val="C9D4DF"/>
            </a:solidFill>
            <a:prstDash val="solid"/>
          </a:ln>
        </p:spPr>
      </p:sp>
      <p:sp>
        <p:nvSpPr>
          <p:cNvPr id="16" name="Shape 13"/>
          <p:cNvSpPr/>
          <p:nvPr/>
        </p:nvSpPr>
        <p:spPr>
          <a:xfrm>
            <a:off x="5504688" y="4251960"/>
            <a:ext cx="1965960" cy="1097280"/>
          </a:xfrm>
          <a:prstGeom prst="roundRect">
            <a:avLst>
              <a:gd name="adj" fmla="val 10000"/>
            </a:avLst>
          </a:prstGeom>
          <a:solidFill>
            <a:srgbClr val="FFFFFF"/>
          </a:solidFill>
          <a:ln w="12700">
            <a:solidFill>
              <a:srgbClr val="DCE5EF"/>
            </a:solidFill>
            <a:prstDash val="solid"/>
          </a:ln>
          <a:effectLst>
            <a:outerShdw blurRad="-2147483648" dist="-2147483648" dir="2" algn="bl" rotWithShape="0">
              <a:srgbClr val="000000">
                <a:alpha val="1"/>
              </a:srgbClr>
            </a:outerShdw>
          </a:effectLst>
        </p:spPr>
      </p:sp>
      <p:sp>
        <p:nvSpPr>
          <p:cNvPr id="17" name="Shape 14"/>
          <p:cNvSpPr/>
          <p:nvPr/>
        </p:nvSpPr>
        <p:spPr>
          <a:xfrm>
            <a:off x="5724144" y="4462272"/>
            <a:ext cx="960120" cy="310896"/>
          </a:xfrm>
          <a:prstGeom prst="roundRect">
            <a:avLst>
              <a:gd name="adj" fmla="val 44118"/>
            </a:avLst>
          </a:prstGeom>
          <a:solidFill>
            <a:srgbClr val="F59E0B"/>
          </a:solidFill>
          <a:ln w="12700">
            <a:solidFill>
              <a:srgbClr val="F59E0B"/>
            </a:solidFill>
            <a:prstDash val="solid"/>
          </a:ln>
        </p:spPr>
      </p:sp>
      <p:sp>
        <p:nvSpPr>
          <p:cNvPr id="18" name="Text 15"/>
          <p:cNvSpPr/>
          <p:nvPr/>
        </p:nvSpPr>
        <p:spPr>
          <a:xfrm>
            <a:off x="5797296" y="4530852"/>
            <a:ext cx="813816" cy="164592"/>
          </a:xfrm>
          <a:prstGeom prst="rect">
            <a:avLst/>
          </a:prstGeom>
          <a:noFill/>
        </p:spPr>
        <p:txBody>
          <a:bodyPr wrap="square" lIns="0" tIns="0" rIns="0" bIns="0" rtlCol="0" anchor="ctr"/>
          <a:lstStyle/>
          <a:p>
            <a:pPr marL="0" indent="0" algn="ctr">
              <a:buNone/>
            </a:pPr>
            <a:r>
              <a:rPr lang="en-US" sz="900" b="1" dirty="0">
                <a:solidFill>
                  <a:srgbClr val="FFFFFF"/>
                </a:solidFill>
              </a:rPr>
              <a:t>ANALYZE</a:t>
            </a:r>
            <a:endParaRPr lang="en-US" sz="900" dirty="0"/>
          </a:p>
        </p:txBody>
      </p:sp>
      <p:sp>
        <p:nvSpPr>
          <p:cNvPr id="19" name="Text 16"/>
          <p:cNvSpPr/>
          <p:nvPr/>
        </p:nvSpPr>
        <p:spPr>
          <a:xfrm>
            <a:off x="5669280" y="4892040"/>
            <a:ext cx="1645920" cy="329184"/>
          </a:xfrm>
          <a:prstGeom prst="rect">
            <a:avLst/>
          </a:prstGeom>
          <a:noFill/>
        </p:spPr>
        <p:txBody>
          <a:bodyPr wrap="square" lIns="0" tIns="0" rIns="0" bIns="0" rtlCol="0" anchor="ctr">
            <a:normAutofit/>
          </a:bodyPr>
          <a:lstStyle/>
          <a:p>
            <a:pPr marL="0" indent="0" algn="ctr">
              <a:buNone/>
            </a:pPr>
            <a:r>
              <a:rPr lang="en-US" sz="1020" b="1" dirty="0">
                <a:solidFill>
                  <a:srgbClr val="273449"/>
                </a:solidFill>
              </a:rPr>
              <a:t>Python • statistics • tables • charts</a:t>
            </a:r>
            <a:endParaRPr lang="en-US" sz="1020" dirty="0"/>
          </a:p>
        </p:txBody>
      </p:sp>
      <p:sp>
        <p:nvSpPr>
          <p:cNvPr id="20" name="Shape 17"/>
          <p:cNvSpPr/>
          <p:nvPr/>
        </p:nvSpPr>
        <p:spPr>
          <a:xfrm>
            <a:off x="7534656" y="4590288"/>
            <a:ext cx="320040" cy="402336"/>
          </a:xfrm>
          <a:prstGeom prst="chevron">
            <a:avLst/>
          </a:prstGeom>
          <a:solidFill>
            <a:srgbClr val="C9D4DF"/>
          </a:solidFill>
          <a:ln w="12700">
            <a:solidFill>
              <a:srgbClr val="C9D4DF"/>
            </a:solidFill>
            <a:prstDash val="solid"/>
          </a:ln>
        </p:spPr>
      </p:sp>
      <p:sp>
        <p:nvSpPr>
          <p:cNvPr id="21" name="Shape 18"/>
          <p:cNvSpPr/>
          <p:nvPr/>
        </p:nvSpPr>
        <p:spPr>
          <a:xfrm>
            <a:off x="7900416" y="4251960"/>
            <a:ext cx="1965960" cy="1097280"/>
          </a:xfrm>
          <a:prstGeom prst="roundRect">
            <a:avLst>
              <a:gd name="adj" fmla="val 10000"/>
            </a:avLst>
          </a:prstGeom>
          <a:solidFill>
            <a:srgbClr val="FFFFFF"/>
          </a:solidFill>
          <a:ln w="12700">
            <a:solidFill>
              <a:srgbClr val="DCE5EF"/>
            </a:solidFill>
            <a:prstDash val="solid"/>
          </a:ln>
          <a:effectLst>
            <a:outerShdw blurRad="-2147483648" dist="-2147483648" dir="1" algn="bl" rotWithShape="0">
              <a:srgbClr val="000000">
                <a:alpha val="1"/>
              </a:srgbClr>
            </a:outerShdw>
          </a:effectLst>
        </p:spPr>
      </p:sp>
      <p:sp>
        <p:nvSpPr>
          <p:cNvPr id="22" name="Shape 19"/>
          <p:cNvSpPr/>
          <p:nvPr/>
        </p:nvSpPr>
        <p:spPr>
          <a:xfrm>
            <a:off x="8119872" y="4462272"/>
            <a:ext cx="960120" cy="310896"/>
          </a:xfrm>
          <a:prstGeom prst="roundRect">
            <a:avLst>
              <a:gd name="adj" fmla="val 44118"/>
            </a:avLst>
          </a:prstGeom>
          <a:solidFill>
            <a:srgbClr val="16A34A"/>
          </a:solidFill>
          <a:ln w="12700">
            <a:solidFill>
              <a:srgbClr val="16A34A"/>
            </a:solidFill>
            <a:prstDash val="solid"/>
          </a:ln>
        </p:spPr>
      </p:sp>
      <p:sp>
        <p:nvSpPr>
          <p:cNvPr id="23" name="Text 20"/>
          <p:cNvSpPr/>
          <p:nvPr/>
        </p:nvSpPr>
        <p:spPr>
          <a:xfrm>
            <a:off x="8193024" y="4530852"/>
            <a:ext cx="813816" cy="164592"/>
          </a:xfrm>
          <a:prstGeom prst="rect">
            <a:avLst/>
          </a:prstGeom>
          <a:noFill/>
        </p:spPr>
        <p:txBody>
          <a:bodyPr wrap="square" lIns="0" tIns="0" rIns="0" bIns="0" rtlCol="0" anchor="ctr"/>
          <a:lstStyle/>
          <a:p>
            <a:pPr marL="0" indent="0" algn="ctr">
              <a:buNone/>
            </a:pPr>
            <a:r>
              <a:rPr lang="en-US" sz="900" b="1" dirty="0">
                <a:solidFill>
                  <a:srgbClr val="FFFFFF"/>
                </a:solidFill>
              </a:rPr>
              <a:t>VERIFY</a:t>
            </a:r>
            <a:endParaRPr lang="en-US" sz="900" dirty="0"/>
          </a:p>
        </p:txBody>
      </p:sp>
      <p:sp>
        <p:nvSpPr>
          <p:cNvPr id="24" name="Text 21"/>
          <p:cNvSpPr/>
          <p:nvPr/>
        </p:nvSpPr>
        <p:spPr>
          <a:xfrm>
            <a:off x="8065008" y="4892040"/>
            <a:ext cx="1645920" cy="329184"/>
          </a:xfrm>
          <a:prstGeom prst="rect">
            <a:avLst/>
          </a:prstGeom>
          <a:noFill/>
        </p:spPr>
        <p:txBody>
          <a:bodyPr wrap="square" lIns="0" tIns="0" rIns="0" bIns="0" rtlCol="0" anchor="ctr">
            <a:normAutofit/>
          </a:bodyPr>
          <a:lstStyle/>
          <a:p>
            <a:pPr marL="0" indent="0" algn="ctr">
              <a:buNone/>
            </a:pPr>
            <a:r>
              <a:rPr lang="en-US" sz="1020" b="1" dirty="0">
                <a:solidFill>
                  <a:srgbClr val="273449"/>
                </a:solidFill>
              </a:rPr>
              <a:t>Inspect assumptions, code, and outputs</a:t>
            </a:r>
            <a:endParaRPr lang="en-US" sz="1020" dirty="0"/>
          </a:p>
        </p:txBody>
      </p:sp>
      <p:sp>
        <p:nvSpPr>
          <p:cNvPr id="25" name="Shape 22"/>
          <p:cNvSpPr/>
          <p:nvPr/>
        </p:nvSpPr>
        <p:spPr>
          <a:xfrm>
            <a:off x="5897880" y="1298448"/>
            <a:ext cx="5349240" cy="2331720"/>
          </a:xfrm>
          <a:prstGeom prst="roundRect">
            <a:avLst>
              <a:gd name="adj" fmla="val 4706"/>
            </a:avLst>
          </a:prstGeom>
          <a:solidFill>
            <a:srgbClr val="E8F9FC"/>
          </a:solidFill>
          <a:ln w="12700">
            <a:solidFill>
              <a:srgbClr val="A7E6F0"/>
            </a:solidFill>
            <a:prstDash val="solid"/>
          </a:ln>
          <a:effectLst>
            <a:outerShdw blurRad="-2147483648" dist="-2147483648" dir="7" algn="bl" rotWithShape="0">
              <a:srgbClr val="000000">
                <a:alpha val="1"/>
              </a:srgbClr>
            </a:outerShdw>
          </a:effectLst>
        </p:spPr>
      </p:sp>
      <p:sp>
        <p:nvSpPr>
          <p:cNvPr id="26" name="Text 23"/>
          <p:cNvSpPr/>
          <p:nvPr/>
        </p:nvSpPr>
        <p:spPr>
          <a:xfrm>
            <a:off x="6172200" y="1572768"/>
            <a:ext cx="3566160" cy="256032"/>
          </a:xfrm>
          <a:prstGeom prst="rect">
            <a:avLst/>
          </a:prstGeom>
          <a:noFill/>
        </p:spPr>
        <p:txBody>
          <a:bodyPr wrap="square" lIns="0" tIns="0" rIns="0" bIns="0" rtlCol="0" anchor="ctr"/>
          <a:lstStyle/>
          <a:p>
            <a:pPr marL="0" indent="0">
              <a:buNone/>
            </a:pPr>
            <a:r>
              <a:rPr lang="en-US" sz="1500" b="1" dirty="0">
                <a:solidFill>
                  <a:srgbClr val="0D869B"/>
                </a:solidFill>
              </a:rPr>
              <a:t>Mathematics + data science examples</a:t>
            </a:r>
            <a:endParaRPr lang="en-US" sz="1500" dirty="0"/>
          </a:p>
        </p:txBody>
      </p:sp>
      <p:sp>
        <p:nvSpPr>
          <p:cNvPr id="27" name="Text 24"/>
          <p:cNvSpPr/>
          <p:nvPr/>
        </p:nvSpPr>
        <p:spPr>
          <a:xfrm>
            <a:off x="6172200" y="1938528"/>
            <a:ext cx="4663440" cy="1417320"/>
          </a:xfrm>
          <a:prstGeom prst="rect">
            <a:avLst/>
          </a:prstGeom>
          <a:noFill/>
        </p:spPr>
        <p:txBody>
          <a:bodyPr wrap="square" lIns="508" tIns="508" rIns="508" bIns="508" rtlCol="0" anchor="ctr">
            <a:normAutofit/>
          </a:bodyPr>
          <a:lstStyle/>
          <a:p>
            <a:pPr marL="154305" indent="-154305">
              <a:buSzPct val="100000"/>
              <a:buChar char="•"/>
            </a:pPr>
            <a:r>
              <a:rPr lang="en-US" sz="1350" dirty="0">
                <a:solidFill>
                  <a:srgbClr val="273449"/>
                </a:solidFill>
              </a:rPr>
              <a:t>Analyze student marks and identify outliers</a:t>
            </a:r>
            <a:endParaRPr lang="en-US" sz="1350" dirty="0"/>
          </a:p>
          <a:p>
            <a:pPr marL="154305" indent="-154305">
              <a:buSzPct val="100000"/>
              <a:buChar char="•"/>
            </a:pPr>
            <a:r>
              <a:rPr lang="en-US" sz="1350" dirty="0">
                <a:solidFill>
                  <a:srgbClr val="273449"/>
                </a:solidFill>
              </a:rPr>
              <a:t>Fit a regression model and explain assumptions</a:t>
            </a:r>
            <a:endParaRPr lang="en-US" sz="1350" dirty="0"/>
          </a:p>
          <a:p>
            <a:pPr marL="154305" indent="-154305">
              <a:buSzPct val="100000"/>
              <a:buChar char="•"/>
            </a:pPr>
            <a:r>
              <a:rPr lang="en-US" sz="1350" dirty="0">
                <a:solidFill>
                  <a:srgbClr val="273449"/>
                </a:solidFill>
              </a:rPr>
              <a:t>Compare numerical methods from a PDF</a:t>
            </a:r>
            <a:endParaRPr lang="en-US" sz="1350" dirty="0"/>
          </a:p>
          <a:p>
            <a:pPr marL="154305" indent="-154305">
              <a:buSzPct val="100000"/>
              <a:buChar char="•"/>
            </a:pPr>
            <a:r>
              <a:rPr lang="en-US" sz="1350" dirty="0">
                <a:solidFill>
                  <a:srgbClr val="273449"/>
                </a:solidFill>
              </a:rPr>
              <a:t>Generate a radar chart from research data</a:t>
            </a:r>
            <a:endParaRPr lang="en-US" sz="1350" dirty="0"/>
          </a:p>
          <a:p>
            <a:pPr marL="154305" indent="-154305">
              <a:buSzPct val="100000"/>
              <a:buChar char="•"/>
            </a:pPr>
            <a:r>
              <a:rPr lang="en-US" sz="1350" dirty="0">
                <a:solidFill>
                  <a:srgbClr val="273449"/>
                </a:solidFill>
              </a:rPr>
              <a:t>Check calculations and show reproducible steps</a:t>
            </a:r>
            <a:endParaRPr lang="en-US" sz="1350" dirty="0"/>
          </a:p>
        </p:txBody>
      </p:sp>
      <p:sp>
        <p:nvSpPr>
          <p:cNvPr id="28" name="Text 25"/>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Help — Data Analysis with ChatGPT; Supported File Types; Working with Files (updated Jul 2026).</a:t>
            </a:r>
            <a:endParaRPr lang="en-US" sz="750" dirty="0"/>
          </a:p>
        </p:txBody>
      </p:sp>
      <p:sp>
        <p:nvSpPr>
          <p:cNvPr id="29"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Feature 4: Create &amp; Edit Images</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Describe a visual goal in words; iterate until the visual communicates the idea accurately.</a:t>
            </a:r>
            <a:endParaRPr lang="en-US" sz="1150" dirty="0"/>
          </a:p>
        </p:txBody>
      </p:sp>
      <p:sp>
        <p:nvSpPr>
          <p:cNvPr id="4" name="Shape 2"/>
          <p:cNvSpPr/>
          <p:nvPr/>
        </p:nvSpPr>
        <p:spPr>
          <a:xfrm>
            <a:off x="603504" y="1243584"/>
            <a:ext cx="5065776" cy="2322576"/>
          </a:xfrm>
          <a:prstGeom prst="roundRect">
            <a:avLst>
              <a:gd name="adj" fmla="val 4724"/>
            </a:avLst>
          </a:prstGeom>
          <a:solidFill>
            <a:srgbClr val="FFFFFF"/>
          </a:solidFill>
          <a:ln w="12700">
            <a:solidFill>
              <a:srgbClr val="DDE4EC"/>
            </a:solidFill>
            <a:prstDash val="solid"/>
          </a:ln>
          <a:effectLst>
            <a:outerShdw blurRad="-2147483648" dist="-2147483648" dir="4" algn="bl" rotWithShape="0">
              <a:srgbClr val="000000">
                <a:alpha val="1"/>
              </a:srgbClr>
            </a:outerShdw>
          </a:effectLst>
        </p:spPr>
      </p:sp>
      <p:pic>
        <p:nvPicPr>
          <p:cNvPr id="5" name="Image 0" descr="/mnt/data/WhatsApp Image 2026-07-17 at 12.07.53 AM.jpeg"/>
          <p:cNvPicPr>
            <a:picLocks noChangeAspect="1"/>
          </p:cNvPicPr>
          <p:nvPr/>
        </p:nvPicPr>
        <p:blipFill>
          <a:blip r:embed="rId1"/>
          <a:stretch>
            <a:fillRect/>
          </a:stretch>
        </p:blipFill>
        <p:spPr>
          <a:xfrm>
            <a:off x="828490" y="1298448"/>
            <a:ext cx="4615803" cy="2212848"/>
          </a:xfrm>
          <a:prstGeom prst="rect">
            <a:avLst/>
          </a:prstGeom>
        </p:spPr>
      </p:pic>
      <p:sp>
        <p:nvSpPr>
          <p:cNvPr id="6" name="Shape 3"/>
          <p:cNvSpPr/>
          <p:nvPr/>
        </p:nvSpPr>
        <p:spPr>
          <a:xfrm>
            <a:off x="658368" y="3886200"/>
            <a:ext cx="4956048" cy="1508760"/>
          </a:xfrm>
          <a:prstGeom prst="roundRect">
            <a:avLst>
              <a:gd name="adj" fmla="val 7273"/>
            </a:avLst>
          </a:prstGeom>
          <a:solidFill>
            <a:srgbClr val="FDECEC"/>
          </a:solidFill>
          <a:ln w="12700">
            <a:solidFill>
              <a:srgbClr val="F5B8B8"/>
            </a:solidFill>
            <a:prstDash val="solid"/>
          </a:ln>
          <a:effectLst>
            <a:outerShdw blurRad="-2147483648" dist="-2147483648" dir="2" algn="bl" rotWithShape="0">
              <a:srgbClr val="000000">
                <a:alpha val="1"/>
              </a:srgbClr>
            </a:outerShdw>
          </a:effectLst>
        </p:spPr>
      </p:sp>
      <p:sp>
        <p:nvSpPr>
          <p:cNvPr id="7" name="Text 4"/>
          <p:cNvSpPr/>
          <p:nvPr/>
        </p:nvSpPr>
        <p:spPr>
          <a:xfrm>
            <a:off x="896112" y="4133088"/>
            <a:ext cx="2377440" cy="237744"/>
          </a:xfrm>
          <a:prstGeom prst="rect">
            <a:avLst/>
          </a:prstGeom>
          <a:noFill/>
        </p:spPr>
        <p:txBody>
          <a:bodyPr wrap="square" lIns="0" tIns="0" rIns="0" bIns="0" rtlCol="0" anchor="ctr"/>
          <a:lstStyle/>
          <a:p>
            <a:pPr marL="0" indent="0">
              <a:buNone/>
            </a:pPr>
            <a:r>
              <a:rPr lang="en-US" sz="1200" b="1" dirty="0">
                <a:solidFill>
                  <a:srgbClr val="DC2626"/>
                </a:solidFill>
              </a:rPr>
              <a:t>Example prompt for this course</a:t>
            </a:r>
            <a:endParaRPr lang="en-US" sz="1200" dirty="0"/>
          </a:p>
        </p:txBody>
      </p:sp>
      <p:sp>
        <p:nvSpPr>
          <p:cNvPr id="8" name="Text 5"/>
          <p:cNvSpPr/>
          <p:nvPr/>
        </p:nvSpPr>
        <p:spPr>
          <a:xfrm>
            <a:off x="896112" y="4480560"/>
            <a:ext cx="4434840" cy="640080"/>
          </a:xfrm>
          <a:prstGeom prst="rect">
            <a:avLst/>
          </a:prstGeom>
          <a:noFill/>
        </p:spPr>
        <p:txBody>
          <a:bodyPr wrap="square" lIns="0" tIns="0" rIns="0" bIns="0" rtlCol="0" anchor="ctr">
            <a:normAutofit/>
          </a:bodyPr>
          <a:lstStyle/>
          <a:p>
            <a:pPr marL="0" indent="0">
              <a:buNone/>
            </a:pPr>
            <a:r>
              <a:rPr lang="en-US" sz="1250" b="1" dirty="0">
                <a:solidFill>
                  <a:srgbClr val="0B1F3A"/>
                </a:solidFill>
              </a:rPr>
              <a:t>“Create a clean infographic showing the gradient-descent process: starting point, slope, learning rate, iterations, and convergence. Use a white background and classroom-friendly labels.”</a:t>
            </a:r>
            <a:endParaRPr lang="en-US" sz="1250" dirty="0"/>
          </a:p>
        </p:txBody>
      </p:sp>
      <p:sp>
        <p:nvSpPr>
          <p:cNvPr id="9" name="Shape 6"/>
          <p:cNvSpPr/>
          <p:nvPr/>
        </p:nvSpPr>
        <p:spPr>
          <a:xfrm>
            <a:off x="5897880" y="1325880"/>
            <a:ext cx="2423160" cy="1600200"/>
          </a:xfrm>
          <a:prstGeom prst="roundRect">
            <a:avLst>
              <a:gd name="adj" fmla="val 6857"/>
            </a:avLst>
          </a:prstGeom>
          <a:solidFill>
            <a:srgbClr val="FFFFFF"/>
          </a:solidFill>
          <a:ln w="12700">
            <a:solidFill>
              <a:srgbClr val="DCE5EF"/>
            </a:solidFill>
            <a:prstDash val="solid"/>
          </a:ln>
          <a:effectLst>
            <a:outerShdw blurRad="-2147483648" dist="-2147483648" dir="1" algn="bl" rotWithShape="0">
              <a:srgbClr val="000000">
                <a:alpha val="1"/>
              </a:srgbClr>
            </a:outerShdw>
          </a:effectLst>
        </p:spPr>
      </p:sp>
      <p:sp>
        <p:nvSpPr>
          <p:cNvPr id="10" name="Shape 7"/>
          <p:cNvSpPr/>
          <p:nvPr/>
        </p:nvSpPr>
        <p:spPr>
          <a:xfrm>
            <a:off x="6099048" y="1554480"/>
            <a:ext cx="1005840" cy="310896"/>
          </a:xfrm>
          <a:prstGeom prst="roundRect">
            <a:avLst>
              <a:gd name="adj" fmla="val 44118"/>
            </a:avLst>
          </a:prstGeom>
          <a:solidFill>
            <a:srgbClr val="1677FF"/>
          </a:solidFill>
          <a:ln w="12700">
            <a:solidFill>
              <a:srgbClr val="1677FF"/>
            </a:solidFill>
            <a:prstDash val="solid"/>
          </a:ln>
        </p:spPr>
      </p:sp>
      <p:sp>
        <p:nvSpPr>
          <p:cNvPr id="11" name="Text 8"/>
          <p:cNvSpPr/>
          <p:nvPr/>
        </p:nvSpPr>
        <p:spPr>
          <a:xfrm>
            <a:off x="6172200" y="1623060"/>
            <a:ext cx="859536" cy="164592"/>
          </a:xfrm>
          <a:prstGeom prst="rect">
            <a:avLst/>
          </a:prstGeom>
          <a:noFill/>
        </p:spPr>
        <p:txBody>
          <a:bodyPr wrap="square" lIns="0" tIns="0" rIns="0" bIns="0" rtlCol="0" anchor="ctr"/>
          <a:lstStyle/>
          <a:p>
            <a:pPr marL="0" indent="0" algn="ctr">
              <a:buNone/>
            </a:pPr>
            <a:r>
              <a:rPr lang="en-US" sz="900" b="1" dirty="0">
                <a:solidFill>
                  <a:srgbClr val="FFFFFF"/>
                </a:solidFill>
              </a:rPr>
              <a:t>DIAGRAMS</a:t>
            </a:r>
            <a:endParaRPr lang="en-US" sz="900" dirty="0"/>
          </a:p>
        </p:txBody>
      </p:sp>
      <p:sp>
        <p:nvSpPr>
          <p:cNvPr id="12" name="Text 9"/>
          <p:cNvSpPr/>
          <p:nvPr/>
        </p:nvSpPr>
        <p:spPr>
          <a:xfrm>
            <a:off x="6099048" y="2103120"/>
            <a:ext cx="2011680" cy="502920"/>
          </a:xfrm>
          <a:prstGeom prst="rect">
            <a:avLst/>
          </a:prstGeom>
          <a:noFill/>
        </p:spPr>
        <p:txBody>
          <a:bodyPr wrap="square" lIns="0" tIns="0" rIns="0" bIns="0" rtlCol="0" anchor="ctr">
            <a:normAutofit/>
          </a:bodyPr>
          <a:lstStyle/>
          <a:p>
            <a:pPr marL="0" indent="0" algn="ctr">
              <a:buNone/>
            </a:pPr>
            <a:r>
              <a:rPr lang="en-US" sz="1300" b="1" dirty="0">
                <a:solidFill>
                  <a:srgbClr val="0B1F3A"/>
                </a:solidFill>
              </a:rPr>
              <a:t>Algorithms, architectures, workflows</a:t>
            </a:r>
            <a:endParaRPr lang="en-US" sz="1300" dirty="0"/>
          </a:p>
        </p:txBody>
      </p:sp>
      <p:sp>
        <p:nvSpPr>
          <p:cNvPr id="13" name="Shape 10"/>
          <p:cNvSpPr/>
          <p:nvPr/>
        </p:nvSpPr>
        <p:spPr>
          <a:xfrm>
            <a:off x="8595360" y="1325880"/>
            <a:ext cx="2423160" cy="1600200"/>
          </a:xfrm>
          <a:prstGeom prst="roundRect">
            <a:avLst>
              <a:gd name="adj" fmla="val 6857"/>
            </a:avLst>
          </a:prstGeom>
          <a:solidFill>
            <a:srgbClr val="FFFFFF"/>
          </a:solidFill>
          <a:ln w="12700">
            <a:solidFill>
              <a:srgbClr val="DCE5EF"/>
            </a:solidFill>
            <a:prstDash val="solid"/>
          </a:ln>
          <a:effectLst>
            <a:outerShdw blurRad="-2147483648" dist="-2147483648" dir="1" algn="bl" rotWithShape="0">
              <a:srgbClr val="000000">
                <a:alpha val="1"/>
              </a:srgbClr>
            </a:outerShdw>
          </a:effectLst>
        </p:spPr>
      </p:sp>
      <p:sp>
        <p:nvSpPr>
          <p:cNvPr id="14" name="Shape 11"/>
          <p:cNvSpPr/>
          <p:nvPr/>
        </p:nvSpPr>
        <p:spPr>
          <a:xfrm>
            <a:off x="8796528" y="1554480"/>
            <a:ext cx="1005840" cy="310896"/>
          </a:xfrm>
          <a:prstGeom prst="roundRect">
            <a:avLst>
              <a:gd name="adj" fmla="val 44118"/>
            </a:avLst>
          </a:prstGeom>
          <a:solidFill>
            <a:srgbClr val="16B8D4"/>
          </a:solidFill>
          <a:ln w="12700">
            <a:solidFill>
              <a:srgbClr val="16B8D4"/>
            </a:solidFill>
            <a:prstDash val="solid"/>
          </a:ln>
        </p:spPr>
      </p:sp>
      <p:sp>
        <p:nvSpPr>
          <p:cNvPr id="15" name="Text 12"/>
          <p:cNvSpPr/>
          <p:nvPr/>
        </p:nvSpPr>
        <p:spPr>
          <a:xfrm>
            <a:off x="8869680" y="1623060"/>
            <a:ext cx="859536" cy="164592"/>
          </a:xfrm>
          <a:prstGeom prst="rect">
            <a:avLst/>
          </a:prstGeom>
          <a:noFill/>
        </p:spPr>
        <p:txBody>
          <a:bodyPr wrap="square" lIns="0" tIns="0" rIns="0" bIns="0" rtlCol="0" anchor="ctr"/>
          <a:lstStyle/>
          <a:p>
            <a:pPr marL="0" indent="0" algn="ctr">
              <a:buNone/>
            </a:pPr>
            <a:r>
              <a:rPr lang="en-US" sz="900" b="1" dirty="0">
                <a:solidFill>
                  <a:srgbClr val="FFFFFF"/>
                </a:solidFill>
              </a:rPr>
              <a:t>TEACHING</a:t>
            </a:r>
            <a:endParaRPr lang="en-US" sz="900" dirty="0"/>
          </a:p>
        </p:txBody>
      </p:sp>
      <p:sp>
        <p:nvSpPr>
          <p:cNvPr id="16" name="Text 13"/>
          <p:cNvSpPr/>
          <p:nvPr/>
        </p:nvSpPr>
        <p:spPr>
          <a:xfrm>
            <a:off x="8796528" y="2103120"/>
            <a:ext cx="2011680" cy="502920"/>
          </a:xfrm>
          <a:prstGeom prst="rect">
            <a:avLst/>
          </a:prstGeom>
          <a:noFill/>
        </p:spPr>
        <p:txBody>
          <a:bodyPr wrap="square" lIns="0" tIns="0" rIns="0" bIns="0" rtlCol="0" anchor="ctr">
            <a:normAutofit/>
          </a:bodyPr>
          <a:lstStyle/>
          <a:p>
            <a:pPr marL="0" indent="0" algn="ctr">
              <a:buNone/>
            </a:pPr>
            <a:r>
              <a:rPr lang="en-US" sz="1300" b="1" dirty="0">
                <a:solidFill>
                  <a:srgbClr val="0B1F3A"/>
                </a:solidFill>
              </a:rPr>
              <a:t>Concept cards, examples, worksheets</a:t>
            </a:r>
            <a:endParaRPr lang="en-US" sz="1300" dirty="0"/>
          </a:p>
        </p:txBody>
      </p:sp>
      <p:sp>
        <p:nvSpPr>
          <p:cNvPr id="17" name="Shape 14"/>
          <p:cNvSpPr/>
          <p:nvPr/>
        </p:nvSpPr>
        <p:spPr>
          <a:xfrm>
            <a:off x="5897880" y="3291840"/>
            <a:ext cx="2423160" cy="1600200"/>
          </a:xfrm>
          <a:prstGeom prst="roundRect">
            <a:avLst>
              <a:gd name="adj" fmla="val 6857"/>
            </a:avLst>
          </a:prstGeom>
          <a:solidFill>
            <a:srgbClr val="FFFFFF"/>
          </a:solidFill>
          <a:ln w="12700">
            <a:solidFill>
              <a:srgbClr val="DCE5EF"/>
            </a:solidFill>
            <a:prstDash val="solid"/>
          </a:ln>
          <a:effectLst>
            <a:outerShdw blurRad="-2147483648" dist="-2147483648" dir="6" algn="bl" rotWithShape="0">
              <a:srgbClr val="000000">
                <a:alpha val="1"/>
              </a:srgbClr>
            </a:outerShdw>
          </a:effectLst>
        </p:spPr>
      </p:sp>
      <p:sp>
        <p:nvSpPr>
          <p:cNvPr id="18" name="Shape 15"/>
          <p:cNvSpPr/>
          <p:nvPr/>
        </p:nvSpPr>
        <p:spPr>
          <a:xfrm>
            <a:off x="6099048" y="3520440"/>
            <a:ext cx="1005840" cy="310896"/>
          </a:xfrm>
          <a:prstGeom prst="roundRect">
            <a:avLst>
              <a:gd name="adj" fmla="val 44118"/>
            </a:avLst>
          </a:prstGeom>
          <a:solidFill>
            <a:srgbClr val="F59E0B"/>
          </a:solidFill>
          <a:ln w="12700">
            <a:solidFill>
              <a:srgbClr val="F59E0B"/>
            </a:solidFill>
            <a:prstDash val="solid"/>
          </a:ln>
        </p:spPr>
      </p:sp>
      <p:sp>
        <p:nvSpPr>
          <p:cNvPr id="19" name="Text 16"/>
          <p:cNvSpPr/>
          <p:nvPr/>
        </p:nvSpPr>
        <p:spPr>
          <a:xfrm>
            <a:off x="6172200" y="3589020"/>
            <a:ext cx="859536" cy="164592"/>
          </a:xfrm>
          <a:prstGeom prst="rect">
            <a:avLst/>
          </a:prstGeom>
          <a:noFill/>
        </p:spPr>
        <p:txBody>
          <a:bodyPr wrap="square" lIns="0" tIns="0" rIns="0" bIns="0" rtlCol="0" anchor="ctr"/>
          <a:lstStyle/>
          <a:p>
            <a:pPr marL="0" indent="0" algn="ctr">
              <a:buNone/>
            </a:pPr>
            <a:r>
              <a:rPr lang="en-US" sz="900" b="1" dirty="0">
                <a:solidFill>
                  <a:srgbClr val="FFFFFF"/>
                </a:solidFill>
              </a:rPr>
              <a:t>RESEARCH</a:t>
            </a:r>
            <a:endParaRPr lang="en-US" sz="900" dirty="0"/>
          </a:p>
        </p:txBody>
      </p:sp>
      <p:sp>
        <p:nvSpPr>
          <p:cNvPr id="20" name="Text 17"/>
          <p:cNvSpPr/>
          <p:nvPr/>
        </p:nvSpPr>
        <p:spPr>
          <a:xfrm>
            <a:off x="6099048" y="4069080"/>
            <a:ext cx="2011680" cy="502920"/>
          </a:xfrm>
          <a:prstGeom prst="rect">
            <a:avLst/>
          </a:prstGeom>
          <a:noFill/>
        </p:spPr>
        <p:txBody>
          <a:bodyPr wrap="square" lIns="0" tIns="0" rIns="0" bIns="0" rtlCol="0" anchor="ctr">
            <a:normAutofit/>
          </a:bodyPr>
          <a:lstStyle/>
          <a:p>
            <a:pPr marL="0" indent="0" algn="ctr">
              <a:buNone/>
            </a:pPr>
            <a:r>
              <a:rPr lang="en-US" sz="1300" b="1" dirty="0">
                <a:solidFill>
                  <a:srgbClr val="0B1F3A"/>
                </a:solidFill>
              </a:rPr>
              <a:t>Graphical abstracts and posters</a:t>
            </a:r>
            <a:endParaRPr lang="en-US" sz="1300" dirty="0"/>
          </a:p>
        </p:txBody>
      </p:sp>
      <p:sp>
        <p:nvSpPr>
          <p:cNvPr id="21" name="Shape 18"/>
          <p:cNvSpPr/>
          <p:nvPr/>
        </p:nvSpPr>
        <p:spPr>
          <a:xfrm>
            <a:off x="8595360" y="3291840"/>
            <a:ext cx="2423160" cy="1600200"/>
          </a:xfrm>
          <a:prstGeom prst="roundRect">
            <a:avLst>
              <a:gd name="adj" fmla="val 6857"/>
            </a:avLst>
          </a:prstGeom>
          <a:solidFill>
            <a:srgbClr val="FFFFFF"/>
          </a:solidFill>
          <a:ln w="12700">
            <a:solidFill>
              <a:srgbClr val="DCE5EF"/>
            </a:solidFill>
            <a:prstDash val="solid"/>
          </a:ln>
          <a:effectLst>
            <a:outerShdw blurRad="-2147483648" dist="-2147483648" dir="3" algn="bl" rotWithShape="0">
              <a:srgbClr val="000000">
                <a:alpha val="1"/>
              </a:srgbClr>
            </a:outerShdw>
          </a:effectLst>
        </p:spPr>
      </p:sp>
      <p:sp>
        <p:nvSpPr>
          <p:cNvPr id="22" name="Shape 19"/>
          <p:cNvSpPr/>
          <p:nvPr/>
        </p:nvSpPr>
        <p:spPr>
          <a:xfrm>
            <a:off x="8796528" y="3520440"/>
            <a:ext cx="1005840" cy="310896"/>
          </a:xfrm>
          <a:prstGeom prst="roundRect">
            <a:avLst>
              <a:gd name="adj" fmla="val 44118"/>
            </a:avLst>
          </a:prstGeom>
          <a:solidFill>
            <a:srgbClr val="DC2626"/>
          </a:solidFill>
          <a:ln w="12700">
            <a:solidFill>
              <a:srgbClr val="DC2626"/>
            </a:solidFill>
            <a:prstDash val="solid"/>
          </a:ln>
        </p:spPr>
      </p:sp>
      <p:sp>
        <p:nvSpPr>
          <p:cNvPr id="23" name="Text 20"/>
          <p:cNvSpPr/>
          <p:nvPr/>
        </p:nvSpPr>
        <p:spPr>
          <a:xfrm>
            <a:off x="8869680" y="3589020"/>
            <a:ext cx="859536" cy="164592"/>
          </a:xfrm>
          <a:prstGeom prst="rect">
            <a:avLst/>
          </a:prstGeom>
          <a:noFill/>
        </p:spPr>
        <p:txBody>
          <a:bodyPr wrap="square" lIns="0" tIns="0" rIns="0" bIns="0" rtlCol="0" anchor="ctr"/>
          <a:lstStyle/>
          <a:p>
            <a:pPr marL="0" indent="0" algn="ctr">
              <a:buNone/>
            </a:pPr>
            <a:r>
              <a:rPr lang="en-US" sz="900" b="1" dirty="0">
                <a:solidFill>
                  <a:srgbClr val="FFFFFF"/>
                </a:solidFill>
              </a:rPr>
              <a:t>EDITING</a:t>
            </a:r>
            <a:endParaRPr lang="en-US" sz="900" dirty="0"/>
          </a:p>
        </p:txBody>
      </p:sp>
      <p:sp>
        <p:nvSpPr>
          <p:cNvPr id="24" name="Text 21"/>
          <p:cNvSpPr/>
          <p:nvPr/>
        </p:nvSpPr>
        <p:spPr>
          <a:xfrm>
            <a:off x="8796528" y="4069080"/>
            <a:ext cx="2011680" cy="502920"/>
          </a:xfrm>
          <a:prstGeom prst="rect">
            <a:avLst/>
          </a:prstGeom>
          <a:noFill/>
        </p:spPr>
        <p:txBody>
          <a:bodyPr wrap="square" lIns="0" tIns="0" rIns="0" bIns="0" rtlCol="0" anchor="ctr">
            <a:normAutofit/>
          </a:bodyPr>
          <a:lstStyle/>
          <a:p>
            <a:pPr marL="0" indent="0" algn="ctr">
              <a:buNone/>
            </a:pPr>
            <a:r>
              <a:rPr lang="en-US" sz="1300" b="1" dirty="0">
                <a:solidFill>
                  <a:srgbClr val="0B1F3A"/>
                </a:solidFill>
              </a:rPr>
              <a:t>Remove, replace, restyle, or improve visuals</a:t>
            </a:r>
            <a:endParaRPr lang="en-US" sz="1300" dirty="0"/>
          </a:p>
        </p:txBody>
      </p:sp>
      <p:sp>
        <p:nvSpPr>
          <p:cNvPr id="25" name="Text 22"/>
          <p:cNvSpPr/>
          <p:nvPr/>
        </p:nvSpPr>
        <p:spPr>
          <a:xfrm>
            <a:off x="6035040" y="5440680"/>
            <a:ext cx="4937760" cy="274320"/>
          </a:xfrm>
          <a:prstGeom prst="rect">
            <a:avLst/>
          </a:prstGeom>
          <a:noFill/>
        </p:spPr>
        <p:txBody>
          <a:bodyPr wrap="square" lIns="0" tIns="0" rIns="0" bIns="0" rtlCol="0" anchor="ctr"/>
          <a:lstStyle/>
          <a:p>
            <a:pPr marL="0" indent="0" algn="ctr">
              <a:buNone/>
            </a:pPr>
            <a:r>
              <a:rPr lang="en-US" sz="1200" b="1" dirty="0">
                <a:solidFill>
                  <a:srgbClr val="DC2626"/>
                </a:solidFill>
              </a:rPr>
              <a:t>Always check labels, equations, units, and visual accuracy.</a:t>
            </a:r>
            <a:endParaRPr lang="en-US" sz="1200" dirty="0"/>
          </a:p>
        </p:txBody>
      </p:sp>
      <p:sp>
        <p:nvSpPr>
          <p:cNvPr id="26" name="Text 23"/>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Help — ChatGPT Capabilities Overview; OpenAI — ChatGPT Images 2.0 (21 Apr 2026).</a:t>
            </a:r>
            <a:endParaRPr lang="en-US" sz="750" dirty="0"/>
          </a:p>
        </p:txBody>
      </p:sp>
      <p:sp>
        <p:nvSpPr>
          <p:cNvPr id="27"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Voice Mode: Learn by Conversation</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Speak naturally, hear the response, interrupt, clarify, and continue in the same chat.</a:t>
            </a:r>
            <a:endParaRPr lang="en-US" sz="1150" dirty="0"/>
          </a:p>
        </p:txBody>
      </p:sp>
      <p:sp>
        <p:nvSpPr>
          <p:cNvPr id="4" name="Shape 2"/>
          <p:cNvSpPr/>
          <p:nvPr/>
        </p:nvSpPr>
        <p:spPr>
          <a:xfrm>
            <a:off x="868680" y="1325880"/>
            <a:ext cx="3383280" cy="3383280"/>
          </a:xfrm>
          <a:prstGeom prst="ellipse">
            <a:avLst/>
          </a:prstGeom>
          <a:solidFill>
            <a:srgbClr val="0B1F3A"/>
          </a:solidFill>
          <a:ln w="12700">
            <a:solidFill>
              <a:srgbClr val="0B1F3A"/>
            </a:solidFill>
            <a:prstDash val="solid"/>
          </a:ln>
          <a:effectLst>
            <a:outerShdw blurRad="-2147483648" dist="-2147483648" dir="2" algn="bl" rotWithShape="0">
              <a:srgbClr val="000000">
                <a:alpha val="1"/>
              </a:srgbClr>
            </a:outerShdw>
          </a:effectLst>
        </p:spPr>
      </p:sp>
      <p:sp>
        <p:nvSpPr>
          <p:cNvPr id="5" name="Shape 3"/>
          <p:cNvSpPr/>
          <p:nvPr/>
        </p:nvSpPr>
        <p:spPr>
          <a:xfrm>
            <a:off x="1344168" y="2784348"/>
            <a:ext cx="173736" cy="502920"/>
          </a:xfrm>
          <a:prstGeom prst="roundRect">
            <a:avLst>
              <a:gd name="adj" fmla="val 47368"/>
            </a:avLst>
          </a:prstGeom>
          <a:solidFill>
            <a:srgbClr val="FFFFFF"/>
          </a:solidFill>
          <a:ln w="12700">
            <a:solidFill>
              <a:srgbClr val="FFFFFF"/>
            </a:solidFill>
            <a:prstDash val="solid"/>
          </a:ln>
        </p:spPr>
      </p:sp>
      <p:sp>
        <p:nvSpPr>
          <p:cNvPr id="6" name="Shape 4"/>
          <p:cNvSpPr/>
          <p:nvPr/>
        </p:nvSpPr>
        <p:spPr>
          <a:xfrm>
            <a:off x="1691640" y="2487168"/>
            <a:ext cx="173736" cy="1097280"/>
          </a:xfrm>
          <a:prstGeom prst="roundRect">
            <a:avLst>
              <a:gd name="adj" fmla="val 47368"/>
            </a:avLst>
          </a:prstGeom>
          <a:solidFill>
            <a:srgbClr val="FFFFFF"/>
          </a:solidFill>
          <a:ln w="12700">
            <a:solidFill>
              <a:srgbClr val="FFFFFF"/>
            </a:solidFill>
            <a:prstDash val="solid"/>
          </a:ln>
        </p:spPr>
      </p:sp>
      <p:sp>
        <p:nvSpPr>
          <p:cNvPr id="7" name="Shape 5"/>
          <p:cNvSpPr/>
          <p:nvPr/>
        </p:nvSpPr>
        <p:spPr>
          <a:xfrm>
            <a:off x="2039112" y="2647188"/>
            <a:ext cx="173736" cy="777240"/>
          </a:xfrm>
          <a:prstGeom prst="roundRect">
            <a:avLst>
              <a:gd name="adj" fmla="val 47368"/>
            </a:avLst>
          </a:prstGeom>
          <a:solidFill>
            <a:srgbClr val="FFFFFF"/>
          </a:solidFill>
          <a:ln w="12700">
            <a:solidFill>
              <a:srgbClr val="FFFFFF"/>
            </a:solidFill>
            <a:prstDash val="solid"/>
          </a:ln>
        </p:spPr>
      </p:sp>
      <p:sp>
        <p:nvSpPr>
          <p:cNvPr id="8" name="Shape 6"/>
          <p:cNvSpPr/>
          <p:nvPr/>
        </p:nvSpPr>
        <p:spPr>
          <a:xfrm>
            <a:off x="2386584" y="2235708"/>
            <a:ext cx="173736" cy="1600200"/>
          </a:xfrm>
          <a:prstGeom prst="roundRect">
            <a:avLst>
              <a:gd name="adj" fmla="val 47368"/>
            </a:avLst>
          </a:prstGeom>
          <a:solidFill>
            <a:srgbClr val="F59E0B"/>
          </a:solidFill>
          <a:ln w="12700">
            <a:solidFill>
              <a:srgbClr val="F59E0B"/>
            </a:solidFill>
            <a:prstDash val="solid"/>
          </a:ln>
        </p:spPr>
      </p:sp>
      <p:sp>
        <p:nvSpPr>
          <p:cNvPr id="9" name="Shape 7"/>
          <p:cNvSpPr/>
          <p:nvPr/>
        </p:nvSpPr>
        <p:spPr>
          <a:xfrm>
            <a:off x="2734056" y="2555748"/>
            <a:ext cx="173736" cy="960120"/>
          </a:xfrm>
          <a:prstGeom prst="roundRect">
            <a:avLst>
              <a:gd name="adj" fmla="val 47368"/>
            </a:avLst>
          </a:prstGeom>
          <a:solidFill>
            <a:srgbClr val="FFFFFF"/>
          </a:solidFill>
          <a:ln w="12700">
            <a:solidFill>
              <a:srgbClr val="FFFFFF"/>
            </a:solidFill>
            <a:prstDash val="solid"/>
          </a:ln>
        </p:spPr>
      </p:sp>
      <p:sp>
        <p:nvSpPr>
          <p:cNvPr id="10" name="Shape 8"/>
          <p:cNvSpPr/>
          <p:nvPr/>
        </p:nvSpPr>
        <p:spPr>
          <a:xfrm>
            <a:off x="3081528" y="2372868"/>
            <a:ext cx="173736" cy="1325880"/>
          </a:xfrm>
          <a:prstGeom prst="roundRect">
            <a:avLst>
              <a:gd name="adj" fmla="val 47368"/>
            </a:avLst>
          </a:prstGeom>
          <a:solidFill>
            <a:srgbClr val="FFFFFF"/>
          </a:solidFill>
          <a:ln w="12700">
            <a:solidFill>
              <a:srgbClr val="FFFFFF"/>
            </a:solidFill>
            <a:prstDash val="solid"/>
          </a:ln>
        </p:spPr>
      </p:sp>
      <p:sp>
        <p:nvSpPr>
          <p:cNvPr id="11" name="Shape 9"/>
          <p:cNvSpPr/>
          <p:nvPr/>
        </p:nvSpPr>
        <p:spPr>
          <a:xfrm>
            <a:off x="3429000" y="2715768"/>
            <a:ext cx="173736" cy="640080"/>
          </a:xfrm>
          <a:prstGeom prst="roundRect">
            <a:avLst>
              <a:gd name="adj" fmla="val 47368"/>
            </a:avLst>
          </a:prstGeom>
          <a:solidFill>
            <a:srgbClr val="FFFFFF"/>
          </a:solidFill>
          <a:ln w="12700">
            <a:solidFill>
              <a:srgbClr val="FFFFFF"/>
            </a:solidFill>
            <a:prstDash val="solid"/>
          </a:ln>
        </p:spPr>
      </p:sp>
      <p:sp>
        <p:nvSpPr>
          <p:cNvPr id="12" name="Text 10"/>
          <p:cNvSpPr/>
          <p:nvPr/>
        </p:nvSpPr>
        <p:spPr>
          <a:xfrm>
            <a:off x="1527048" y="3657600"/>
            <a:ext cx="2011680" cy="365760"/>
          </a:xfrm>
          <a:prstGeom prst="rect">
            <a:avLst/>
          </a:prstGeom>
          <a:noFill/>
        </p:spPr>
        <p:txBody>
          <a:bodyPr wrap="square" lIns="0" tIns="0" rIns="0" bIns="0" rtlCol="0" anchor="ctr"/>
          <a:lstStyle/>
          <a:p>
            <a:pPr marL="0" indent="0" algn="ctr">
              <a:buNone/>
            </a:pPr>
            <a:r>
              <a:rPr lang="en-US" sz="2000" b="1" dirty="0">
                <a:solidFill>
                  <a:srgbClr val="FFFFFF"/>
                </a:solidFill>
              </a:rPr>
              <a:t>VOICE</a:t>
            </a:r>
            <a:endParaRPr lang="en-US" sz="2000" dirty="0"/>
          </a:p>
        </p:txBody>
      </p:sp>
      <p:sp>
        <p:nvSpPr>
          <p:cNvPr id="13" name="Shape 11"/>
          <p:cNvSpPr/>
          <p:nvPr/>
        </p:nvSpPr>
        <p:spPr>
          <a:xfrm>
            <a:off x="4800600" y="1298448"/>
            <a:ext cx="6400800" cy="841248"/>
          </a:xfrm>
          <a:prstGeom prst="roundRect">
            <a:avLst>
              <a:gd name="adj" fmla="val 13043"/>
            </a:avLst>
          </a:prstGeom>
          <a:solidFill>
            <a:srgbClr val="FFFFFF"/>
          </a:solidFill>
          <a:ln w="12700">
            <a:solidFill>
              <a:srgbClr val="DCE5EF"/>
            </a:solidFill>
            <a:prstDash val="solid"/>
          </a:ln>
          <a:effectLst>
            <a:outerShdw blurRad="-2147483648" dist="-2147483648" dir="1" algn="bl" rotWithShape="0">
              <a:srgbClr val="000000">
                <a:alpha val="1"/>
              </a:srgbClr>
            </a:outerShdw>
          </a:effectLst>
        </p:spPr>
      </p:sp>
      <p:sp>
        <p:nvSpPr>
          <p:cNvPr id="14" name="Shape 12"/>
          <p:cNvSpPr/>
          <p:nvPr/>
        </p:nvSpPr>
        <p:spPr>
          <a:xfrm>
            <a:off x="5047488" y="1490472"/>
            <a:ext cx="438912" cy="438912"/>
          </a:xfrm>
          <a:prstGeom prst="ellipse">
            <a:avLst/>
          </a:prstGeom>
          <a:solidFill>
            <a:srgbClr val="7C3AED"/>
          </a:solidFill>
          <a:ln w="12700">
            <a:solidFill>
              <a:srgbClr val="7C3AED"/>
            </a:solidFill>
            <a:prstDash val="solid"/>
          </a:ln>
        </p:spPr>
      </p:sp>
      <p:sp>
        <p:nvSpPr>
          <p:cNvPr id="15" name="Text 13"/>
          <p:cNvSpPr/>
          <p:nvPr/>
        </p:nvSpPr>
        <p:spPr>
          <a:xfrm>
            <a:off x="5047488" y="1572768"/>
            <a:ext cx="438912" cy="182880"/>
          </a:xfrm>
          <a:prstGeom prst="rect">
            <a:avLst/>
          </a:prstGeom>
          <a:noFill/>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6" name="Text 14"/>
          <p:cNvSpPr/>
          <p:nvPr/>
        </p:nvSpPr>
        <p:spPr>
          <a:xfrm>
            <a:off x="5696712" y="1444752"/>
            <a:ext cx="1645920" cy="237744"/>
          </a:xfrm>
          <a:prstGeom prst="rect">
            <a:avLst/>
          </a:prstGeom>
          <a:noFill/>
        </p:spPr>
        <p:txBody>
          <a:bodyPr wrap="square" lIns="0" tIns="0" rIns="0" bIns="0" rtlCol="0" anchor="ctr"/>
          <a:lstStyle/>
          <a:p>
            <a:pPr marL="0" indent="0">
              <a:buNone/>
            </a:pPr>
            <a:r>
              <a:rPr lang="en-US" sz="1400" b="1" dirty="0">
                <a:solidFill>
                  <a:srgbClr val="0B1F3A"/>
                </a:solidFill>
              </a:rPr>
              <a:t>Viva practice</a:t>
            </a:r>
            <a:endParaRPr lang="en-US" sz="1400" dirty="0"/>
          </a:p>
        </p:txBody>
      </p:sp>
      <p:sp>
        <p:nvSpPr>
          <p:cNvPr id="17" name="Text 15"/>
          <p:cNvSpPr/>
          <p:nvPr/>
        </p:nvSpPr>
        <p:spPr>
          <a:xfrm>
            <a:off x="7360920" y="1444752"/>
            <a:ext cx="3474720" cy="384048"/>
          </a:xfrm>
          <a:prstGeom prst="rect">
            <a:avLst/>
          </a:prstGeom>
          <a:noFill/>
        </p:spPr>
        <p:txBody>
          <a:bodyPr wrap="square" lIns="0" tIns="0" rIns="0" bIns="0" rtlCol="0" anchor="ctr">
            <a:normAutofit/>
          </a:bodyPr>
          <a:lstStyle/>
          <a:p>
            <a:pPr marL="0" indent="0">
              <a:buNone/>
            </a:pPr>
            <a:r>
              <a:rPr lang="en-US" sz="1100" dirty="0">
                <a:solidFill>
                  <a:srgbClr val="273449"/>
                </a:solidFill>
              </a:rPr>
              <a:t>Ask follow-up questions and receive feedback</a:t>
            </a:r>
            <a:endParaRPr lang="en-US" sz="1100" dirty="0"/>
          </a:p>
        </p:txBody>
      </p:sp>
      <p:sp>
        <p:nvSpPr>
          <p:cNvPr id="18" name="Shape 16"/>
          <p:cNvSpPr/>
          <p:nvPr/>
        </p:nvSpPr>
        <p:spPr>
          <a:xfrm>
            <a:off x="4800600" y="2377440"/>
            <a:ext cx="6400800" cy="841248"/>
          </a:xfrm>
          <a:prstGeom prst="roundRect">
            <a:avLst>
              <a:gd name="adj" fmla="val 13043"/>
            </a:avLst>
          </a:prstGeom>
          <a:solidFill>
            <a:srgbClr val="FFFFFF"/>
          </a:solidFill>
          <a:ln w="12700">
            <a:solidFill>
              <a:srgbClr val="DCE5EF"/>
            </a:solidFill>
            <a:prstDash val="solid"/>
          </a:ln>
          <a:effectLst>
            <a:outerShdw blurRad="-2147483648" dist="-2147483648" dir="7" algn="bl" rotWithShape="0">
              <a:srgbClr val="000000">
                <a:alpha val="1"/>
              </a:srgbClr>
            </a:outerShdw>
          </a:effectLst>
        </p:spPr>
      </p:sp>
      <p:sp>
        <p:nvSpPr>
          <p:cNvPr id="19" name="Shape 17"/>
          <p:cNvSpPr/>
          <p:nvPr/>
        </p:nvSpPr>
        <p:spPr>
          <a:xfrm>
            <a:off x="5047488" y="2569464"/>
            <a:ext cx="438912" cy="438912"/>
          </a:xfrm>
          <a:prstGeom prst="ellipse">
            <a:avLst/>
          </a:prstGeom>
          <a:solidFill>
            <a:srgbClr val="16B8D4"/>
          </a:solidFill>
          <a:ln w="12700">
            <a:solidFill>
              <a:srgbClr val="16B8D4"/>
            </a:solidFill>
            <a:prstDash val="solid"/>
          </a:ln>
        </p:spPr>
      </p:sp>
      <p:sp>
        <p:nvSpPr>
          <p:cNvPr id="20" name="Text 18"/>
          <p:cNvSpPr/>
          <p:nvPr/>
        </p:nvSpPr>
        <p:spPr>
          <a:xfrm>
            <a:off x="5047488" y="2651760"/>
            <a:ext cx="438912" cy="182880"/>
          </a:xfrm>
          <a:prstGeom prst="rect">
            <a:avLst/>
          </a:prstGeom>
          <a:noFill/>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21" name="Text 19"/>
          <p:cNvSpPr/>
          <p:nvPr/>
        </p:nvSpPr>
        <p:spPr>
          <a:xfrm>
            <a:off x="5696712" y="2523744"/>
            <a:ext cx="1645920" cy="237744"/>
          </a:xfrm>
          <a:prstGeom prst="rect">
            <a:avLst/>
          </a:prstGeom>
          <a:noFill/>
        </p:spPr>
        <p:txBody>
          <a:bodyPr wrap="square" lIns="0" tIns="0" rIns="0" bIns="0" rtlCol="0" anchor="ctr"/>
          <a:lstStyle/>
          <a:p>
            <a:pPr marL="0" indent="0">
              <a:buNone/>
            </a:pPr>
            <a:r>
              <a:rPr lang="en-US" sz="1400" b="1" dirty="0">
                <a:solidFill>
                  <a:srgbClr val="0B1F3A"/>
                </a:solidFill>
              </a:rPr>
              <a:t>Concept tutoring</a:t>
            </a:r>
            <a:endParaRPr lang="en-US" sz="1400" dirty="0"/>
          </a:p>
        </p:txBody>
      </p:sp>
      <p:sp>
        <p:nvSpPr>
          <p:cNvPr id="22" name="Text 20"/>
          <p:cNvSpPr/>
          <p:nvPr/>
        </p:nvSpPr>
        <p:spPr>
          <a:xfrm>
            <a:off x="7360920" y="2523744"/>
            <a:ext cx="3474720" cy="384048"/>
          </a:xfrm>
          <a:prstGeom prst="rect">
            <a:avLst/>
          </a:prstGeom>
          <a:noFill/>
        </p:spPr>
        <p:txBody>
          <a:bodyPr wrap="square" lIns="0" tIns="0" rIns="0" bIns="0" rtlCol="0" anchor="ctr">
            <a:normAutofit/>
          </a:bodyPr>
          <a:lstStyle/>
          <a:p>
            <a:pPr marL="0" indent="0">
              <a:buNone/>
            </a:pPr>
            <a:r>
              <a:rPr lang="en-US" sz="1100" dirty="0">
                <a:solidFill>
                  <a:srgbClr val="273449"/>
                </a:solidFill>
              </a:rPr>
              <a:t>Explain eigenvalues at beginner, intermediate, or advanced level</a:t>
            </a:r>
            <a:endParaRPr lang="en-US" sz="1100" dirty="0"/>
          </a:p>
        </p:txBody>
      </p:sp>
      <p:sp>
        <p:nvSpPr>
          <p:cNvPr id="23" name="Shape 21"/>
          <p:cNvSpPr/>
          <p:nvPr/>
        </p:nvSpPr>
        <p:spPr>
          <a:xfrm>
            <a:off x="4800600" y="3456432"/>
            <a:ext cx="6400800" cy="841248"/>
          </a:xfrm>
          <a:prstGeom prst="roundRect">
            <a:avLst>
              <a:gd name="adj" fmla="val 13043"/>
            </a:avLst>
          </a:prstGeom>
          <a:solidFill>
            <a:srgbClr val="FFFFFF"/>
          </a:solidFill>
          <a:ln w="12700">
            <a:solidFill>
              <a:srgbClr val="DCE5EF"/>
            </a:solidFill>
            <a:prstDash val="solid"/>
          </a:ln>
          <a:effectLst>
            <a:outerShdw blurRad="-2147483648" dist="-2147483648" dir="4" algn="bl" rotWithShape="0">
              <a:srgbClr val="000000">
                <a:alpha val="1"/>
              </a:srgbClr>
            </a:outerShdw>
          </a:effectLst>
        </p:spPr>
      </p:sp>
      <p:sp>
        <p:nvSpPr>
          <p:cNvPr id="24" name="Shape 22"/>
          <p:cNvSpPr/>
          <p:nvPr/>
        </p:nvSpPr>
        <p:spPr>
          <a:xfrm>
            <a:off x="5047488" y="3648456"/>
            <a:ext cx="438912" cy="438912"/>
          </a:xfrm>
          <a:prstGeom prst="ellipse">
            <a:avLst/>
          </a:prstGeom>
          <a:solidFill>
            <a:srgbClr val="7C3AED"/>
          </a:solidFill>
          <a:ln w="12700">
            <a:solidFill>
              <a:srgbClr val="7C3AED"/>
            </a:solidFill>
            <a:prstDash val="solid"/>
          </a:ln>
        </p:spPr>
      </p:sp>
      <p:sp>
        <p:nvSpPr>
          <p:cNvPr id="25" name="Text 23"/>
          <p:cNvSpPr/>
          <p:nvPr/>
        </p:nvSpPr>
        <p:spPr>
          <a:xfrm>
            <a:off x="5047488" y="3730752"/>
            <a:ext cx="438912" cy="182880"/>
          </a:xfrm>
          <a:prstGeom prst="rect">
            <a:avLst/>
          </a:prstGeom>
          <a:noFill/>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6" name="Text 24"/>
          <p:cNvSpPr/>
          <p:nvPr/>
        </p:nvSpPr>
        <p:spPr>
          <a:xfrm>
            <a:off x="5696712" y="3602736"/>
            <a:ext cx="1645920" cy="237744"/>
          </a:xfrm>
          <a:prstGeom prst="rect">
            <a:avLst/>
          </a:prstGeom>
          <a:noFill/>
        </p:spPr>
        <p:txBody>
          <a:bodyPr wrap="square" lIns="0" tIns="0" rIns="0" bIns="0" rtlCol="0" anchor="ctr"/>
          <a:lstStyle/>
          <a:p>
            <a:pPr marL="0" indent="0">
              <a:buNone/>
            </a:pPr>
            <a:r>
              <a:rPr lang="en-US" sz="1400" b="1" dirty="0">
                <a:solidFill>
                  <a:srgbClr val="0B1F3A"/>
                </a:solidFill>
              </a:rPr>
              <a:t>Language fluency</a:t>
            </a:r>
            <a:endParaRPr lang="en-US" sz="1400" dirty="0"/>
          </a:p>
        </p:txBody>
      </p:sp>
      <p:sp>
        <p:nvSpPr>
          <p:cNvPr id="27" name="Text 25"/>
          <p:cNvSpPr/>
          <p:nvPr/>
        </p:nvSpPr>
        <p:spPr>
          <a:xfrm>
            <a:off x="7360920" y="3602736"/>
            <a:ext cx="3474720" cy="384048"/>
          </a:xfrm>
          <a:prstGeom prst="rect">
            <a:avLst/>
          </a:prstGeom>
          <a:noFill/>
        </p:spPr>
        <p:txBody>
          <a:bodyPr wrap="square" lIns="0" tIns="0" rIns="0" bIns="0" rtlCol="0" anchor="ctr">
            <a:normAutofit/>
          </a:bodyPr>
          <a:lstStyle/>
          <a:p>
            <a:pPr marL="0" indent="0">
              <a:buNone/>
            </a:pPr>
            <a:r>
              <a:rPr lang="en-US" sz="1100" dirty="0">
                <a:solidFill>
                  <a:srgbClr val="273449"/>
                </a:solidFill>
              </a:rPr>
              <a:t>Practice academic English or presentation delivery</a:t>
            </a:r>
            <a:endParaRPr lang="en-US" sz="1100" dirty="0"/>
          </a:p>
        </p:txBody>
      </p:sp>
      <p:sp>
        <p:nvSpPr>
          <p:cNvPr id="28" name="Shape 26"/>
          <p:cNvSpPr/>
          <p:nvPr/>
        </p:nvSpPr>
        <p:spPr>
          <a:xfrm>
            <a:off x="4800600" y="4535424"/>
            <a:ext cx="6400800" cy="841248"/>
          </a:xfrm>
          <a:prstGeom prst="roundRect">
            <a:avLst>
              <a:gd name="adj" fmla="val 13043"/>
            </a:avLst>
          </a:prstGeom>
          <a:solidFill>
            <a:srgbClr val="FFFFFF"/>
          </a:solidFill>
          <a:ln w="12700">
            <a:solidFill>
              <a:srgbClr val="DCE5EF"/>
            </a:solidFill>
            <a:prstDash val="solid"/>
          </a:ln>
          <a:effectLst>
            <a:outerShdw blurRad="-2147483648" dist="-2147483648" dir="2" algn="bl" rotWithShape="0">
              <a:srgbClr val="000000">
                <a:alpha val="1"/>
              </a:srgbClr>
            </a:outerShdw>
          </a:effectLst>
        </p:spPr>
      </p:sp>
      <p:sp>
        <p:nvSpPr>
          <p:cNvPr id="29" name="Shape 27"/>
          <p:cNvSpPr/>
          <p:nvPr/>
        </p:nvSpPr>
        <p:spPr>
          <a:xfrm>
            <a:off x="5047488" y="4727448"/>
            <a:ext cx="438912" cy="438912"/>
          </a:xfrm>
          <a:prstGeom prst="ellipse">
            <a:avLst/>
          </a:prstGeom>
          <a:solidFill>
            <a:srgbClr val="16B8D4"/>
          </a:solidFill>
          <a:ln w="12700">
            <a:solidFill>
              <a:srgbClr val="16B8D4"/>
            </a:solidFill>
            <a:prstDash val="solid"/>
          </a:ln>
        </p:spPr>
      </p:sp>
      <p:sp>
        <p:nvSpPr>
          <p:cNvPr id="30" name="Text 28"/>
          <p:cNvSpPr/>
          <p:nvPr/>
        </p:nvSpPr>
        <p:spPr>
          <a:xfrm>
            <a:off x="5047488" y="4809744"/>
            <a:ext cx="438912" cy="182880"/>
          </a:xfrm>
          <a:prstGeom prst="rect">
            <a:avLst/>
          </a:prstGeom>
          <a:noFill/>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31" name="Text 29"/>
          <p:cNvSpPr/>
          <p:nvPr/>
        </p:nvSpPr>
        <p:spPr>
          <a:xfrm>
            <a:off x="5696712" y="4681728"/>
            <a:ext cx="1645920" cy="237744"/>
          </a:xfrm>
          <a:prstGeom prst="rect">
            <a:avLst/>
          </a:prstGeom>
          <a:noFill/>
        </p:spPr>
        <p:txBody>
          <a:bodyPr wrap="square" lIns="0" tIns="0" rIns="0" bIns="0" rtlCol="0" anchor="ctr"/>
          <a:lstStyle/>
          <a:p>
            <a:pPr marL="0" indent="0">
              <a:buNone/>
            </a:pPr>
            <a:r>
              <a:rPr lang="en-US" sz="1400" b="1" dirty="0">
                <a:solidFill>
                  <a:srgbClr val="0B1F3A"/>
                </a:solidFill>
              </a:rPr>
              <a:t>Hands-free learning</a:t>
            </a:r>
            <a:endParaRPr lang="en-US" sz="1400" dirty="0"/>
          </a:p>
        </p:txBody>
      </p:sp>
      <p:sp>
        <p:nvSpPr>
          <p:cNvPr id="32" name="Text 30"/>
          <p:cNvSpPr/>
          <p:nvPr/>
        </p:nvSpPr>
        <p:spPr>
          <a:xfrm>
            <a:off x="7360920" y="4681728"/>
            <a:ext cx="3474720" cy="384048"/>
          </a:xfrm>
          <a:prstGeom prst="rect">
            <a:avLst/>
          </a:prstGeom>
          <a:noFill/>
        </p:spPr>
        <p:txBody>
          <a:bodyPr wrap="square" lIns="0" tIns="0" rIns="0" bIns="0" rtlCol="0" anchor="ctr">
            <a:normAutofit/>
          </a:bodyPr>
          <a:lstStyle/>
          <a:p>
            <a:pPr marL="0" indent="0">
              <a:buNone/>
            </a:pPr>
            <a:r>
              <a:rPr lang="en-US" sz="1100" dirty="0">
                <a:solidFill>
                  <a:srgbClr val="273449"/>
                </a:solidFill>
              </a:rPr>
              <a:t>Discuss ideas while commuting or reviewing notes</a:t>
            </a:r>
            <a:endParaRPr lang="en-US" sz="1100" dirty="0"/>
          </a:p>
        </p:txBody>
      </p:sp>
      <p:sp>
        <p:nvSpPr>
          <p:cNvPr id="33" name="Shape 31"/>
          <p:cNvSpPr/>
          <p:nvPr/>
        </p:nvSpPr>
        <p:spPr>
          <a:xfrm>
            <a:off x="4800600" y="5559552"/>
            <a:ext cx="6400800" cy="411480"/>
          </a:xfrm>
          <a:prstGeom prst="roundRect">
            <a:avLst>
              <a:gd name="adj" fmla="val 26667"/>
            </a:avLst>
          </a:prstGeom>
          <a:solidFill>
            <a:srgbClr val="FFF4DF"/>
          </a:solidFill>
          <a:ln w="12700">
            <a:solidFill>
              <a:srgbClr val="F1CB82"/>
            </a:solidFill>
            <a:prstDash val="solid"/>
          </a:ln>
          <a:effectLst>
            <a:outerShdw blurRad="-2147483648" dist="-2147483648" dir="1" algn="bl" rotWithShape="0">
              <a:srgbClr val="000000">
                <a:alpha val="1"/>
              </a:srgbClr>
            </a:outerShdw>
          </a:effectLst>
        </p:spPr>
      </p:sp>
      <p:sp>
        <p:nvSpPr>
          <p:cNvPr id="34" name="Text 32"/>
          <p:cNvSpPr/>
          <p:nvPr/>
        </p:nvSpPr>
        <p:spPr>
          <a:xfrm>
            <a:off x="5029200" y="5669280"/>
            <a:ext cx="5943600" cy="182880"/>
          </a:xfrm>
          <a:prstGeom prst="rect">
            <a:avLst/>
          </a:prstGeom>
          <a:noFill/>
        </p:spPr>
        <p:txBody>
          <a:bodyPr wrap="square" lIns="0" tIns="0" rIns="0" bIns="0" rtlCol="0" anchor="ctr"/>
          <a:lstStyle/>
          <a:p>
            <a:pPr marL="0" indent="0" algn="ctr">
              <a:buNone/>
            </a:pPr>
            <a:r>
              <a:rPr lang="en-US" sz="1050" b="1" dirty="0">
                <a:solidFill>
                  <a:srgbClr val="0B1F3A"/>
                </a:solidFill>
              </a:rPr>
              <a:t>Tip: Ask the voice assistant to pause, quiz you, or correct only one issue at a time.</a:t>
            </a:r>
            <a:endParaRPr lang="en-US" sz="1050" dirty="0"/>
          </a:p>
        </p:txBody>
      </p:sp>
      <p:sp>
        <p:nvSpPr>
          <p:cNvPr id="35" name="Text 33"/>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Help — ChatGPT Voice; OpenAI — Introducing GPT-Live (8 Jul 2026).</a:t>
            </a:r>
            <a:endParaRPr lang="en-US" sz="750" dirty="0"/>
          </a:p>
        </p:txBody>
      </p:sp>
      <p:sp>
        <p:nvSpPr>
          <p:cNvPr id="36"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Apps, Connectors &amp; Plugins</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Connect ChatGPT to external information and actions—subject to permissions and workspace controls.</a:t>
            </a:r>
            <a:endParaRPr lang="en-US" sz="1150" dirty="0"/>
          </a:p>
        </p:txBody>
      </p:sp>
      <p:sp>
        <p:nvSpPr>
          <p:cNvPr id="4" name="Shape 2"/>
          <p:cNvSpPr/>
          <p:nvPr/>
        </p:nvSpPr>
        <p:spPr>
          <a:xfrm>
            <a:off x="4663440" y="1965960"/>
            <a:ext cx="2743200" cy="2743200"/>
          </a:xfrm>
          <a:prstGeom prst="ellipse">
            <a:avLst/>
          </a:prstGeom>
          <a:solidFill>
            <a:srgbClr val="0B1F3A"/>
          </a:solidFill>
          <a:ln w="12700">
            <a:solidFill>
              <a:srgbClr val="0B1F3A"/>
            </a:solidFill>
            <a:prstDash val="solid"/>
          </a:ln>
          <a:effectLst>
            <a:outerShdw blurRad="-2147483648" dist="-2147483648" dir="1" algn="bl" rotWithShape="0">
              <a:srgbClr val="000000">
                <a:alpha val="1"/>
              </a:srgbClr>
            </a:outerShdw>
          </a:effectLst>
        </p:spPr>
      </p:sp>
      <p:sp>
        <p:nvSpPr>
          <p:cNvPr id="5" name="Text 3"/>
          <p:cNvSpPr/>
          <p:nvPr/>
        </p:nvSpPr>
        <p:spPr>
          <a:xfrm>
            <a:off x="5010912" y="2953512"/>
            <a:ext cx="2057400" cy="329184"/>
          </a:xfrm>
          <a:prstGeom prst="rect">
            <a:avLst/>
          </a:prstGeom>
          <a:noFill/>
        </p:spPr>
        <p:txBody>
          <a:bodyPr wrap="square" lIns="0" tIns="0" rIns="0" bIns="0" rtlCol="0" anchor="ctr"/>
          <a:lstStyle/>
          <a:p>
            <a:pPr marL="0" indent="0" algn="ctr">
              <a:buNone/>
            </a:pPr>
            <a:r>
              <a:rPr lang="en-US" sz="2400" b="1" dirty="0">
                <a:solidFill>
                  <a:srgbClr val="FFFFFF"/>
                </a:solidFill>
              </a:rPr>
              <a:t>ChatGPT</a:t>
            </a:r>
            <a:endParaRPr lang="en-US" sz="2400" dirty="0"/>
          </a:p>
        </p:txBody>
      </p:sp>
      <p:sp>
        <p:nvSpPr>
          <p:cNvPr id="6" name="Shape 4"/>
          <p:cNvSpPr/>
          <p:nvPr/>
        </p:nvSpPr>
        <p:spPr>
          <a:xfrm>
            <a:off x="685800" y="1143000"/>
            <a:ext cx="2148840" cy="877824"/>
          </a:xfrm>
          <a:prstGeom prst="roundRect">
            <a:avLst>
              <a:gd name="adj" fmla="val 12500"/>
            </a:avLst>
          </a:prstGeom>
          <a:solidFill>
            <a:srgbClr val="FFFFFF"/>
          </a:solidFill>
          <a:ln w="12700">
            <a:solidFill>
              <a:srgbClr val="DCE5EF"/>
            </a:solidFill>
            <a:prstDash val="solid"/>
          </a:ln>
          <a:effectLst>
            <a:outerShdw blurRad="-2147483648" dist="-2147483648" dir="6" algn="bl" rotWithShape="0">
              <a:srgbClr val="000000">
                <a:alpha val="1"/>
              </a:srgbClr>
            </a:outerShdw>
          </a:effectLst>
        </p:spPr>
      </p:sp>
      <p:sp>
        <p:nvSpPr>
          <p:cNvPr id="7" name="Shape 5"/>
          <p:cNvSpPr/>
          <p:nvPr/>
        </p:nvSpPr>
        <p:spPr>
          <a:xfrm>
            <a:off x="850392" y="1307592"/>
            <a:ext cx="987552" cy="310896"/>
          </a:xfrm>
          <a:prstGeom prst="roundRect">
            <a:avLst>
              <a:gd name="adj" fmla="val 44118"/>
            </a:avLst>
          </a:prstGeom>
          <a:solidFill>
            <a:srgbClr val="1677FF"/>
          </a:solidFill>
          <a:ln w="12700">
            <a:solidFill>
              <a:srgbClr val="1677FF"/>
            </a:solidFill>
            <a:prstDash val="solid"/>
          </a:ln>
        </p:spPr>
      </p:sp>
      <p:sp>
        <p:nvSpPr>
          <p:cNvPr id="8" name="Text 6"/>
          <p:cNvSpPr/>
          <p:nvPr/>
        </p:nvSpPr>
        <p:spPr>
          <a:xfrm>
            <a:off x="923544" y="1376172"/>
            <a:ext cx="841248" cy="164592"/>
          </a:xfrm>
          <a:prstGeom prst="rect">
            <a:avLst/>
          </a:prstGeom>
          <a:noFill/>
        </p:spPr>
        <p:txBody>
          <a:bodyPr wrap="square" lIns="0" tIns="0" rIns="0" bIns="0" rtlCol="0" anchor="ctr"/>
          <a:lstStyle/>
          <a:p>
            <a:pPr marL="0" indent="0" algn="ctr">
              <a:buNone/>
            </a:pPr>
            <a:r>
              <a:rPr lang="en-US" sz="900" b="1" dirty="0">
                <a:solidFill>
                  <a:srgbClr val="FFFFFF"/>
                </a:solidFill>
              </a:rPr>
              <a:t>FILES</a:t>
            </a:r>
            <a:endParaRPr lang="en-US" sz="900" dirty="0"/>
          </a:p>
        </p:txBody>
      </p:sp>
      <p:sp>
        <p:nvSpPr>
          <p:cNvPr id="9" name="Text 7"/>
          <p:cNvSpPr/>
          <p:nvPr/>
        </p:nvSpPr>
        <p:spPr>
          <a:xfrm>
            <a:off x="1901952" y="1353312"/>
            <a:ext cx="758952" cy="347472"/>
          </a:xfrm>
          <a:prstGeom prst="rect">
            <a:avLst/>
          </a:prstGeom>
          <a:noFill/>
        </p:spPr>
        <p:txBody>
          <a:bodyPr wrap="square" lIns="0" tIns="0" rIns="0" bIns="0" rtlCol="0" anchor="ctr">
            <a:normAutofit/>
          </a:bodyPr>
          <a:lstStyle/>
          <a:p>
            <a:pPr marL="0" indent="0" algn="ctr">
              <a:buNone/>
            </a:pPr>
            <a:r>
              <a:rPr lang="en-US" sz="980" b="1" dirty="0">
                <a:solidFill>
                  <a:srgbClr val="273449"/>
                </a:solidFill>
              </a:rPr>
              <a:t>Search documents</a:t>
            </a:r>
            <a:endParaRPr lang="en-US" sz="980" dirty="0"/>
          </a:p>
        </p:txBody>
      </p:sp>
      <p:sp>
        <p:nvSpPr>
          <p:cNvPr id="10" name="Shape 8"/>
          <p:cNvSpPr/>
          <p:nvPr/>
        </p:nvSpPr>
        <p:spPr>
          <a:xfrm>
            <a:off x="1764792" y="1581912"/>
            <a:ext cx="4270248" cy="1755648"/>
          </a:xfrm>
          <a:prstGeom prst="line">
            <a:avLst/>
          </a:prstGeom>
          <a:noFill/>
          <a:ln w="13970">
            <a:solidFill>
              <a:srgbClr val="B7C4D2"/>
            </a:solidFill>
            <a:prstDash val="solid"/>
          </a:ln>
        </p:spPr>
      </p:sp>
      <p:sp>
        <p:nvSpPr>
          <p:cNvPr id="11" name="Shape 9"/>
          <p:cNvSpPr/>
          <p:nvPr/>
        </p:nvSpPr>
        <p:spPr>
          <a:xfrm>
            <a:off x="685800" y="4343400"/>
            <a:ext cx="2148840" cy="877824"/>
          </a:xfrm>
          <a:prstGeom prst="roundRect">
            <a:avLst>
              <a:gd name="adj" fmla="val 12500"/>
            </a:avLst>
          </a:prstGeom>
          <a:solidFill>
            <a:srgbClr val="FFFFFF"/>
          </a:solidFill>
          <a:ln w="12700">
            <a:solidFill>
              <a:srgbClr val="DCE5EF"/>
            </a:solidFill>
            <a:prstDash val="solid"/>
          </a:ln>
          <a:effectLst>
            <a:outerShdw blurRad="-2147483648" dist="-2147483648" dir="3" algn="bl" rotWithShape="0">
              <a:srgbClr val="000000">
                <a:alpha val="1"/>
              </a:srgbClr>
            </a:outerShdw>
          </a:effectLst>
        </p:spPr>
      </p:sp>
      <p:sp>
        <p:nvSpPr>
          <p:cNvPr id="12" name="Shape 10"/>
          <p:cNvSpPr/>
          <p:nvPr/>
        </p:nvSpPr>
        <p:spPr>
          <a:xfrm>
            <a:off x="850392" y="4507992"/>
            <a:ext cx="987552" cy="310896"/>
          </a:xfrm>
          <a:prstGeom prst="roundRect">
            <a:avLst>
              <a:gd name="adj" fmla="val 44118"/>
            </a:avLst>
          </a:prstGeom>
          <a:solidFill>
            <a:srgbClr val="F59E0B"/>
          </a:solidFill>
          <a:ln w="12700">
            <a:solidFill>
              <a:srgbClr val="F59E0B"/>
            </a:solidFill>
            <a:prstDash val="solid"/>
          </a:ln>
        </p:spPr>
      </p:sp>
      <p:sp>
        <p:nvSpPr>
          <p:cNvPr id="13" name="Text 11"/>
          <p:cNvSpPr/>
          <p:nvPr/>
        </p:nvSpPr>
        <p:spPr>
          <a:xfrm>
            <a:off x="923544" y="4576572"/>
            <a:ext cx="841248" cy="164592"/>
          </a:xfrm>
          <a:prstGeom prst="rect">
            <a:avLst/>
          </a:prstGeom>
          <a:noFill/>
        </p:spPr>
        <p:txBody>
          <a:bodyPr wrap="square" lIns="0" tIns="0" rIns="0" bIns="0" rtlCol="0" anchor="ctr"/>
          <a:lstStyle/>
          <a:p>
            <a:pPr marL="0" indent="0" algn="ctr">
              <a:buNone/>
            </a:pPr>
            <a:r>
              <a:rPr lang="en-US" sz="900" b="1" dirty="0">
                <a:solidFill>
                  <a:srgbClr val="FFFFFF"/>
                </a:solidFill>
              </a:rPr>
              <a:t>EMAIL</a:t>
            </a:r>
            <a:endParaRPr lang="en-US" sz="900" dirty="0"/>
          </a:p>
        </p:txBody>
      </p:sp>
      <p:sp>
        <p:nvSpPr>
          <p:cNvPr id="14" name="Text 12"/>
          <p:cNvSpPr/>
          <p:nvPr/>
        </p:nvSpPr>
        <p:spPr>
          <a:xfrm>
            <a:off x="1901952" y="4553712"/>
            <a:ext cx="758952" cy="347472"/>
          </a:xfrm>
          <a:prstGeom prst="rect">
            <a:avLst/>
          </a:prstGeom>
          <a:noFill/>
        </p:spPr>
        <p:txBody>
          <a:bodyPr wrap="square" lIns="0" tIns="0" rIns="0" bIns="0" rtlCol="0" anchor="ctr">
            <a:normAutofit/>
          </a:bodyPr>
          <a:lstStyle/>
          <a:p>
            <a:pPr marL="0" indent="0" algn="ctr">
              <a:buNone/>
            </a:pPr>
            <a:r>
              <a:rPr lang="en-US" sz="980" b="1" dirty="0">
                <a:solidFill>
                  <a:srgbClr val="273449"/>
                </a:solidFill>
              </a:rPr>
              <a:t>Read or draft</a:t>
            </a:r>
            <a:endParaRPr lang="en-US" sz="980" dirty="0"/>
          </a:p>
        </p:txBody>
      </p:sp>
      <p:sp>
        <p:nvSpPr>
          <p:cNvPr id="15" name="Shape 13"/>
          <p:cNvSpPr/>
          <p:nvPr/>
        </p:nvSpPr>
        <p:spPr>
          <a:xfrm>
            <a:off x="1764792" y="3337560"/>
            <a:ext cx="4270248" cy="1444752"/>
          </a:xfrm>
          <a:prstGeom prst="line">
            <a:avLst/>
          </a:prstGeom>
          <a:noFill/>
          <a:ln w="13970">
            <a:solidFill>
              <a:srgbClr val="B7C4D2"/>
            </a:solidFill>
            <a:prstDash val="solid"/>
          </a:ln>
        </p:spPr>
      </p:sp>
      <p:sp>
        <p:nvSpPr>
          <p:cNvPr id="16" name="Shape 14"/>
          <p:cNvSpPr/>
          <p:nvPr/>
        </p:nvSpPr>
        <p:spPr>
          <a:xfrm>
            <a:off x="2743200" y="5184648"/>
            <a:ext cx="2148840" cy="877824"/>
          </a:xfrm>
          <a:prstGeom prst="roundRect">
            <a:avLst>
              <a:gd name="adj" fmla="val 12500"/>
            </a:avLst>
          </a:prstGeom>
          <a:solidFill>
            <a:srgbClr val="FFFFFF"/>
          </a:solidFill>
          <a:ln w="12700">
            <a:solidFill>
              <a:srgbClr val="DCE5EF"/>
            </a:solidFill>
            <a:prstDash val="solid"/>
          </a:ln>
          <a:effectLst>
            <a:outerShdw blurRad="-2147483648" dist="-2147483648" dir="2" algn="bl" rotWithShape="0">
              <a:srgbClr val="000000">
                <a:alpha val="1"/>
              </a:srgbClr>
            </a:outerShdw>
          </a:effectLst>
        </p:spPr>
      </p:sp>
      <p:sp>
        <p:nvSpPr>
          <p:cNvPr id="17" name="Shape 15"/>
          <p:cNvSpPr/>
          <p:nvPr/>
        </p:nvSpPr>
        <p:spPr>
          <a:xfrm>
            <a:off x="2907792" y="5349240"/>
            <a:ext cx="987552" cy="310896"/>
          </a:xfrm>
          <a:prstGeom prst="roundRect">
            <a:avLst>
              <a:gd name="adj" fmla="val 44118"/>
            </a:avLst>
          </a:prstGeom>
          <a:solidFill>
            <a:srgbClr val="16A34A"/>
          </a:solidFill>
          <a:ln w="12700">
            <a:solidFill>
              <a:srgbClr val="16A34A"/>
            </a:solidFill>
            <a:prstDash val="solid"/>
          </a:ln>
        </p:spPr>
      </p:sp>
      <p:sp>
        <p:nvSpPr>
          <p:cNvPr id="18" name="Text 16"/>
          <p:cNvSpPr/>
          <p:nvPr/>
        </p:nvSpPr>
        <p:spPr>
          <a:xfrm>
            <a:off x="2980944" y="5417820"/>
            <a:ext cx="841248" cy="164592"/>
          </a:xfrm>
          <a:prstGeom prst="rect">
            <a:avLst/>
          </a:prstGeom>
          <a:noFill/>
        </p:spPr>
        <p:txBody>
          <a:bodyPr wrap="square" lIns="0" tIns="0" rIns="0" bIns="0" rtlCol="0" anchor="ctr"/>
          <a:lstStyle/>
          <a:p>
            <a:pPr marL="0" indent="0" algn="ctr">
              <a:buNone/>
            </a:pPr>
            <a:r>
              <a:rPr lang="en-US" sz="900" b="1" dirty="0">
                <a:solidFill>
                  <a:srgbClr val="FFFFFF"/>
                </a:solidFill>
              </a:rPr>
              <a:t>CALENDAR</a:t>
            </a:r>
            <a:endParaRPr lang="en-US" sz="900" dirty="0"/>
          </a:p>
        </p:txBody>
      </p:sp>
      <p:sp>
        <p:nvSpPr>
          <p:cNvPr id="19" name="Text 17"/>
          <p:cNvSpPr/>
          <p:nvPr/>
        </p:nvSpPr>
        <p:spPr>
          <a:xfrm>
            <a:off x="3959352" y="5394960"/>
            <a:ext cx="758952" cy="347472"/>
          </a:xfrm>
          <a:prstGeom prst="rect">
            <a:avLst/>
          </a:prstGeom>
          <a:noFill/>
        </p:spPr>
        <p:txBody>
          <a:bodyPr wrap="square" lIns="0" tIns="0" rIns="0" bIns="0" rtlCol="0" anchor="ctr">
            <a:normAutofit/>
          </a:bodyPr>
          <a:lstStyle/>
          <a:p>
            <a:pPr marL="0" indent="0" algn="ctr">
              <a:buNone/>
            </a:pPr>
            <a:r>
              <a:rPr lang="en-US" sz="980" b="1" dirty="0">
                <a:solidFill>
                  <a:srgbClr val="273449"/>
                </a:solidFill>
              </a:rPr>
              <a:t>Find time or schedule</a:t>
            </a:r>
            <a:endParaRPr lang="en-US" sz="980" dirty="0"/>
          </a:p>
        </p:txBody>
      </p:sp>
      <p:sp>
        <p:nvSpPr>
          <p:cNvPr id="20" name="Shape 18"/>
          <p:cNvSpPr/>
          <p:nvPr/>
        </p:nvSpPr>
        <p:spPr>
          <a:xfrm>
            <a:off x="3822192" y="3337560"/>
            <a:ext cx="2212848" cy="2286000"/>
          </a:xfrm>
          <a:prstGeom prst="line">
            <a:avLst/>
          </a:prstGeom>
          <a:noFill/>
          <a:ln w="13970">
            <a:solidFill>
              <a:srgbClr val="B7C4D2"/>
            </a:solidFill>
            <a:prstDash val="solid"/>
          </a:ln>
        </p:spPr>
      </p:sp>
      <p:sp>
        <p:nvSpPr>
          <p:cNvPr id="21" name="Shape 19"/>
          <p:cNvSpPr/>
          <p:nvPr/>
        </p:nvSpPr>
        <p:spPr>
          <a:xfrm>
            <a:off x="8961120" y="4663440"/>
            <a:ext cx="2148840" cy="877824"/>
          </a:xfrm>
          <a:prstGeom prst="roundRect">
            <a:avLst>
              <a:gd name="adj" fmla="val 12500"/>
            </a:avLst>
          </a:prstGeom>
          <a:solidFill>
            <a:srgbClr val="FFFFFF"/>
          </a:solidFill>
          <a:ln w="12700">
            <a:solidFill>
              <a:srgbClr val="DCE5EF"/>
            </a:solidFill>
            <a:prstDash val="solid"/>
          </a:ln>
          <a:effectLst>
            <a:outerShdw blurRad="-2147483648" dist="-2147483648" dir="1" algn="bl" rotWithShape="0">
              <a:srgbClr val="000000">
                <a:alpha val="1"/>
              </a:srgbClr>
            </a:outerShdw>
          </a:effectLst>
        </p:spPr>
      </p:sp>
      <p:sp>
        <p:nvSpPr>
          <p:cNvPr id="22" name="Shape 20"/>
          <p:cNvSpPr/>
          <p:nvPr/>
        </p:nvSpPr>
        <p:spPr>
          <a:xfrm>
            <a:off x="9125712" y="4828032"/>
            <a:ext cx="987552" cy="310896"/>
          </a:xfrm>
          <a:prstGeom prst="roundRect">
            <a:avLst>
              <a:gd name="adj" fmla="val 44118"/>
            </a:avLst>
          </a:prstGeom>
          <a:solidFill>
            <a:srgbClr val="7C3AED"/>
          </a:solidFill>
          <a:ln w="12700">
            <a:solidFill>
              <a:srgbClr val="7C3AED"/>
            </a:solidFill>
            <a:prstDash val="solid"/>
          </a:ln>
        </p:spPr>
      </p:sp>
      <p:sp>
        <p:nvSpPr>
          <p:cNvPr id="23" name="Text 21"/>
          <p:cNvSpPr/>
          <p:nvPr/>
        </p:nvSpPr>
        <p:spPr>
          <a:xfrm>
            <a:off x="9198864" y="4896612"/>
            <a:ext cx="841248" cy="164592"/>
          </a:xfrm>
          <a:prstGeom prst="rect">
            <a:avLst/>
          </a:prstGeom>
          <a:noFill/>
        </p:spPr>
        <p:txBody>
          <a:bodyPr wrap="square" lIns="0" tIns="0" rIns="0" bIns="0" rtlCol="0" anchor="ctr"/>
          <a:lstStyle/>
          <a:p>
            <a:pPr marL="0" indent="0" algn="ctr">
              <a:buNone/>
            </a:pPr>
            <a:r>
              <a:rPr lang="en-US" sz="900" b="1" dirty="0">
                <a:solidFill>
                  <a:srgbClr val="FFFFFF"/>
                </a:solidFill>
              </a:rPr>
              <a:t>SLACK</a:t>
            </a:r>
            <a:endParaRPr lang="en-US" sz="900" dirty="0"/>
          </a:p>
        </p:txBody>
      </p:sp>
      <p:sp>
        <p:nvSpPr>
          <p:cNvPr id="24" name="Text 22"/>
          <p:cNvSpPr/>
          <p:nvPr/>
        </p:nvSpPr>
        <p:spPr>
          <a:xfrm>
            <a:off x="10177272" y="4873752"/>
            <a:ext cx="758952" cy="347472"/>
          </a:xfrm>
          <a:prstGeom prst="rect">
            <a:avLst/>
          </a:prstGeom>
          <a:noFill/>
        </p:spPr>
        <p:txBody>
          <a:bodyPr wrap="square" lIns="0" tIns="0" rIns="0" bIns="0" rtlCol="0" anchor="ctr">
            <a:normAutofit/>
          </a:bodyPr>
          <a:lstStyle/>
          <a:p>
            <a:pPr marL="0" indent="0" algn="ctr">
              <a:buNone/>
            </a:pPr>
            <a:r>
              <a:rPr lang="en-US" sz="980" b="1" dirty="0">
                <a:solidFill>
                  <a:srgbClr val="273449"/>
                </a:solidFill>
              </a:rPr>
              <a:t>Search or take actions</a:t>
            </a:r>
            <a:endParaRPr lang="en-US" sz="980" dirty="0"/>
          </a:p>
        </p:txBody>
      </p:sp>
      <p:sp>
        <p:nvSpPr>
          <p:cNvPr id="25" name="Shape 23"/>
          <p:cNvSpPr/>
          <p:nvPr/>
        </p:nvSpPr>
        <p:spPr>
          <a:xfrm>
            <a:off x="6035040" y="3337560"/>
            <a:ext cx="4005072" cy="1764792"/>
          </a:xfrm>
          <a:prstGeom prst="line">
            <a:avLst/>
          </a:prstGeom>
          <a:noFill/>
          <a:ln w="13970">
            <a:solidFill>
              <a:srgbClr val="B7C4D2"/>
            </a:solidFill>
            <a:prstDash val="solid"/>
          </a:ln>
        </p:spPr>
      </p:sp>
      <p:sp>
        <p:nvSpPr>
          <p:cNvPr id="26" name="Shape 24"/>
          <p:cNvSpPr/>
          <p:nvPr/>
        </p:nvSpPr>
        <p:spPr>
          <a:xfrm>
            <a:off x="9326880" y="1234440"/>
            <a:ext cx="2148840" cy="877824"/>
          </a:xfrm>
          <a:prstGeom prst="roundRect">
            <a:avLst>
              <a:gd name="adj" fmla="val 12500"/>
            </a:avLst>
          </a:prstGeom>
          <a:solidFill>
            <a:srgbClr val="FFFFFF"/>
          </a:solidFill>
          <a:ln w="12700">
            <a:solidFill>
              <a:srgbClr val="DCE5EF"/>
            </a:solidFill>
            <a:prstDash val="solid"/>
          </a:ln>
          <a:effectLst>
            <a:outerShdw blurRad="-2147483648" dist="-2147483648" dir="7" algn="bl" rotWithShape="0">
              <a:srgbClr val="000000">
                <a:alpha val="0"/>
              </a:srgbClr>
            </a:outerShdw>
          </a:effectLst>
        </p:spPr>
      </p:sp>
      <p:sp>
        <p:nvSpPr>
          <p:cNvPr id="27" name="Shape 25"/>
          <p:cNvSpPr/>
          <p:nvPr/>
        </p:nvSpPr>
        <p:spPr>
          <a:xfrm>
            <a:off x="9491472" y="1399032"/>
            <a:ext cx="987552" cy="310896"/>
          </a:xfrm>
          <a:prstGeom prst="roundRect">
            <a:avLst>
              <a:gd name="adj" fmla="val 44118"/>
            </a:avLst>
          </a:prstGeom>
          <a:solidFill>
            <a:srgbClr val="16B8D4"/>
          </a:solidFill>
          <a:ln w="12700">
            <a:solidFill>
              <a:srgbClr val="16B8D4"/>
            </a:solidFill>
            <a:prstDash val="solid"/>
          </a:ln>
        </p:spPr>
      </p:sp>
      <p:sp>
        <p:nvSpPr>
          <p:cNvPr id="28" name="Text 26"/>
          <p:cNvSpPr/>
          <p:nvPr/>
        </p:nvSpPr>
        <p:spPr>
          <a:xfrm>
            <a:off x="9564624" y="1467612"/>
            <a:ext cx="841248" cy="164592"/>
          </a:xfrm>
          <a:prstGeom prst="rect">
            <a:avLst/>
          </a:prstGeom>
          <a:noFill/>
        </p:spPr>
        <p:txBody>
          <a:bodyPr wrap="square" lIns="0" tIns="0" rIns="0" bIns="0" rtlCol="0" anchor="ctr"/>
          <a:lstStyle/>
          <a:p>
            <a:pPr marL="0" indent="0" algn="ctr">
              <a:buNone/>
            </a:pPr>
            <a:r>
              <a:rPr lang="en-US" sz="900" b="1" dirty="0">
                <a:solidFill>
                  <a:srgbClr val="FFFFFF"/>
                </a:solidFill>
              </a:rPr>
              <a:t>DRIVE</a:t>
            </a:r>
            <a:endParaRPr lang="en-US" sz="900" dirty="0"/>
          </a:p>
        </p:txBody>
      </p:sp>
      <p:sp>
        <p:nvSpPr>
          <p:cNvPr id="29" name="Text 27"/>
          <p:cNvSpPr/>
          <p:nvPr/>
        </p:nvSpPr>
        <p:spPr>
          <a:xfrm>
            <a:off x="10543032" y="1444752"/>
            <a:ext cx="758952" cy="347472"/>
          </a:xfrm>
          <a:prstGeom prst="rect">
            <a:avLst/>
          </a:prstGeom>
          <a:noFill/>
        </p:spPr>
        <p:txBody>
          <a:bodyPr wrap="square" lIns="0" tIns="0" rIns="0" bIns="0" rtlCol="0" anchor="ctr">
            <a:normAutofit/>
          </a:bodyPr>
          <a:lstStyle/>
          <a:p>
            <a:pPr marL="0" indent="0" algn="ctr">
              <a:buNone/>
            </a:pPr>
            <a:r>
              <a:rPr lang="en-US" sz="980" b="1" dirty="0">
                <a:solidFill>
                  <a:srgbClr val="273449"/>
                </a:solidFill>
              </a:rPr>
              <a:t>Reference stored content</a:t>
            </a:r>
            <a:endParaRPr lang="en-US" sz="980" dirty="0"/>
          </a:p>
        </p:txBody>
      </p:sp>
      <p:sp>
        <p:nvSpPr>
          <p:cNvPr id="30" name="Shape 28"/>
          <p:cNvSpPr/>
          <p:nvPr/>
        </p:nvSpPr>
        <p:spPr>
          <a:xfrm>
            <a:off x="6035040" y="1673352"/>
            <a:ext cx="4370832" cy="1664208"/>
          </a:xfrm>
          <a:prstGeom prst="line">
            <a:avLst/>
          </a:prstGeom>
          <a:noFill/>
          <a:ln w="13970">
            <a:solidFill>
              <a:srgbClr val="B7C4D2"/>
            </a:solidFill>
            <a:prstDash val="solid"/>
          </a:ln>
        </p:spPr>
      </p:sp>
      <p:sp>
        <p:nvSpPr>
          <p:cNvPr id="31" name="Shape 29"/>
          <p:cNvSpPr/>
          <p:nvPr/>
        </p:nvSpPr>
        <p:spPr>
          <a:xfrm>
            <a:off x="7360920" y="685800"/>
            <a:ext cx="2148840" cy="877824"/>
          </a:xfrm>
          <a:prstGeom prst="roundRect">
            <a:avLst>
              <a:gd name="adj" fmla="val 12500"/>
            </a:avLst>
          </a:prstGeom>
          <a:solidFill>
            <a:srgbClr val="FFFFFF"/>
          </a:solidFill>
          <a:ln w="12700">
            <a:solidFill>
              <a:srgbClr val="DCE5EF"/>
            </a:solidFill>
            <a:prstDash val="solid"/>
          </a:ln>
          <a:effectLst>
            <a:outerShdw blurRad="-2147483648" dist="-2147483648" dir="4" algn="bl" rotWithShape="0">
              <a:srgbClr val="000000">
                <a:alpha val="0"/>
              </a:srgbClr>
            </a:outerShdw>
          </a:effectLst>
        </p:spPr>
      </p:sp>
      <p:sp>
        <p:nvSpPr>
          <p:cNvPr id="32" name="Shape 30"/>
          <p:cNvSpPr/>
          <p:nvPr/>
        </p:nvSpPr>
        <p:spPr>
          <a:xfrm>
            <a:off x="7525512" y="850392"/>
            <a:ext cx="987552" cy="310896"/>
          </a:xfrm>
          <a:prstGeom prst="roundRect">
            <a:avLst>
              <a:gd name="adj" fmla="val 44118"/>
            </a:avLst>
          </a:prstGeom>
          <a:solidFill>
            <a:srgbClr val="DC2626"/>
          </a:solidFill>
          <a:ln w="12700">
            <a:solidFill>
              <a:srgbClr val="DC2626"/>
            </a:solidFill>
            <a:prstDash val="solid"/>
          </a:ln>
        </p:spPr>
      </p:sp>
      <p:sp>
        <p:nvSpPr>
          <p:cNvPr id="33" name="Text 31"/>
          <p:cNvSpPr/>
          <p:nvPr/>
        </p:nvSpPr>
        <p:spPr>
          <a:xfrm>
            <a:off x="7598664" y="918972"/>
            <a:ext cx="841248" cy="164592"/>
          </a:xfrm>
          <a:prstGeom prst="rect">
            <a:avLst/>
          </a:prstGeom>
          <a:noFill/>
        </p:spPr>
        <p:txBody>
          <a:bodyPr wrap="square" lIns="0" tIns="0" rIns="0" bIns="0" rtlCol="0" anchor="ctr"/>
          <a:lstStyle/>
          <a:p>
            <a:pPr marL="0" indent="0" algn="ctr">
              <a:buNone/>
            </a:pPr>
            <a:r>
              <a:rPr lang="en-US" sz="900" b="1" dirty="0">
                <a:solidFill>
                  <a:srgbClr val="FFFFFF"/>
                </a:solidFill>
              </a:rPr>
              <a:t>CUSTOM APP</a:t>
            </a:r>
            <a:endParaRPr lang="en-US" sz="900" dirty="0"/>
          </a:p>
        </p:txBody>
      </p:sp>
      <p:sp>
        <p:nvSpPr>
          <p:cNvPr id="34" name="Text 32"/>
          <p:cNvSpPr/>
          <p:nvPr/>
        </p:nvSpPr>
        <p:spPr>
          <a:xfrm>
            <a:off x="8577072" y="896112"/>
            <a:ext cx="758952" cy="347472"/>
          </a:xfrm>
          <a:prstGeom prst="rect">
            <a:avLst/>
          </a:prstGeom>
          <a:noFill/>
        </p:spPr>
        <p:txBody>
          <a:bodyPr wrap="square" lIns="0" tIns="0" rIns="0" bIns="0" rtlCol="0" anchor="ctr">
            <a:normAutofit/>
          </a:bodyPr>
          <a:lstStyle/>
          <a:p>
            <a:pPr marL="0" indent="0" algn="ctr">
              <a:buNone/>
            </a:pPr>
            <a:r>
              <a:rPr lang="en-US" sz="980" b="1" dirty="0">
                <a:solidFill>
                  <a:srgbClr val="273449"/>
                </a:solidFill>
              </a:rPr>
              <a:t>Use organization tools</a:t>
            </a:r>
            <a:endParaRPr lang="en-US" sz="980" dirty="0"/>
          </a:p>
        </p:txBody>
      </p:sp>
      <p:sp>
        <p:nvSpPr>
          <p:cNvPr id="35" name="Shape 33"/>
          <p:cNvSpPr/>
          <p:nvPr/>
        </p:nvSpPr>
        <p:spPr>
          <a:xfrm>
            <a:off x="6035040" y="1124712"/>
            <a:ext cx="2404872" cy="2212848"/>
          </a:xfrm>
          <a:prstGeom prst="line">
            <a:avLst/>
          </a:prstGeom>
          <a:noFill/>
          <a:ln w="13970">
            <a:solidFill>
              <a:srgbClr val="B7C4D2"/>
            </a:solidFill>
            <a:prstDash val="solid"/>
          </a:ln>
        </p:spPr>
      </p:sp>
      <p:sp>
        <p:nvSpPr>
          <p:cNvPr id="36" name="Shape 34"/>
          <p:cNvSpPr/>
          <p:nvPr/>
        </p:nvSpPr>
        <p:spPr>
          <a:xfrm>
            <a:off x="3813048" y="5230368"/>
            <a:ext cx="4480560" cy="749808"/>
          </a:xfrm>
          <a:prstGeom prst="roundRect">
            <a:avLst>
              <a:gd name="adj" fmla="val 14634"/>
            </a:avLst>
          </a:prstGeom>
          <a:solidFill>
            <a:srgbClr val="EAF8EE"/>
          </a:solidFill>
          <a:ln w="12700">
            <a:solidFill>
              <a:srgbClr val="A8DDB7"/>
            </a:solidFill>
            <a:prstDash val="solid"/>
          </a:ln>
          <a:effectLst>
            <a:outerShdw blurRad="-2147483648" dist="-2147483648" dir="2" algn="bl" rotWithShape="0">
              <a:srgbClr val="000000">
                <a:alpha val="0"/>
              </a:srgbClr>
            </a:outerShdw>
          </a:effectLst>
        </p:spPr>
      </p:sp>
      <p:sp>
        <p:nvSpPr>
          <p:cNvPr id="37" name="Text 35"/>
          <p:cNvSpPr/>
          <p:nvPr/>
        </p:nvSpPr>
        <p:spPr>
          <a:xfrm>
            <a:off x="4069080" y="5458968"/>
            <a:ext cx="3977640" cy="310896"/>
          </a:xfrm>
          <a:prstGeom prst="rect">
            <a:avLst/>
          </a:prstGeom>
          <a:noFill/>
        </p:spPr>
        <p:txBody>
          <a:bodyPr wrap="square" lIns="0" tIns="0" rIns="0" bIns="0" rtlCol="0" anchor="ctr">
            <a:normAutofit/>
          </a:bodyPr>
          <a:lstStyle/>
          <a:p>
            <a:pPr marL="0" indent="0" algn="ctr">
              <a:buNone/>
            </a:pPr>
            <a:r>
              <a:rPr lang="en-US" sz="1100" b="1" dirty="0">
                <a:solidFill>
                  <a:srgbClr val="0B1F3A"/>
                </a:solidFill>
              </a:rPr>
              <a:t>Permission principle: connect only what is needed, review requested actions, and protect sensitive data.</a:t>
            </a:r>
            <a:endParaRPr lang="en-US" sz="1100" dirty="0"/>
          </a:p>
        </p:txBody>
      </p:sp>
      <p:sp>
        <p:nvSpPr>
          <p:cNvPr id="38" name="Text 36"/>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Help — Apps in ChatGPT; ChatGPT agent; workspace controls (accessed 17 Jul 2026).</a:t>
            </a:r>
            <a:endParaRPr lang="en-US" sz="750" dirty="0"/>
          </a:p>
        </p:txBody>
      </p:sp>
      <p:sp>
        <p:nvSpPr>
          <p:cNvPr id="39"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OpenAI Platform: Build Your Own AI Application</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ChatGPT is the ready-made product; the platform/API is for developers and organizations.</a:t>
            </a:r>
            <a:endParaRPr lang="en-US" sz="1150" dirty="0"/>
          </a:p>
        </p:txBody>
      </p:sp>
      <p:sp>
        <p:nvSpPr>
          <p:cNvPr id="4" name="Shape 2"/>
          <p:cNvSpPr/>
          <p:nvPr/>
        </p:nvSpPr>
        <p:spPr>
          <a:xfrm>
            <a:off x="603504" y="1179576"/>
            <a:ext cx="4910328" cy="4361688"/>
          </a:xfrm>
          <a:prstGeom prst="roundRect">
            <a:avLst>
              <a:gd name="adj" fmla="val 2516"/>
            </a:avLst>
          </a:prstGeom>
          <a:solidFill>
            <a:srgbClr val="FFFFFF"/>
          </a:solidFill>
          <a:ln w="12700">
            <a:solidFill>
              <a:srgbClr val="DDE4EC"/>
            </a:solidFill>
            <a:prstDash val="solid"/>
          </a:ln>
          <a:effectLst>
            <a:outerShdw blurRad="-2147483648" dist="-2147483648" algn="bl" rotWithShape="0">
              <a:srgbClr val="000000">
                <a:alpha val="0"/>
              </a:srgbClr>
            </a:outerShdw>
          </a:effectLst>
        </p:spPr>
      </p:sp>
      <p:pic>
        <p:nvPicPr>
          <p:cNvPr id="5" name="Image 0" descr="/mnt/data/WhatsApp Image 2026-07-17 at 12.15.09 AM.jpeg"/>
          <p:cNvPicPr>
            <a:picLocks noChangeAspect="1"/>
          </p:cNvPicPr>
          <p:nvPr/>
        </p:nvPicPr>
        <p:blipFill>
          <a:blip r:embed="rId1"/>
          <a:stretch>
            <a:fillRect/>
          </a:stretch>
        </p:blipFill>
        <p:spPr>
          <a:xfrm>
            <a:off x="1105891" y="1234440"/>
            <a:ext cx="3905554" cy="4251960"/>
          </a:xfrm>
          <a:prstGeom prst="rect">
            <a:avLst/>
          </a:prstGeom>
        </p:spPr>
      </p:pic>
      <p:sp>
        <p:nvSpPr>
          <p:cNvPr id="6" name="Shape 3"/>
          <p:cNvSpPr/>
          <p:nvPr/>
        </p:nvSpPr>
        <p:spPr>
          <a:xfrm>
            <a:off x="5806440" y="1243584"/>
            <a:ext cx="2542032" cy="4251960"/>
          </a:xfrm>
          <a:prstGeom prst="roundRect">
            <a:avLst>
              <a:gd name="adj" fmla="val 4317"/>
            </a:avLst>
          </a:prstGeom>
          <a:solidFill>
            <a:srgbClr val="EAF3FF"/>
          </a:solidFill>
          <a:ln w="12700">
            <a:solidFill>
              <a:srgbClr val="B7D6FF"/>
            </a:solidFill>
            <a:prstDash val="solid"/>
          </a:ln>
          <a:effectLst>
            <a:outerShdw blurRad="-2147483648" dist="-2147483648" algn="bl" rotWithShape="0">
              <a:srgbClr val="000000">
                <a:alpha val="0"/>
              </a:srgbClr>
            </a:outerShdw>
          </a:effectLst>
        </p:spPr>
      </p:sp>
      <p:sp>
        <p:nvSpPr>
          <p:cNvPr id="7" name="Text 4"/>
          <p:cNvSpPr/>
          <p:nvPr/>
        </p:nvSpPr>
        <p:spPr>
          <a:xfrm>
            <a:off x="6172200" y="1618488"/>
            <a:ext cx="1828800" cy="320040"/>
          </a:xfrm>
          <a:prstGeom prst="rect">
            <a:avLst/>
          </a:prstGeom>
          <a:noFill/>
        </p:spPr>
        <p:txBody>
          <a:bodyPr wrap="square" lIns="0" tIns="0" rIns="0" bIns="0" rtlCol="0" anchor="ctr"/>
          <a:lstStyle/>
          <a:p>
            <a:pPr marL="0" indent="0" algn="ctr">
              <a:buNone/>
            </a:pPr>
            <a:r>
              <a:rPr lang="en-US" sz="2000" b="1" dirty="0">
                <a:solidFill>
                  <a:srgbClr val="1677FF"/>
                </a:solidFill>
              </a:rPr>
              <a:t>CHATGPT</a:t>
            </a:r>
            <a:endParaRPr lang="en-US" sz="2000" dirty="0"/>
          </a:p>
        </p:txBody>
      </p:sp>
      <p:sp>
        <p:nvSpPr>
          <p:cNvPr id="8" name="Text 5"/>
          <p:cNvSpPr/>
          <p:nvPr/>
        </p:nvSpPr>
        <p:spPr>
          <a:xfrm>
            <a:off x="6099048" y="2240280"/>
            <a:ext cx="2057400" cy="2011680"/>
          </a:xfrm>
          <a:prstGeom prst="rect">
            <a:avLst/>
          </a:prstGeom>
          <a:noFill/>
        </p:spPr>
        <p:txBody>
          <a:bodyPr wrap="square" lIns="508" tIns="508" rIns="508" bIns="508" rtlCol="0" anchor="ctr">
            <a:normAutofit/>
          </a:bodyPr>
          <a:lstStyle/>
          <a:p>
            <a:pPr marL="137160" indent="-137160">
              <a:buSzPct val="100000"/>
              <a:buChar char="•"/>
            </a:pPr>
            <a:r>
              <a:rPr lang="en-US" sz="1200" dirty="0">
                <a:solidFill>
                  <a:srgbClr val="273449"/>
                </a:solidFill>
              </a:rPr>
              <a:t>Ready-made interface</a:t>
            </a:r>
            <a:endParaRPr lang="en-US" sz="1200" dirty="0"/>
          </a:p>
          <a:p>
            <a:pPr marL="137160" indent="-137160">
              <a:buSzPct val="100000"/>
              <a:buChar char="•"/>
            </a:pPr>
            <a:r>
              <a:rPr lang="en-US" sz="1200" dirty="0">
                <a:solidFill>
                  <a:srgbClr val="273449"/>
                </a:solidFill>
              </a:rPr>
              <a:t>Conversation, files, search, voice</a:t>
            </a:r>
            <a:endParaRPr lang="en-US" sz="1200" dirty="0"/>
          </a:p>
          <a:p>
            <a:pPr marL="137160" indent="-137160">
              <a:buSzPct val="100000"/>
              <a:buChar char="•"/>
            </a:pPr>
            <a:r>
              <a:rPr lang="en-US" sz="1200" dirty="0">
                <a:solidFill>
                  <a:srgbClr val="273449"/>
                </a:solidFill>
              </a:rPr>
              <a:t>Useful without programming</a:t>
            </a:r>
            <a:endParaRPr lang="en-US" sz="1200" dirty="0"/>
          </a:p>
          <a:p>
            <a:pPr marL="137160" indent="-137160">
              <a:buSzPct val="100000"/>
              <a:buChar char="•"/>
            </a:pPr>
            <a:r>
              <a:rPr lang="en-US" sz="1200" dirty="0">
                <a:solidFill>
                  <a:srgbClr val="273449"/>
                </a:solidFill>
              </a:rPr>
              <a:t>Best for individual and team workflows</a:t>
            </a:r>
            <a:endParaRPr lang="en-US" sz="1200" dirty="0"/>
          </a:p>
        </p:txBody>
      </p:sp>
      <p:sp>
        <p:nvSpPr>
          <p:cNvPr id="9" name="Shape 6"/>
          <p:cNvSpPr/>
          <p:nvPr/>
        </p:nvSpPr>
        <p:spPr>
          <a:xfrm>
            <a:off x="8613648" y="1243584"/>
            <a:ext cx="2633472" cy="4251960"/>
          </a:xfrm>
          <a:prstGeom prst="roundRect">
            <a:avLst>
              <a:gd name="adj" fmla="val 4167"/>
            </a:avLst>
          </a:prstGeom>
          <a:solidFill>
            <a:srgbClr val="FFF4DF"/>
          </a:solidFill>
          <a:ln w="12700">
            <a:solidFill>
              <a:srgbClr val="F1CB82"/>
            </a:solidFill>
            <a:prstDash val="solid"/>
          </a:ln>
          <a:effectLst>
            <a:outerShdw blurRad="-2147483648" dist="-2147483648" algn="bl" rotWithShape="0">
              <a:srgbClr val="000000">
                <a:alpha val="0"/>
              </a:srgbClr>
            </a:outerShdw>
          </a:effectLst>
        </p:spPr>
      </p:sp>
      <p:sp>
        <p:nvSpPr>
          <p:cNvPr id="10" name="Text 7"/>
          <p:cNvSpPr/>
          <p:nvPr/>
        </p:nvSpPr>
        <p:spPr>
          <a:xfrm>
            <a:off x="8887968" y="1618488"/>
            <a:ext cx="2103120" cy="320040"/>
          </a:xfrm>
          <a:prstGeom prst="rect">
            <a:avLst/>
          </a:prstGeom>
          <a:noFill/>
        </p:spPr>
        <p:txBody>
          <a:bodyPr wrap="square" lIns="0" tIns="0" rIns="0" bIns="0" rtlCol="0" anchor="ctr"/>
          <a:lstStyle/>
          <a:p>
            <a:pPr marL="0" indent="0" algn="ctr">
              <a:buNone/>
            </a:pPr>
            <a:r>
              <a:rPr lang="en-US" sz="2000" b="1" dirty="0">
                <a:solidFill>
                  <a:srgbClr val="F59E0B"/>
                </a:solidFill>
              </a:rPr>
              <a:t>PLATFORM / API</a:t>
            </a:r>
            <a:endParaRPr lang="en-US" sz="2000" dirty="0"/>
          </a:p>
        </p:txBody>
      </p:sp>
      <p:sp>
        <p:nvSpPr>
          <p:cNvPr id="11" name="Text 8"/>
          <p:cNvSpPr/>
          <p:nvPr/>
        </p:nvSpPr>
        <p:spPr>
          <a:xfrm>
            <a:off x="8887968" y="2240280"/>
            <a:ext cx="2011680" cy="2011680"/>
          </a:xfrm>
          <a:prstGeom prst="rect">
            <a:avLst/>
          </a:prstGeom>
          <a:noFill/>
        </p:spPr>
        <p:txBody>
          <a:bodyPr wrap="square" lIns="508" tIns="508" rIns="508" bIns="508" rtlCol="0" anchor="ctr">
            <a:normAutofit/>
          </a:bodyPr>
          <a:lstStyle/>
          <a:p>
            <a:pPr marL="137160" indent="-137160">
              <a:buSzPct val="100000"/>
              <a:buChar char="•"/>
            </a:pPr>
            <a:r>
              <a:rPr lang="en-US" sz="1200" dirty="0">
                <a:solidFill>
                  <a:srgbClr val="273449"/>
                </a:solidFill>
              </a:rPr>
              <a:t>Build custom apps</a:t>
            </a:r>
            <a:endParaRPr lang="en-US" sz="1200" dirty="0"/>
          </a:p>
          <a:p>
            <a:pPr marL="137160" indent="-137160">
              <a:buSzPct val="100000"/>
              <a:buChar char="•"/>
            </a:pPr>
            <a:r>
              <a:rPr lang="en-US" sz="1200" dirty="0">
                <a:solidFill>
                  <a:srgbClr val="273449"/>
                </a:solidFill>
              </a:rPr>
              <a:t>Integrate models in software</a:t>
            </a:r>
            <a:endParaRPr lang="en-US" sz="1200" dirty="0"/>
          </a:p>
          <a:p>
            <a:pPr marL="137160" indent="-137160">
              <a:buSzPct val="100000"/>
              <a:buChar char="•"/>
            </a:pPr>
            <a:r>
              <a:rPr lang="en-US" sz="1200" dirty="0">
                <a:solidFill>
                  <a:srgbClr val="273449"/>
                </a:solidFill>
              </a:rPr>
              <a:t>Control prompts, tools, and workflow</a:t>
            </a:r>
            <a:endParaRPr lang="en-US" sz="1200" dirty="0"/>
          </a:p>
          <a:p>
            <a:pPr marL="137160" indent="-137160">
              <a:buSzPct val="100000"/>
              <a:buChar char="•"/>
            </a:pPr>
            <a:r>
              <a:rPr lang="en-US" sz="1200" dirty="0">
                <a:solidFill>
                  <a:srgbClr val="273449"/>
                </a:solidFill>
              </a:rPr>
              <a:t>Use APIs, SDKs, and deployment controls</a:t>
            </a:r>
            <a:endParaRPr lang="en-US" sz="1200" dirty="0"/>
          </a:p>
        </p:txBody>
      </p:sp>
      <p:sp>
        <p:nvSpPr>
          <p:cNvPr id="12" name="Shape 9"/>
          <p:cNvSpPr/>
          <p:nvPr/>
        </p:nvSpPr>
        <p:spPr>
          <a:xfrm>
            <a:off x="8193024" y="2834640"/>
            <a:ext cx="347472" cy="502920"/>
          </a:xfrm>
          <a:prstGeom prst="chevron">
            <a:avLst/>
          </a:prstGeom>
          <a:solidFill>
            <a:srgbClr val="AAB8C7"/>
          </a:solidFill>
          <a:ln w="12700">
            <a:solidFill>
              <a:srgbClr val="AAB8C7"/>
            </a:solidFill>
            <a:prstDash val="solid"/>
          </a:ln>
        </p:spPr>
      </p:sp>
      <p:sp>
        <p:nvSpPr>
          <p:cNvPr id="13" name="Text 10"/>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developer documentation and ChatGPT overview (accessed 17 Jul 2026).</a:t>
            </a:r>
            <a:endParaRPr lang="en-US" sz="750" dirty="0"/>
          </a:p>
        </p:txBody>
      </p:sp>
      <p:sp>
        <p:nvSpPr>
          <p:cNvPr id="25"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What Is an AI Agent?</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An agent does more than answer: it works toward a goal through a sequence of decisions and tool calls.</a:t>
            </a:r>
            <a:endParaRPr lang="en-US" sz="1150" dirty="0"/>
          </a:p>
        </p:txBody>
      </p:sp>
      <p:sp>
        <p:nvSpPr>
          <p:cNvPr id="4" name="Shape 2"/>
          <p:cNvSpPr/>
          <p:nvPr/>
        </p:nvSpPr>
        <p:spPr>
          <a:xfrm>
            <a:off x="822960" y="1847088"/>
            <a:ext cx="1572768" cy="1874520"/>
          </a:xfrm>
          <a:prstGeom prst="roundRect">
            <a:avLst>
              <a:gd name="adj" fmla="val 6977"/>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5" name="Shape 3"/>
          <p:cNvSpPr/>
          <p:nvPr/>
        </p:nvSpPr>
        <p:spPr>
          <a:xfrm>
            <a:off x="1243584" y="2167128"/>
            <a:ext cx="731520" cy="731520"/>
          </a:xfrm>
          <a:prstGeom prst="ellipse">
            <a:avLst/>
          </a:prstGeom>
          <a:solidFill>
            <a:srgbClr val="1677FF"/>
          </a:solidFill>
          <a:ln w="12700">
            <a:solidFill>
              <a:srgbClr val="1677FF"/>
            </a:solidFill>
            <a:prstDash val="solid"/>
          </a:ln>
        </p:spPr>
      </p:sp>
      <p:sp>
        <p:nvSpPr>
          <p:cNvPr id="6" name="Text 4"/>
          <p:cNvSpPr/>
          <p:nvPr/>
        </p:nvSpPr>
        <p:spPr>
          <a:xfrm>
            <a:off x="1243584" y="2359152"/>
            <a:ext cx="731520" cy="219456"/>
          </a:xfrm>
          <a:prstGeom prst="rect">
            <a:avLst/>
          </a:prstGeom>
          <a:noFill/>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987552" y="3063240"/>
            <a:ext cx="1243584" cy="256032"/>
          </a:xfrm>
          <a:prstGeom prst="rect">
            <a:avLst/>
          </a:prstGeom>
          <a:noFill/>
        </p:spPr>
        <p:txBody>
          <a:bodyPr wrap="square" lIns="0" tIns="0" rIns="0" bIns="0" rtlCol="0" anchor="ctr"/>
          <a:lstStyle/>
          <a:p>
            <a:pPr marL="0" indent="0" algn="ctr">
              <a:buNone/>
            </a:pPr>
            <a:r>
              <a:rPr lang="en-US" sz="1400" b="1" dirty="0">
                <a:solidFill>
                  <a:srgbClr val="0B1F3A"/>
                </a:solidFill>
              </a:rPr>
              <a:t>GOAL</a:t>
            </a:r>
            <a:endParaRPr lang="en-US" sz="1400" dirty="0"/>
          </a:p>
        </p:txBody>
      </p:sp>
      <p:sp>
        <p:nvSpPr>
          <p:cNvPr id="8" name="Text 6"/>
          <p:cNvSpPr/>
          <p:nvPr/>
        </p:nvSpPr>
        <p:spPr>
          <a:xfrm>
            <a:off x="969264" y="3383280"/>
            <a:ext cx="1280160" cy="256032"/>
          </a:xfrm>
          <a:prstGeom prst="rect">
            <a:avLst/>
          </a:prstGeom>
          <a:noFill/>
        </p:spPr>
        <p:txBody>
          <a:bodyPr wrap="square" lIns="0" tIns="0" rIns="0" bIns="0" rtlCol="0" anchor="ctr">
            <a:normAutofit/>
          </a:bodyPr>
          <a:lstStyle/>
          <a:p>
            <a:pPr marL="0" indent="0" algn="ctr">
              <a:buNone/>
            </a:pPr>
            <a:r>
              <a:rPr lang="en-US" sz="960" dirty="0">
                <a:solidFill>
                  <a:srgbClr val="667085"/>
                </a:solidFill>
              </a:rPr>
              <a:t>Desired outcome</a:t>
            </a:r>
            <a:endParaRPr lang="en-US" sz="960" dirty="0"/>
          </a:p>
        </p:txBody>
      </p:sp>
      <p:sp>
        <p:nvSpPr>
          <p:cNvPr id="9" name="Shape 7"/>
          <p:cNvSpPr/>
          <p:nvPr/>
        </p:nvSpPr>
        <p:spPr>
          <a:xfrm>
            <a:off x="2487168" y="2514600"/>
            <a:ext cx="429768" cy="530352"/>
          </a:xfrm>
          <a:prstGeom prst="chevron">
            <a:avLst/>
          </a:prstGeom>
          <a:solidFill>
            <a:srgbClr val="C5D0DC"/>
          </a:solidFill>
          <a:ln w="12700">
            <a:solidFill>
              <a:srgbClr val="C5D0DC"/>
            </a:solidFill>
            <a:prstDash val="solid"/>
          </a:ln>
        </p:spPr>
      </p:sp>
      <p:sp>
        <p:nvSpPr>
          <p:cNvPr id="10" name="Shape 8"/>
          <p:cNvSpPr/>
          <p:nvPr/>
        </p:nvSpPr>
        <p:spPr>
          <a:xfrm>
            <a:off x="3090672" y="1847088"/>
            <a:ext cx="1572768" cy="1874520"/>
          </a:xfrm>
          <a:prstGeom prst="roundRect">
            <a:avLst>
              <a:gd name="adj" fmla="val 6977"/>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1" name="Shape 9"/>
          <p:cNvSpPr/>
          <p:nvPr/>
        </p:nvSpPr>
        <p:spPr>
          <a:xfrm>
            <a:off x="3511296" y="2167128"/>
            <a:ext cx="731520" cy="731520"/>
          </a:xfrm>
          <a:prstGeom prst="ellipse">
            <a:avLst/>
          </a:prstGeom>
          <a:solidFill>
            <a:srgbClr val="16B8D4"/>
          </a:solidFill>
          <a:ln w="12700">
            <a:solidFill>
              <a:srgbClr val="16B8D4"/>
            </a:solidFill>
            <a:prstDash val="solid"/>
          </a:ln>
        </p:spPr>
      </p:sp>
      <p:sp>
        <p:nvSpPr>
          <p:cNvPr id="12" name="Text 10"/>
          <p:cNvSpPr/>
          <p:nvPr/>
        </p:nvSpPr>
        <p:spPr>
          <a:xfrm>
            <a:off x="3511296" y="2359152"/>
            <a:ext cx="731520" cy="219456"/>
          </a:xfrm>
          <a:prstGeom prst="rect">
            <a:avLst/>
          </a:prstGeom>
          <a:noFill/>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3" name="Text 11"/>
          <p:cNvSpPr/>
          <p:nvPr/>
        </p:nvSpPr>
        <p:spPr>
          <a:xfrm>
            <a:off x="3255264" y="3063240"/>
            <a:ext cx="1243584" cy="256032"/>
          </a:xfrm>
          <a:prstGeom prst="rect">
            <a:avLst/>
          </a:prstGeom>
          <a:noFill/>
        </p:spPr>
        <p:txBody>
          <a:bodyPr wrap="square" lIns="0" tIns="0" rIns="0" bIns="0" rtlCol="0" anchor="ctr"/>
          <a:lstStyle/>
          <a:p>
            <a:pPr marL="0" indent="0" algn="ctr">
              <a:buNone/>
            </a:pPr>
            <a:r>
              <a:rPr lang="en-US" sz="1400" b="1" dirty="0">
                <a:solidFill>
                  <a:srgbClr val="0B1F3A"/>
                </a:solidFill>
              </a:rPr>
              <a:t>PLAN</a:t>
            </a:r>
            <a:endParaRPr lang="en-US" sz="1400" dirty="0"/>
          </a:p>
        </p:txBody>
      </p:sp>
      <p:sp>
        <p:nvSpPr>
          <p:cNvPr id="14" name="Text 12"/>
          <p:cNvSpPr/>
          <p:nvPr/>
        </p:nvSpPr>
        <p:spPr>
          <a:xfrm>
            <a:off x="3236976" y="3383280"/>
            <a:ext cx="1280160" cy="256032"/>
          </a:xfrm>
          <a:prstGeom prst="rect">
            <a:avLst/>
          </a:prstGeom>
          <a:noFill/>
        </p:spPr>
        <p:txBody>
          <a:bodyPr wrap="square" lIns="0" tIns="0" rIns="0" bIns="0" rtlCol="0" anchor="ctr">
            <a:normAutofit/>
          </a:bodyPr>
          <a:lstStyle/>
          <a:p>
            <a:pPr marL="0" indent="0" algn="ctr">
              <a:buNone/>
            </a:pPr>
            <a:r>
              <a:rPr lang="en-US" sz="960" dirty="0">
                <a:solidFill>
                  <a:srgbClr val="667085"/>
                </a:solidFill>
              </a:rPr>
              <a:t>Break into steps</a:t>
            </a:r>
            <a:endParaRPr lang="en-US" sz="960" dirty="0"/>
          </a:p>
        </p:txBody>
      </p:sp>
      <p:sp>
        <p:nvSpPr>
          <p:cNvPr id="15" name="Shape 13"/>
          <p:cNvSpPr/>
          <p:nvPr/>
        </p:nvSpPr>
        <p:spPr>
          <a:xfrm>
            <a:off x="4754880" y="2514600"/>
            <a:ext cx="429768" cy="530352"/>
          </a:xfrm>
          <a:prstGeom prst="chevron">
            <a:avLst/>
          </a:prstGeom>
          <a:solidFill>
            <a:srgbClr val="C5D0DC"/>
          </a:solidFill>
          <a:ln w="12700">
            <a:solidFill>
              <a:srgbClr val="C5D0DC"/>
            </a:solidFill>
            <a:prstDash val="solid"/>
          </a:ln>
        </p:spPr>
      </p:sp>
      <p:sp>
        <p:nvSpPr>
          <p:cNvPr id="16" name="Shape 14"/>
          <p:cNvSpPr/>
          <p:nvPr/>
        </p:nvSpPr>
        <p:spPr>
          <a:xfrm>
            <a:off x="5358384" y="1847088"/>
            <a:ext cx="1572768" cy="1874520"/>
          </a:xfrm>
          <a:prstGeom prst="roundRect">
            <a:avLst>
              <a:gd name="adj" fmla="val 6977"/>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7" name="Shape 15"/>
          <p:cNvSpPr/>
          <p:nvPr/>
        </p:nvSpPr>
        <p:spPr>
          <a:xfrm>
            <a:off x="5779008" y="2167128"/>
            <a:ext cx="731520" cy="731520"/>
          </a:xfrm>
          <a:prstGeom prst="ellipse">
            <a:avLst/>
          </a:prstGeom>
          <a:solidFill>
            <a:srgbClr val="F59E0B"/>
          </a:solidFill>
          <a:ln w="12700">
            <a:solidFill>
              <a:srgbClr val="F59E0B"/>
            </a:solidFill>
            <a:prstDash val="solid"/>
          </a:ln>
        </p:spPr>
      </p:sp>
      <p:sp>
        <p:nvSpPr>
          <p:cNvPr id="18" name="Text 16"/>
          <p:cNvSpPr/>
          <p:nvPr/>
        </p:nvSpPr>
        <p:spPr>
          <a:xfrm>
            <a:off x="5779008" y="2359152"/>
            <a:ext cx="731520" cy="219456"/>
          </a:xfrm>
          <a:prstGeom prst="rect">
            <a:avLst/>
          </a:prstGeom>
          <a:noFill/>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9" name="Text 17"/>
          <p:cNvSpPr/>
          <p:nvPr/>
        </p:nvSpPr>
        <p:spPr>
          <a:xfrm>
            <a:off x="5522976" y="3063240"/>
            <a:ext cx="1243584" cy="256032"/>
          </a:xfrm>
          <a:prstGeom prst="rect">
            <a:avLst/>
          </a:prstGeom>
          <a:noFill/>
        </p:spPr>
        <p:txBody>
          <a:bodyPr wrap="square" lIns="0" tIns="0" rIns="0" bIns="0" rtlCol="0" anchor="ctr"/>
          <a:lstStyle/>
          <a:p>
            <a:pPr marL="0" indent="0" algn="ctr">
              <a:buNone/>
            </a:pPr>
            <a:r>
              <a:rPr lang="en-US" sz="1400" b="1" dirty="0">
                <a:solidFill>
                  <a:srgbClr val="0B1F3A"/>
                </a:solidFill>
              </a:rPr>
              <a:t>TOOLS</a:t>
            </a:r>
            <a:endParaRPr lang="en-US" sz="1400" dirty="0"/>
          </a:p>
        </p:txBody>
      </p:sp>
      <p:sp>
        <p:nvSpPr>
          <p:cNvPr id="20" name="Text 18"/>
          <p:cNvSpPr/>
          <p:nvPr/>
        </p:nvSpPr>
        <p:spPr>
          <a:xfrm>
            <a:off x="5504688" y="3383280"/>
            <a:ext cx="1280160" cy="256032"/>
          </a:xfrm>
          <a:prstGeom prst="rect">
            <a:avLst/>
          </a:prstGeom>
          <a:noFill/>
        </p:spPr>
        <p:txBody>
          <a:bodyPr wrap="square" lIns="0" tIns="0" rIns="0" bIns="0" rtlCol="0" anchor="ctr">
            <a:normAutofit/>
          </a:bodyPr>
          <a:lstStyle/>
          <a:p>
            <a:pPr marL="0" indent="0" algn="ctr">
              <a:buNone/>
            </a:pPr>
            <a:r>
              <a:rPr lang="en-US" sz="960" dirty="0">
                <a:solidFill>
                  <a:srgbClr val="667085"/>
                </a:solidFill>
              </a:rPr>
              <a:t>Search, code, apps, files</a:t>
            </a:r>
            <a:endParaRPr lang="en-US" sz="960" dirty="0"/>
          </a:p>
        </p:txBody>
      </p:sp>
      <p:sp>
        <p:nvSpPr>
          <p:cNvPr id="21" name="Shape 19"/>
          <p:cNvSpPr/>
          <p:nvPr/>
        </p:nvSpPr>
        <p:spPr>
          <a:xfrm>
            <a:off x="7022592" y="2514600"/>
            <a:ext cx="429768" cy="530352"/>
          </a:xfrm>
          <a:prstGeom prst="chevron">
            <a:avLst/>
          </a:prstGeom>
          <a:solidFill>
            <a:srgbClr val="C5D0DC"/>
          </a:solidFill>
          <a:ln w="12700">
            <a:solidFill>
              <a:srgbClr val="C5D0DC"/>
            </a:solidFill>
            <a:prstDash val="solid"/>
          </a:ln>
        </p:spPr>
      </p:sp>
      <p:sp>
        <p:nvSpPr>
          <p:cNvPr id="22" name="Shape 20"/>
          <p:cNvSpPr/>
          <p:nvPr/>
        </p:nvSpPr>
        <p:spPr>
          <a:xfrm>
            <a:off x="7626096" y="1847088"/>
            <a:ext cx="1572768" cy="1874520"/>
          </a:xfrm>
          <a:prstGeom prst="roundRect">
            <a:avLst>
              <a:gd name="adj" fmla="val 6977"/>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3" name="Shape 21"/>
          <p:cNvSpPr/>
          <p:nvPr/>
        </p:nvSpPr>
        <p:spPr>
          <a:xfrm>
            <a:off x="8046720" y="2167128"/>
            <a:ext cx="731520" cy="731520"/>
          </a:xfrm>
          <a:prstGeom prst="ellipse">
            <a:avLst/>
          </a:prstGeom>
          <a:solidFill>
            <a:srgbClr val="DC2626"/>
          </a:solidFill>
          <a:ln w="12700">
            <a:solidFill>
              <a:srgbClr val="DC2626"/>
            </a:solidFill>
            <a:prstDash val="solid"/>
          </a:ln>
        </p:spPr>
      </p:sp>
      <p:sp>
        <p:nvSpPr>
          <p:cNvPr id="24" name="Text 22"/>
          <p:cNvSpPr/>
          <p:nvPr/>
        </p:nvSpPr>
        <p:spPr>
          <a:xfrm>
            <a:off x="8046720" y="2359152"/>
            <a:ext cx="731520" cy="219456"/>
          </a:xfrm>
          <a:prstGeom prst="rect">
            <a:avLst/>
          </a:prstGeom>
          <a:noFill/>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5" name="Text 23"/>
          <p:cNvSpPr/>
          <p:nvPr/>
        </p:nvSpPr>
        <p:spPr>
          <a:xfrm>
            <a:off x="7790688" y="3063240"/>
            <a:ext cx="1243584" cy="256032"/>
          </a:xfrm>
          <a:prstGeom prst="rect">
            <a:avLst/>
          </a:prstGeom>
          <a:noFill/>
        </p:spPr>
        <p:txBody>
          <a:bodyPr wrap="square" lIns="0" tIns="0" rIns="0" bIns="0" rtlCol="0" anchor="ctr"/>
          <a:lstStyle/>
          <a:p>
            <a:pPr marL="0" indent="0" algn="ctr">
              <a:buNone/>
            </a:pPr>
            <a:r>
              <a:rPr lang="en-US" sz="1400" b="1" dirty="0">
                <a:solidFill>
                  <a:srgbClr val="0B1F3A"/>
                </a:solidFill>
              </a:rPr>
              <a:t>ACTIONS</a:t>
            </a:r>
            <a:endParaRPr lang="en-US" sz="1400" dirty="0"/>
          </a:p>
        </p:txBody>
      </p:sp>
      <p:sp>
        <p:nvSpPr>
          <p:cNvPr id="26" name="Text 24"/>
          <p:cNvSpPr/>
          <p:nvPr/>
        </p:nvSpPr>
        <p:spPr>
          <a:xfrm>
            <a:off x="7772400" y="3383280"/>
            <a:ext cx="1280160" cy="256032"/>
          </a:xfrm>
          <a:prstGeom prst="rect">
            <a:avLst/>
          </a:prstGeom>
          <a:noFill/>
        </p:spPr>
        <p:txBody>
          <a:bodyPr wrap="square" lIns="0" tIns="0" rIns="0" bIns="0" rtlCol="0" anchor="ctr">
            <a:normAutofit/>
          </a:bodyPr>
          <a:lstStyle/>
          <a:p>
            <a:pPr marL="0" indent="0" algn="ctr">
              <a:buNone/>
            </a:pPr>
            <a:r>
              <a:rPr lang="en-US" sz="960" dirty="0">
                <a:solidFill>
                  <a:srgbClr val="667085"/>
                </a:solidFill>
              </a:rPr>
              <a:t>Execute approved steps</a:t>
            </a:r>
            <a:endParaRPr lang="en-US" sz="960" dirty="0"/>
          </a:p>
        </p:txBody>
      </p:sp>
      <p:sp>
        <p:nvSpPr>
          <p:cNvPr id="27" name="Shape 25"/>
          <p:cNvSpPr/>
          <p:nvPr/>
        </p:nvSpPr>
        <p:spPr>
          <a:xfrm>
            <a:off x="9290304" y="2514600"/>
            <a:ext cx="429768" cy="530352"/>
          </a:xfrm>
          <a:prstGeom prst="chevron">
            <a:avLst/>
          </a:prstGeom>
          <a:solidFill>
            <a:srgbClr val="C5D0DC"/>
          </a:solidFill>
          <a:ln w="12700">
            <a:solidFill>
              <a:srgbClr val="C5D0DC"/>
            </a:solidFill>
            <a:prstDash val="solid"/>
          </a:ln>
        </p:spPr>
      </p:sp>
      <p:sp>
        <p:nvSpPr>
          <p:cNvPr id="28" name="Shape 26"/>
          <p:cNvSpPr/>
          <p:nvPr/>
        </p:nvSpPr>
        <p:spPr>
          <a:xfrm>
            <a:off x="9893808" y="1847088"/>
            <a:ext cx="1572768" cy="1874520"/>
          </a:xfrm>
          <a:prstGeom prst="roundRect">
            <a:avLst>
              <a:gd name="adj" fmla="val 6977"/>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9" name="Shape 27"/>
          <p:cNvSpPr/>
          <p:nvPr/>
        </p:nvSpPr>
        <p:spPr>
          <a:xfrm>
            <a:off x="10314432" y="2167128"/>
            <a:ext cx="731520" cy="731520"/>
          </a:xfrm>
          <a:prstGeom prst="ellipse">
            <a:avLst/>
          </a:prstGeom>
          <a:solidFill>
            <a:srgbClr val="16A34A"/>
          </a:solidFill>
          <a:ln w="12700">
            <a:solidFill>
              <a:srgbClr val="16A34A"/>
            </a:solidFill>
            <a:prstDash val="solid"/>
          </a:ln>
        </p:spPr>
      </p:sp>
      <p:sp>
        <p:nvSpPr>
          <p:cNvPr id="30" name="Text 28"/>
          <p:cNvSpPr/>
          <p:nvPr/>
        </p:nvSpPr>
        <p:spPr>
          <a:xfrm>
            <a:off x="10314432" y="2359152"/>
            <a:ext cx="731520" cy="219456"/>
          </a:xfrm>
          <a:prstGeom prst="rect">
            <a:avLst/>
          </a:prstGeom>
          <a:noFill/>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31" name="Text 29"/>
          <p:cNvSpPr/>
          <p:nvPr/>
        </p:nvSpPr>
        <p:spPr>
          <a:xfrm>
            <a:off x="10058400" y="3063240"/>
            <a:ext cx="1243584" cy="256032"/>
          </a:xfrm>
          <a:prstGeom prst="rect">
            <a:avLst/>
          </a:prstGeom>
          <a:noFill/>
        </p:spPr>
        <p:txBody>
          <a:bodyPr wrap="square" lIns="0" tIns="0" rIns="0" bIns="0" rtlCol="0" anchor="ctr"/>
          <a:lstStyle/>
          <a:p>
            <a:pPr marL="0" indent="0" algn="ctr">
              <a:buNone/>
            </a:pPr>
            <a:r>
              <a:rPr lang="en-US" sz="1400" b="1" dirty="0">
                <a:solidFill>
                  <a:srgbClr val="0B1F3A"/>
                </a:solidFill>
              </a:rPr>
              <a:t>CHECK</a:t>
            </a:r>
            <a:endParaRPr lang="en-US" sz="1400" dirty="0"/>
          </a:p>
        </p:txBody>
      </p:sp>
      <p:sp>
        <p:nvSpPr>
          <p:cNvPr id="32" name="Text 30"/>
          <p:cNvSpPr/>
          <p:nvPr/>
        </p:nvSpPr>
        <p:spPr>
          <a:xfrm>
            <a:off x="10040112" y="3383280"/>
            <a:ext cx="1280160" cy="256032"/>
          </a:xfrm>
          <a:prstGeom prst="rect">
            <a:avLst/>
          </a:prstGeom>
          <a:noFill/>
        </p:spPr>
        <p:txBody>
          <a:bodyPr wrap="square" lIns="0" tIns="0" rIns="0" bIns="0" rtlCol="0" anchor="ctr">
            <a:normAutofit/>
          </a:bodyPr>
          <a:lstStyle/>
          <a:p>
            <a:pPr marL="0" indent="0" algn="ctr">
              <a:buNone/>
            </a:pPr>
            <a:r>
              <a:rPr lang="en-US" sz="960" dirty="0">
                <a:solidFill>
                  <a:srgbClr val="667085"/>
                </a:solidFill>
              </a:rPr>
              <a:t>Evaluate and adjust</a:t>
            </a:r>
            <a:endParaRPr lang="en-US" sz="960" dirty="0"/>
          </a:p>
        </p:txBody>
      </p:sp>
      <p:sp>
        <p:nvSpPr>
          <p:cNvPr id="33" name="Shape 31"/>
          <p:cNvSpPr/>
          <p:nvPr/>
        </p:nvSpPr>
        <p:spPr>
          <a:xfrm>
            <a:off x="1280160" y="4389120"/>
            <a:ext cx="9646920" cy="1115568"/>
          </a:xfrm>
          <a:prstGeom prst="roundRect">
            <a:avLst>
              <a:gd name="adj" fmla="val 9836"/>
            </a:avLst>
          </a:prstGeom>
          <a:solidFill>
            <a:srgbClr val="EAF8EE"/>
          </a:solidFill>
          <a:ln w="12700">
            <a:solidFill>
              <a:srgbClr val="A8DDB7"/>
            </a:solidFill>
            <a:prstDash val="solid"/>
          </a:ln>
          <a:effectLst>
            <a:outerShdw blurRad="-2147483648" dist="-2147483648" algn="bl" rotWithShape="0">
              <a:srgbClr val="000000">
                <a:alpha val="0"/>
              </a:srgbClr>
            </a:outerShdw>
          </a:effectLst>
        </p:spPr>
      </p:sp>
      <p:sp>
        <p:nvSpPr>
          <p:cNvPr id="34" name="Text 32"/>
          <p:cNvSpPr/>
          <p:nvPr/>
        </p:nvSpPr>
        <p:spPr>
          <a:xfrm>
            <a:off x="1627632" y="4736592"/>
            <a:ext cx="8961120" cy="320040"/>
          </a:xfrm>
          <a:prstGeom prst="rect">
            <a:avLst/>
          </a:prstGeom>
          <a:noFill/>
        </p:spPr>
        <p:txBody>
          <a:bodyPr wrap="square" lIns="0" tIns="0" rIns="0" bIns="0" rtlCol="0" anchor="ctr"/>
          <a:lstStyle/>
          <a:p>
            <a:pPr marL="0" indent="0" algn="ctr">
              <a:buNone/>
            </a:pPr>
            <a:r>
              <a:rPr lang="en-US" sz="1900" b="1" dirty="0">
                <a:solidFill>
                  <a:srgbClr val="0B1F3A"/>
                </a:solidFill>
              </a:rPr>
              <a:t>Agent = Model + Goal + Memory/Context + Tools + Feedback Loop + User Control</a:t>
            </a:r>
            <a:endParaRPr lang="en-US" sz="1900" dirty="0"/>
          </a:p>
        </p:txBody>
      </p:sp>
      <p:sp>
        <p:nvSpPr>
          <p:cNvPr id="35" name="Text 33"/>
          <p:cNvSpPr/>
          <p:nvPr/>
        </p:nvSpPr>
        <p:spPr>
          <a:xfrm>
            <a:off x="1664208" y="5148072"/>
            <a:ext cx="8869680" cy="201168"/>
          </a:xfrm>
          <a:prstGeom prst="rect">
            <a:avLst/>
          </a:prstGeom>
          <a:noFill/>
        </p:spPr>
        <p:txBody>
          <a:bodyPr wrap="square" lIns="0" tIns="0" rIns="0" bIns="0" rtlCol="0" anchor="ctr"/>
          <a:lstStyle/>
          <a:p>
            <a:pPr marL="0" indent="0" algn="ctr">
              <a:buNone/>
            </a:pPr>
            <a:r>
              <a:rPr lang="en-US" sz="1050" dirty="0">
                <a:solidFill>
                  <a:srgbClr val="667085"/>
                </a:solidFill>
              </a:rPr>
              <a:t>Important: an agent may still make mistakes; permissions, checkpoints, and verification remain necessary.</a:t>
            </a:r>
            <a:endParaRPr lang="en-US" sz="1050" dirty="0"/>
          </a:p>
        </p:txBody>
      </p:sp>
      <p:sp>
        <p:nvSpPr>
          <p:cNvPr id="36" name="Text 34"/>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Help — ChatGPT agent (accessed 17 Jul 2026).</a:t>
            </a:r>
            <a:endParaRPr lang="en-US" sz="750" dirty="0"/>
          </a:p>
        </p:txBody>
      </p:sp>
      <p:sp>
        <p:nvSpPr>
          <p:cNvPr id="37"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The Agent Loop</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Agents repeatedly observe, reason, act, and evaluate until the goal is reached or the user stops them.</a:t>
            </a:r>
            <a:endParaRPr lang="en-US" sz="1150" dirty="0"/>
          </a:p>
        </p:txBody>
      </p:sp>
      <p:sp>
        <p:nvSpPr>
          <p:cNvPr id="4" name="Shape 2"/>
          <p:cNvSpPr/>
          <p:nvPr/>
        </p:nvSpPr>
        <p:spPr>
          <a:xfrm>
            <a:off x="5074920" y="896112"/>
            <a:ext cx="2011680" cy="1005840"/>
          </a:xfrm>
          <a:prstGeom prst="roundRect">
            <a:avLst>
              <a:gd name="adj" fmla="val 10909"/>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5" name="Shape 3"/>
          <p:cNvSpPr/>
          <p:nvPr/>
        </p:nvSpPr>
        <p:spPr>
          <a:xfrm>
            <a:off x="5303520" y="1060704"/>
            <a:ext cx="1554480" cy="310896"/>
          </a:xfrm>
          <a:prstGeom prst="roundRect">
            <a:avLst>
              <a:gd name="adj" fmla="val 44118"/>
            </a:avLst>
          </a:prstGeom>
          <a:solidFill>
            <a:srgbClr val="1677FF"/>
          </a:solidFill>
          <a:ln w="12700">
            <a:solidFill>
              <a:srgbClr val="1677FF"/>
            </a:solidFill>
            <a:prstDash val="solid"/>
          </a:ln>
        </p:spPr>
      </p:sp>
      <p:sp>
        <p:nvSpPr>
          <p:cNvPr id="6" name="Text 4"/>
          <p:cNvSpPr/>
          <p:nvPr/>
        </p:nvSpPr>
        <p:spPr>
          <a:xfrm>
            <a:off x="5376672" y="1129284"/>
            <a:ext cx="1408176" cy="164592"/>
          </a:xfrm>
          <a:prstGeom prst="rect">
            <a:avLst/>
          </a:prstGeom>
          <a:noFill/>
        </p:spPr>
        <p:txBody>
          <a:bodyPr wrap="square" lIns="0" tIns="0" rIns="0" bIns="0" rtlCol="0" anchor="ctr"/>
          <a:lstStyle/>
          <a:p>
            <a:pPr marL="0" indent="0" algn="ctr">
              <a:buNone/>
            </a:pPr>
            <a:r>
              <a:rPr lang="en-US" sz="900" b="1" dirty="0">
                <a:solidFill>
                  <a:srgbClr val="FFFFFF"/>
                </a:solidFill>
              </a:rPr>
              <a:t>1. OBSERVE</a:t>
            </a:r>
            <a:endParaRPr lang="en-US" sz="900" dirty="0"/>
          </a:p>
        </p:txBody>
      </p:sp>
      <p:sp>
        <p:nvSpPr>
          <p:cNvPr id="7" name="Text 5"/>
          <p:cNvSpPr/>
          <p:nvPr/>
        </p:nvSpPr>
        <p:spPr>
          <a:xfrm>
            <a:off x="5276088" y="1499616"/>
            <a:ext cx="1600200" cy="256032"/>
          </a:xfrm>
          <a:prstGeom prst="rect">
            <a:avLst/>
          </a:prstGeom>
          <a:noFill/>
        </p:spPr>
        <p:txBody>
          <a:bodyPr wrap="square" lIns="0" tIns="0" rIns="0" bIns="0" rtlCol="0" anchor="ctr">
            <a:normAutofit/>
          </a:bodyPr>
          <a:lstStyle/>
          <a:p>
            <a:pPr marL="0" indent="0" algn="ctr">
              <a:buNone/>
            </a:pPr>
            <a:r>
              <a:rPr lang="en-US" sz="950" b="1" dirty="0">
                <a:solidFill>
                  <a:srgbClr val="273449"/>
                </a:solidFill>
              </a:rPr>
              <a:t>Read the goal and context</a:t>
            </a:r>
            <a:endParaRPr lang="en-US" sz="950" dirty="0"/>
          </a:p>
        </p:txBody>
      </p:sp>
      <p:sp>
        <p:nvSpPr>
          <p:cNvPr id="8" name="Shape 6"/>
          <p:cNvSpPr/>
          <p:nvPr/>
        </p:nvSpPr>
        <p:spPr>
          <a:xfrm>
            <a:off x="6080760" y="1399032"/>
            <a:ext cx="2392290" cy="1888130"/>
          </a:xfrm>
          <a:prstGeom prst="arc">
            <a:avLst/>
          </a:prstGeom>
          <a:solidFill>
            <a:srgbClr val="FFFFFF">
              <a:alpha val="0"/>
            </a:srgbClr>
          </a:solidFill>
          <a:ln w="17780">
            <a:solidFill>
              <a:srgbClr val="B4C2D0"/>
            </a:solidFill>
            <a:prstDash val="solid"/>
            <a:tailEnd type="triangle"/>
          </a:ln>
        </p:spPr>
      </p:sp>
      <p:sp>
        <p:nvSpPr>
          <p:cNvPr id="9" name="Shape 7"/>
          <p:cNvSpPr/>
          <p:nvPr/>
        </p:nvSpPr>
        <p:spPr>
          <a:xfrm>
            <a:off x="6918570" y="2235602"/>
            <a:ext cx="2011680" cy="1005840"/>
          </a:xfrm>
          <a:prstGeom prst="roundRect">
            <a:avLst>
              <a:gd name="adj" fmla="val 10909"/>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0" name="Shape 8"/>
          <p:cNvSpPr/>
          <p:nvPr/>
        </p:nvSpPr>
        <p:spPr>
          <a:xfrm>
            <a:off x="7147170" y="2400194"/>
            <a:ext cx="1554480" cy="310896"/>
          </a:xfrm>
          <a:prstGeom prst="roundRect">
            <a:avLst>
              <a:gd name="adj" fmla="val 44118"/>
            </a:avLst>
          </a:prstGeom>
          <a:solidFill>
            <a:srgbClr val="16B8D4"/>
          </a:solidFill>
          <a:ln w="12700">
            <a:solidFill>
              <a:srgbClr val="16B8D4"/>
            </a:solidFill>
            <a:prstDash val="solid"/>
          </a:ln>
        </p:spPr>
      </p:sp>
      <p:sp>
        <p:nvSpPr>
          <p:cNvPr id="11" name="Text 9"/>
          <p:cNvSpPr/>
          <p:nvPr/>
        </p:nvSpPr>
        <p:spPr>
          <a:xfrm>
            <a:off x="7220322" y="2468774"/>
            <a:ext cx="1408176" cy="164592"/>
          </a:xfrm>
          <a:prstGeom prst="rect">
            <a:avLst/>
          </a:prstGeom>
          <a:noFill/>
        </p:spPr>
        <p:txBody>
          <a:bodyPr wrap="square" lIns="0" tIns="0" rIns="0" bIns="0" rtlCol="0" anchor="ctr"/>
          <a:lstStyle/>
          <a:p>
            <a:pPr marL="0" indent="0" algn="ctr">
              <a:buNone/>
            </a:pPr>
            <a:r>
              <a:rPr lang="en-US" sz="900" b="1" dirty="0">
                <a:solidFill>
                  <a:srgbClr val="FFFFFF"/>
                </a:solidFill>
              </a:rPr>
              <a:t>2. PLAN</a:t>
            </a:r>
            <a:endParaRPr lang="en-US" sz="900" dirty="0"/>
          </a:p>
        </p:txBody>
      </p:sp>
      <p:sp>
        <p:nvSpPr>
          <p:cNvPr id="12" name="Text 10"/>
          <p:cNvSpPr/>
          <p:nvPr/>
        </p:nvSpPr>
        <p:spPr>
          <a:xfrm>
            <a:off x="7119738" y="2839106"/>
            <a:ext cx="1600200" cy="256032"/>
          </a:xfrm>
          <a:prstGeom prst="rect">
            <a:avLst/>
          </a:prstGeom>
          <a:noFill/>
        </p:spPr>
        <p:txBody>
          <a:bodyPr wrap="square" lIns="0" tIns="0" rIns="0" bIns="0" rtlCol="0" anchor="ctr">
            <a:normAutofit/>
          </a:bodyPr>
          <a:lstStyle/>
          <a:p>
            <a:pPr marL="0" indent="0" algn="ctr">
              <a:buNone/>
            </a:pPr>
            <a:r>
              <a:rPr lang="en-US" sz="950" b="1" dirty="0">
                <a:solidFill>
                  <a:srgbClr val="273449"/>
                </a:solidFill>
              </a:rPr>
              <a:t>Choose the next step</a:t>
            </a:r>
            <a:endParaRPr lang="en-US" sz="950" dirty="0"/>
          </a:p>
        </p:txBody>
      </p:sp>
      <p:sp>
        <p:nvSpPr>
          <p:cNvPr id="13" name="Shape 11"/>
          <p:cNvSpPr/>
          <p:nvPr/>
        </p:nvSpPr>
        <p:spPr>
          <a:xfrm>
            <a:off x="7220198" y="2738522"/>
            <a:ext cx="1252852" cy="2715980"/>
          </a:xfrm>
          <a:prstGeom prst="arc">
            <a:avLst/>
          </a:prstGeom>
          <a:solidFill>
            <a:srgbClr val="FFFFFF">
              <a:alpha val="0"/>
            </a:srgbClr>
          </a:solidFill>
          <a:ln w="17780">
            <a:solidFill>
              <a:srgbClr val="B4C2D0"/>
            </a:solidFill>
            <a:prstDash val="solid"/>
            <a:tailEnd type="triangle"/>
          </a:ln>
        </p:spPr>
      </p:sp>
      <p:sp>
        <p:nvSpPr>
          <p:cNvPr id="14" name="Shape 12"/>
          <p:cNvSpPr/>
          <p:nvPr/>
        </p:nvSpPr>
        <p:spPr>
          <a:xfrm>
            <a:off x="6214358" y="4402942"/>
            <a:ext cx="2011680" cy="1005840"/>
          </a:xfrm>
          <a:prstGeom prst="roundRect">
            <a:avLst>
              <a:gd name="adj" fmla="val 10909"/>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5" name="Shape 13"/>
          <p:cNvSpPr/>
          <p:nvPr/>
        </p:nvSpPr>
        <p:spPr>
          <a:xfrm>
            <a:off x="6442958" y="4567534"/>
            <a:ext cx="1554480" cy="310896"/>
          </a:xfrm>
          <a:prstGeom prst="roundRect">
            <a:avLst>
              <a:gd name="adj" fmla="val 44118"/>
            </a:avLst>
          </a:prstGeom>
          <a:solidFill>
            <a:srgbClr val="F59E0B"/>
          </a:solidFill>
          <a:ln w="12700">
            <a:solidFill>
              <a:srgbClr val="F59E0B"/>
            </a:solidFill>
            <a:prstDash val="solid"/>
          </a:ln>
        </p:spPr>
      </p:sp>
      <p:sp>
        <p:nvSpPr>
          <p:cNvPr id="16" name="Text 14"/>
          <p:cNvSpPr/>
          <p:nvPr/>
        </p:nvSpPr>
        <p:spPr>
          <a:xfrm>
            <a:off x="6516110" y="4636114"/>
            <a:ext cx="1408176" cy="164592"/>
          </a:xfrm>
          <a:prstGeom prst="rect">
            <a:avLst/>
          </a:prstGeom>
          <a:noFill/>
        </p:spPr>
        <p:txBody>
          <a:bodyPr wrap="square" lIns="0" tIns="0" rIns="0" bIns="0" rtlCol="0" anchor="ctr"/>
          <a:lstStyle/>
          <a:p>
            <a:pPr marL="0" indent="0" algn="ctr">
              <a:buNone/>
            </a:pPr>
            <a:r>
              <a:rPr lang="en-US" sz="900" b="1" dirty="0">
                <a:solidFill>
                  <a:srgbClr val="FFFFFF"/>
                </a:solidFill>
              </a:rPr>
              <a:t>3. ACT</a:t>
            </a:r>
            <a:endParaRPr lang="en-US" sz="900" dirty="0"/>
          </a:p>
        </p:txBody>
      </p:sp>
      <p:sp>
        <p:nvSpPr>
          <p:cNvPr id="17" name="Text 15"/>
          <p:cNvSpPr/>
          <p:nvPr/>
        </p:nvSpPr>
        <p:spPr>
          <a:xfrm>
            <a:off x="6415526" y="5006446"/>
            <a:ext cx="1600200" cy="256032"/>
          </a:xfrm>
          <a:prstGeom prst="rect">
            <a:avLst/>
          </a:prstGeom>
          <a:noFill/>
        </p:spPr>
        <p:txBody>
          <a:bodyPr wrap="square" lIns="0" tIns="0" rIns="0" bIns="0" rtlCol="0" anchor="ctr">
            <a:normAutofit/>
          </a:bodyPr>
          <a:lstStyle/>
          <a:p>
            <a:pPr marL="0" indent="0" algn="ctr">
              <a:buNone/>
            </a:pPr>
            <a:r>
              <a:rPr lang="en-US" sz="950" b="1" dirty="0">
                <a:solidFill>
                  <a:srgbClr val="273449"/>
                </a:solidFill>
              </a:rPr>
              <a:t>Call a tool or perform an action</a:t>
            </a:r>
            <a:endParaRPr lang="en-US" sz="950" dirty="0"/>
          </a:p>
        </p:txBody>
      </p:sp>
      <p:sp>
        <p:nvSpPr>
          <p:cNvPr id="18" name="Shape 16"/>
          <p:cNvSpPr/>
          <p:nvPr/>
        </p:nvSpPr>
        <p:spPr>
          <a:xfrm>
            <a:off x="4941322" y="4905862"/>
            <a:ext cx="2827516" cy="548640"/>
          </a:xfrm>
          <a:prstGeom prst="arc">
            <a:avLst/>
          </a:prstGeom>
          <a:solidFill>
            <a:srgbClr val="FFFFFF">
              <a:alpha val="0"/>
            </a:srgbClr>
          </a:solidFill>
          <a:ln w="17780">
            <a:solidFill>
              <a:srgbClr val="B4C2D0"/>
            </a:solidFill>
            <a:prstDash val="solid"/>
            <a:tailEnd type="triangle"/>
          </a:ln>
        </p:spPr>
      </p:sp>
      <p:sp>
        <p:nvSpPr>
          <p:cNvPr id="19" name="Shape 17"/>
          <p:cNvSpPr/>
          <p:nvPr/>
        </p:nvSpPr>
        <p:spPr>
          <a:xfrm>
            <a:off x="3935482" y="4402942"/>
            <a:ext cx="2011680" cy="1005840"/>
          </a:xfrm>
          <a:prstGeom prst="roundRect">
            <a:avLst>
              <a:gd name="adj" fmla="val 10909"/>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0" name="Shape 18"/>
          <p:cNvSpPr/>
          <p:nvPr/>
        </p:nvSpPr>
        <p:spPr>
          <a:xfrm>
            <a:off x="4164082" y="4567534"/>
            <a:ext cx="1554480" cy="310896"/>
          </a:xfrm>
          <a:prstGeom prst="roundRect">
            <a:avLst>
              <a:gd name="adj" fmla="val 44118"/>
            </a:avLst>
          </a:prstGeom>
          <a:solidFill>
            <a:srgbClr val="DC2626"/>
          </a:solidFill>
          <a:ln w="12700">
            <a:solidFill>
              <a:srgbClr val="DC2626"/>
            </a:solidFill>
            <a:prstDash val="solid"/>
          </a:ln>
        </p:spPr>
      </p:sp>
      <p:sp>
        <p:nvSpPr>
          <p:cNvPr id="21" name="Text 19"/>
          <p:cNvSpPr/>
          <p:nvPr/>
        </p:nvSpPr>
        <p:spPr>
          <a:xfrm>
            <a:off x="4237234" y="4636114"/>
            <a:ext cx="1408176" cy="164592"/>
          </a:xfrm>
          <a:prstGeom prst="rect">
            <a:avLst/>
          </a:prstGeom>
          <a:noFill/>
        </p:spPr>
        <p:txBody>
          <a:bodyPr wrap="square" lIns="0" tIns="0" rIns="0" bIns="0" rtlCol="0" anchor="ctr"/>
          <a:lstStyle/>
          <a:p>
            <a:pPr marL="0" indent="0" algn="ctr">
              <a:buNone/>
            </a:pPr>
            <a:r>
              <a:rPr lang="en-US" sz="900" b="1" dirty="0">
                <a:solidFill>
                  <a:srgbClr val="FFFFFF"/>
                </a:solidFill>
              </a:rPr>
              <a:t>4. EVALUATE</a:t>
            </a:r>
            <a:endParaRPr lang="en-US" sz="900" dirty="0"/>
          </a:p>
        </p:txBody>
      </p:sp>
      <p:sp>
        <p:nvSpPr>
          <p:cNvPr id="22" name="Text 20"/>
          <p:cNvSpPr/>
          <p:nvPr/>
        </p:nvSpPr>
        <p:spPr>
          <a:xfrm>
            <a:off x="4136650" y="5006446"/>
            <a:ext cx="1600200" cy="256032"/>
          </a:xfrm>
          <a:prstGeom prst="rect">
            <a:avLst/>
          </a:prstGeom>
          <a:noFill/>
        </p:spPr>
        <p:txBody>
          <a:bodyPr wrap="square" lIns="0" tIns="0" rIns="0" bIns="0" rtlCol="0" anchor="ctr">
            <a:normAutofit/>
          </a:bodyPr>
          <a:lstStyle/>
          <a:p>
            <a:pPr marL="0" indent="0" algn="ctr">
              <a:buNone/>
            </a:pPr>
            <a:r>
              <a:rPr lang="en-US" sz="950" b="1" dirty="0">
                <a:solidFill>
                  <a:srgbClr val="273449"/>
                </a:solidFill>
              </a:rPr>
              <a:t>Check result and constraints</a:t>
            </a:r>
            <a:endParaRPr lang="en-US" sz="950" dirty="0"/>
          </a:p>
        </p:txBody>
      </p:sp>
      <p:sp>
        <p:nvSpPr>
          <p:cNvPr id="23" name="Shape 21"/>
          <p:cNvSpPr/>
          <p:nvPr/>
        </p:nvSpPr>
        <p:spPr>
          <a:xfrm>
            <a:off x="4237110" y="2738522"/>
            <a:ext cx="1252852" cy="2715980"/>
          </a:xfrm>
          <a:prstGeom prst="arc">
            <a:avLst/>
          </a:prstGeom>
          <a:solidFill>
            <a:srgbClr val="FFFFFF">
              <a:alpha val="0"/>
            </a:srgbClr>
          </a:solidFill>
          <a:ln w="17780">
            <a:solidFill>
              <a:srgbClr val="B4C2D0"/>
            </a:solidFill>
            <a:prstDash val="solid"/>
            <a:tailEnd type="triangle"/>
          </a:ln>
        </p:spPr>
      </p:sp>
      <p:sp>
        <p:nvSpPr>
          <p:cNvPr id="24" name="Shape 22"/>
          <p:cNvSpPr/>
          <p:nvPr/>
        </p:nvSpPr>
        <p:spPr>
          <a:xfrm>
            <a:off x="3231270" y="2235602"/>
            <a:ext cx="2011680" cy="1005840"/>
          </a:xfrm>
          <a:prstGeom prst="roundRect">
            <a:avLst>
              <a:gd name="adj" fmla="val 10909"/>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5" name="Shape 23"/>
          <p:cNvSpPr/>
          <p:nvPr/>
        </p:nvSpPr>
        <p:spPr>
          <a:xfrm>
            <a:off x="3459870" y="2400194"/>
            <a:ext cx="1554480" cy="310896"/>
          </a:xfrm>
          <a:prstGeom prst="roundRect">
            <a:avLst>
              <a:gd name="adj" fmla="val 44118"/>
            </a:avLst>
          </a:prstGeom>
          <a:solidFill>
            <a:srgbClr val="16A34A"/>
          </a:solidFill>
          <a:ln w="12700">
            <a:solidFill>
              <a:srgbClr val="16A34A"/>
            </a:solidFill>
            <a:prstDash val="solid"/>
          </a:ln>
        </p:spPr>
      </p:sp>
      <p:sp>
        <p:nvSpPr>
          <p:cNvPr id="26" name="Text 24"/>
          <p:cNvSpPr/>
          <p:nvPr/>
        </p:nvSpPr>
        <p:spPr>
          <a:xfrm>
            <a:off x="3533022" y="2468774"/>
            <a:ext cx="1408176" cy="164592"/>
          </a:xfrm>
          <a:prstGeom prst="rect">
            <a:avLst/>
          </a:prstGeom>
          <a:noFill/>
        </p:spPr>
        <p:txBody>
          <a:bodyPr wrap="square" lIns="0" tIns="0" rIns="0" bIns="0" rtlCol="0" anchor="ctr"/>
          <a:lstStyle/>
          <a:p>
            <a:pPr marL="0" indent="0" algn="ctr">
              <a:buNone/>
            </a:pPr>
            <a:r>
              <a:rPr lang="en-US" sz="900" b="1" dirty="0">
                <a:solidFill>
                  <a:srgbClr val="FFFFFF"/>
                </a:solidFill>
              </a:rPr>
              <a:t>5. ADAPT</a:t>
            </a:r>
            <a:endParaRPr lang="en-US" sz="900" dirty="0"/>
          </a:p>
        </p:txBody>
      </p:sp>
      <p:sp>
        <p:nvSpPr>
          <p:cNvPr id="27" name="Text 25"/>
          <p:cNvSpPr/>
          <p:nvPr/>
        </p:nvSpPr>
        <p:spPr>
          <a:xfrm>
            <a:off x="3432438" y="2839106"/>
            <a:ext cx="1600200" cy="256032"/>
          </a:xfrm>
          <a:prstGeom prst="rect">
            <a:avLst/>
          </a:prstGeom>
          <a:noFill/>
        </p:spPr>
        <p:txBody>
          <a:bodyPr wrap="square" lIns="0" tIns="0" rIns="0" bIns="0" rtlCol="0" anchor="ctr">
            <a:normAutofit/>
          </a:bodyPr>
          <a:lstStyle/>
          <a:p>
            <a:pPr marL="0" indent="0" algn="ctr">
              <a:buNone/>
            </a:pPr>
            <a:r>
              <a:rPr lang="en-US" sz="950" b="1" dirty="0">
                <a:solidFill>
                  <a:srgbClr val="273449"/>
                </a:solidFill>
              </a:rPr>
              <a:t>Revise the plan or ask the user</a:t>
            </a:r>
            <a:endParaRPr lang="en-US" sz="950" dirty="0"/>
          </a:p>
        </p:txBody>
      </p:sp>
      <p:sp>
        <p:nvSpPr>
          <p:cNvPr id="28" name="Shape 26"/>
          <p:cNvSpPr/>
          <p:nvPr/>
        </p:nvSpPr>
        <p:spPr>
          <a:xfrm>
            <a:off x="4237110" y="1399032"/>
            <a:ext cx="2392290" cy="1888130"/>
          </a:xfrm>
          <a:prstGeom prst="arc">
            <a:avLst/>
          </a:prstGeom>
          <a:solidFill>
            <a:srgbClr val="FFFFFF">
              <a:alpha val="0"/>
            </a:srgbClr>
          </a:solidFill>
          <a:ln w="17780">
            <a:solidFill>
              <a:srgbClr val="B4C2D0"/>
            </a:solidFill>
            <a:prstDash val="solid"/>
            <a:tailEnd type="triangle"/>
          </a:ln>
        </p:spPr>
      </p:sp>
      <p:sp>
        <p:nvSpPr>
          <p:cNvPr id="29" name="Shape 27"/>
          <p:cNvSpPr/>
          <p:nvPr/>
        </p:nvSpPr>
        <p:spPr>
          <a:xfrm>
            <a:off x="4754880" y="2011680"/>
            <a:ext cx="2651760" cy="2651760"/>
          </a:xfrm>
          <a:prstGeom prst="ellipse">
            <a:avLst/>
          </a:prstGeom>
          <a:solidFill>
            <a:srgbClr val="0B1F3A"/>
          </a:solidFill>
          <a:ln w="12700">
            <a:solidFill>
              <a:srgbClr val="0B1F3A"/>
            </a:solidFill>
            <a:prstDash val="solid"/>
          </a:ln>
          <a:effectLst>
            <a:outerShdw blurRad="-2147483648" dist="-2147483648" algn="bl" rotWithShape="0">
              <a:srgbClr val="000000">
                <a:alpha val="0"/>
              </a:srgbClr>
            </a:outerShdw>
          </a:effectLst>
        </p:spPr>
      </p:sp>
      <p:sp>
        <p:nvSpPr>
          <p:cNvPr id="30" name="Text 28"/>
          <p:cNvSpPr/>
          <p:nvPr/>
        </p:nvSpPr>
        <p:spPr>
          <a:xfrm>
            <a:off x="5321808" y="2834640"/>
            <a:ext cx="1508760" cy="384048"/>
          </a:xfrm>
          <a:prstGeom prst="rect">
            <a:avLst/>
          </a:prstGeom>
          <a:noFill/>
        </p:spPr>
        <p:txBody>
          <a:bodyPr wrap="square" lIns="0" tIns="0" rIns="0" bIns="0" rtlCol="0" anchor="ctr"/>
          <a:lstStyle/>
          <a:p>
            <a:pPr marL="0" indent="0" algn="ctr">
              <a:buNone/>
            </a:pPr>
            <a:r>
              <a:rPr lang="en-US" sz="2800" b="1" dirty="0">
                <a:solidFill>
                  <a:srgbClr val="FFFFFF"/>
                </a:solidFill>
              </a:rPr>
              <a:t>GOAL</a:t>
            </a:r>
            <a:endParaRPr lang="en-US" sz="2800" dirty="0"/>
          </a:p>
        </p:txBody>
      </p:sp>
      <p:sp>
        <p:nvSpPr>
          <p:cNvPr id="31" name="Text 29"/>
          <p:cNvSpPr/>
          <p:nvPr/>
        </p:nvSpPr>
        <p:spPr>
          <a:xfrm>
            <a:off x="5257800" y="3346704"/>
            <a:ext cx="1645920" cy="274320"/>
          </a:xfrm>
          <a:prstGeom prst="rect">
            <a:avLst/>
          </a:prstGeom>
          <a:noFill/>
        </p:spPr>
        <p:txBody>
          <a:bodyPr wrap="square" lIns="0" tIns="0" rIns="0" bIns="0" rtlCol="0" anchor="ctr"/>
          <a:lstStyle/>
          <a:p>
            <a:pPr marL="0" indent="0" algn="ctr">
              <a:buNone/>
            </a:pPr>
            <a:r>
              <a:rPr lang="en-US" sz="1100" dirty="0">
                <a:solidFill>
                  <a:srgbClr val="D6E4F5"/>
                </a:solidFill>
              </a:rPr>
              <a:t>with user control</a:t>
            </a:r>
            <a:endParaRPr lang="en-US" sz="1100" dirty="0"/>
          </a:p>
        </p:txBody>
      </p:sp>
      <p:sp>
        <p:nvSpPr>
          <p:cNvPr id="32" name="Shape 30"/>
          <p:cNvSpPr/>
          <p:nvPr/>
        </p:nvSpPr>
        <p:spPr>
          <a:xfrm>
            <a:off x="685800" y="5376672"/>
            <a:ext cx="3840480" cy="658368"/>
          </a:xfrm>
          <a:prstGeom prst="roundRect">
            <a:avLst>
              <a:gd name="adj" fmla="val 16667"/>
            </a:avLst>
          </a:prstGeom>
          <a:solidFill>
            <a:srgbClr val="FFF4DF"/>
          </a:solidFill>
          <a:ln w="12700">
            <a:solidFill>
              <a:srgbClr val="F1CB82"/>
            </a:solidFill>
            <a:prstDash val="solid"/>
          </a:ln>
          <a:effectLst>
            <a:outerShdw blurRad="-2147483648" dist="-2147483648" algn="bl" rotWithShape="0">
              <a:srgbClr val="000000">
                <a:alpha val="0"/>
              </a:srgbClr>
            </a:outerShdw>
          </a:effectLst>
        </p:spPr>
      </p:sp>
      <p:sp>
        <p:nvSpPr>
          <p:cNvPr id="33" name="Text 31"/>
          <p:cNvSpPr/>
          <p:nvPr/>
        </p:nvSpPr>
        <p:spPr>
          <a:xfrm>
            <a:off x="896112" y="5586984"/>
            <a:ext cx="3429000" cy="246888"/>
          </a:xfrm>
          <a:prstGeom prst="rect">
            <a:avLst/>
          </a:prstGeom>
          <a:noFill/>
        </p:spPr>
        <p:txBody>
          <a:bodyPr wrap="square" lIns="0" tIns="0" rIns="0" bIns="0" rtlCol="0" anchor="ctr">
            <a:normAutofit/>
          </a:bodyPr>
          <a:lstStyle/>
          <a:p>
            <a:pPr marL="0" indent="0" algn="ctr">
              <a:buNone/>
            </a:pPr>
            <a:r>
              <a:rPr lang="en-US" sz="1100" b="1" dirty="0">
                <a:solidFill>
                  <a:srgbClr val="0B1F3A"/>
                </a:solidFill>
              </a:rPr>
              <a:t>A good agent stops when the goal is met, blocked, risky, or ambiguous.</a:t>
            </a:r>
            <a:endParaRPr lang="en-US" sz="1100" dirty="0"/>
          </a:p>
        </p:txBody>
      </p:sp>
      <p:sp>
        <p:nvSpPr>
          <p:cNvPr id="34"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Case Study: Organize a Research Scholar Seminar</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Compare a normal chat response with an agentic workflow.</a:t>
            </a:r>
            <a:endParaRPr lang="en-US" sz="1150" dirty="0"/>
          </a:p>
        </p:txBody>
      </p:sp>
      <p:sp>
        <p:nvSpPr>
          <p:cNvPr id="4" name="Shape 2"/>
          <p:cNvSpPr/>
          <p:nvPr/>
        </p:nvSpPr>
        <p:spPr>
          <a:xfrm>
            <a:off x="658368" y="1280160"/>
            <a:ext cx="5321808" cy="4526280"/>
          </a:xfrm>
          <a:prstGeom prst="roundRect">
            <a:avLst>
              <a:gd name="adj" fmla="val 2424"/>
            </a:avLst>
          </a:prstGeom>
          <a:solidFill>
            <a:srgbClr val="EAF3FF"/>
          </a:solidFill>
          <a:ln w="12700">
            <a:solidFill>
              <a:srgbClr val="B7D6FF"/>
            </a:solidFill>
            <a:prstDash val="solid"/>
          </a:ln>
          <a:effectLst>
            <a:outerShdw blurRad="-2147483648" dist="-2147483648" algn="bl" rotWithShape="0">
              <a:srgbClr val="000000">
                <a:alpha val="0"/>
              </a:srgbClr>
            </a:outerShdw>
          </a:effectLst>
        </p:spPr>
      </p:sp>
      <p:sp>
        <p:nvSpPr>
          <p:cNvPr id="5" name="Text 3"/>
          <p:cNvSpPr/>
          <p:nvPr/>
        </p:nvSpPr>
        <p:spPr>
          <a:xfrm>
            <a:off x="960120" y="1600200"/>
            <a:ext cx="1920240" cy="274320"/>
          </a:xfrm>
          <a:prstGeom prst="rect">
            <a:avLst/>
          </a:prstGeom>
          <a:noFill/>
        </p:spPr>
        <p:txBody>
          <a:bodyPr wrap="square" lIns="0" tIns="0" rIns="0" bIns="0" rtlCol="0" anchor="ctr"/>
          <a:lstStyle/>
          <a:p>
            <a:pPr marL="0" indent="0">
              <a:buNone/>
            </a:pPr>
            <a:r>
              <a:rPr lang="en-US" sz="1800" b="1" dirty="0">
                <a:solidFill>
                  <a:srgbClr val="1677FF"/>
                </a:solidFill>
              </a:rPr>
              <a:t>NORMAL CHAT</a:t>
            </a:r>
            <a:endParaRPr lang="en-US" sz="1800" dirty="0"/>
          </a:p>
        </p:txBody>
      </p:sp>
      <p:sp>
        <p:nvSpPr>
          <p:cNvPr id="6" name="Text 4"/>
          <p:cNvSpPr/>
          <p:nvPr/>
        </p:nvSpPr>
        <p:spPr>
          <a:xfrm>
            <a:off x="960120" y="2057400"/>
            <a:ext cx="4389120" cy="320040"/>
          </a:xfrm>
          <a:prstGeom prst="rect">
            <a:avLst/>
          </a:prstGeom>
          <a:noFill/>
        </p:spPr>
        <p:txBody>
          <a:bodyPr wrap="square" lIns="0" tIns="0" rIns="0" bIns="0" rtlCol="0" anchor="ctr"/>
          <a:lstStyle/>
          <a:p>
            <a:pPr marL="0" indent="0">
              <a:buNone/>
            </a:pPr>
            <a:r>
              <a:rPr lang="en-US" sz="1500" b="1" dirty="0">
                <a:solidFill>
                  <a:srgbClr val="0B1F3A"/>
                </a:solidFill>
              </a:rPr>
              <a:t>Prompt: “Plan a research seminar.”</a:t>
            </a:r>
            <a:endParaRPr lang="en-US" sz="1500" dirty="0"/>
          </a:p>
        </p:txBody>
      </p:sp>
      <p:sp>
        <p:nvSpPr>
          <p:cNvPr id="7" name="Text 5"/>
          <p:cNvSpPr/>
          <p:nvPr/>
        </p:nvSpPr>
        <p:spPr>
          <a:xfrm>
            <a:off x="960120" y="2615184"/>
            <a:ext cx="4389120" cy="2011680"/>
          </a:xfrm>
          <a:prstGeom prst="rect">
            <a:avLst/>
          </a:prstGeom>
          <a:noFill/>
        </p:spPr>
        <p:txBody>
          <a:bodyPr wrap="square" lIns="508" tIns="508" rIns="508" bIns="508" rtlCol="0" anchor="ctr">
            <a:normAutofit/>
          </a:bodyPr>
          <a:lstStyle/>
          <a:p>
            <a:pPr marL="160020" indent="-160020">
              <a:buSzPct val="100000"/>
              <a:buChar char="•"/>
            </a:pPr>
            <a:r>
              <a:rPr lang="en-US" sz="1400" dirty="0">
                <a:solidFill>
                  <a:srgbClr val="273449"/>
                </a:solidFill>
              </a:rPr>
              <a:t>Suggests agenda and checklist</a:t>
            </a:r>
            <a:endParaRPr lang="en-US" sz="1400" dirty="0"/>
          </a:p>
          <a:p>
            <a:pPr marL="160020" indent="-160020">
              <a:buSzPct val="100000"/>
              <a:buChar char="•"/>
            </a:pPr>
            <a:r>
              <a:rPr lang="en-US" sz="1400" dirty="0">
                <a:solidFill>
                  <a:srgbClr val="273449"/>
                </a:solidFill>
              </a:rPr>
              <a:t>Drafts invitation text</a:t>
            </a:r>
            <a:endParaRPr lang="en-US" sz="1400" dirty="0"/>
          </a:p>
          <a:p>
            <a:pPr marL="160020" indent="-160020">
              <a:buSzPct val="100000"/>
              <a:buChar char="•"/>
            </a:pPr>
            <a:r>
              <a:rPr lang="en-US" sz="1400" dirty="0">
                <a:solidFill>
                  <a:srgbClr val="273449"/>
                </a:solidFill>
              </a:rPr>
              <a:t>Provides ideas and templates</a:t>
            </a:r>
            <a:endParaRPr lang="en-US" sz="1400" dirty="0"/>
          </a:p>
          <a:p>
            <a:pPr marL="160020" indent="-160020">
              <a:buSzPct val="100000"/>
              <a:buChar char="•"/>
            </a:pPr>
            <a:r>
              <a:rPr lang="en-US" sz="1400" dirty="0">
                <a:solidFill>
                  <a:srgbClr val="273449"/>
                </a:solidFill>
              </a:rPr>
              <a:t>You manually verify dates, contact people, and execute actions</a:t>
            </a:r>
            <a:endParaRPr lang="en-US" sz="1400" dirty="0"/>
          </a:p>
        </p:txBody>
      </p:sp>
      <p:sp>
        <p:nvSpPr>
          <p:cNvPr id="8" name="Shape 6"/>
          <p:cNvSpPr/>
          <p:nvPr/>
        </p:nvSpPr>
        <p:spPr>
          <a:xfrm>
            <a:off x="6199632" y="1280160"/>
            <a:ext cx="5321808" cy="4526280"/>
          </a:xfrm>
          <a:prstGeom prst="roundRect">
            <a:avLst>
              <a:gd name="adj" fmla="val 2424"/>
            </a:avLst>
          </a:prstGeom>
          <a:solidFill>
            <a:srgbClr val="EAF8EE"/>
          </a:solidFill>
          <a:ln w="12700">
            <a:solidFill>
              <a:srgbClr val="A8DDB7"/>
            </a:solidFill>
            <a:prstDash val="solid"/>
          </a:ln>
          <a:effectLst>
            <a:outerShdw blurRad="-2147483648" dist="-2147483648" algn="bl" rotWithShape="0">
              <a:srgbClr val="000000">
                <a:alpha val="0"/>
              </a:srgbClr>
            </a:outerShdw>
          </a:effectLst>
        </p:spPr>
      </p:sp>
      <p:sp>
        <p:nvSpPr>
          <p:cNvPr id="9" name="Text 7"/>
          <p:cNvSpPr/>
          <p:nvPr/>
        </p:nvSpPr>
        <p:spPr>
          <a:xfrm>
            <a:off x="6510528" y="1600200"/>
            <a:ext cx="2560320" cy="274320"/>
          </a:xfrm>
          <a:prstGeom prst="rect">
            <a:avLst/>
          </a:prstGeom>
          <a:noFill/>
        </p:spPr>
        <p:txBody>
          <a:bodyPr wrap="square" lIns="0" tIns="0" rIns="0" bIns="0" rtlCol="0" anchor="ctr"/>
          <a:lstStyle/>
          <a:p>
            <a:pPr marL="0" indent="0">
              <a:buNone/>
            </a:pPr>
            <a:r>
              <a:rPr lang="en-US" sz="1800" b="1" dirty="0">
                <a:solidFill>
                  <a:srgbClr val="16A34A"/>
                </a:solidFill>
              </a:rPr>
              <a:t>AGENTIC WORKFLOW</a:t>
            </a:r>
            <a:endParaRPr lang="en-US" sz="1800" dirty="0"/>
          </a:p>
        </p:txBody>
      </p:sp>
      <p:sp>
        <p:nvSpPr>
          <p:cNvPr id="10" name="Text 8"/>
          <p:cNvSpPr/>
          <p:nvPr/>
        </p:nvSpPr>
        <p:spPr>
          <a:xfrm>
            <a:off x="6510528" y="2057400"/>
            <a:ext cx="4389120" cy="502920"/>
          </a:xfrm>
          <a:prstGeom prst="rect">
            <a:avLst/>
          </a:prstGeom>
          <a:noFill/>
        </p:spPr>
        <p:txBody>
          <a:bodyPr wrap="square" lIns="0" tIns="0" rIns="0" bIns="0" rtlCol="0" anchor="ctr">
            <a:normAutofit/>
          </a:bodyPr>
          <a:lstStyle/>
          <a:p>
            <a:pPr marL="0" indent="0">
              <a:buNone/>
            </a:pPr>
            <a:r>
              <a:rPr lang="en-US" sz="1500" b="1" dirty="0">
                <a:solidFill>
                  <a:srgbClr val="0B1F3A"/>
                </a:solidFill>
              </a:rPr>
              <a:t>Goal: “Prepare the seminar plan and complete approved coordination steps.”</a:t>
            </a:r>
            <a:endParaRPr lang="en-US" sz="1500" dirty="0"/>
          </a:p>
        </p:txBody>
      </p:sp>
      <p:sp>
        <p:nvSpPr>
          <p:cNvPr id="11" name="Text 9"/>
          <p:cNvSpPr/>
          <p:nvPr/>
        </p:nvSpPr>
        <p:spPr>
          <a:xfrm>
            <a:off x="6510528" y="2743200"/>
            <a:ext cx="4434840" cy="2560320"/>
          </a:xfrm>
          <a:prstGeom prst="rect">
            <a:avLst/>
          </a:prstGeom>
          <a:noFill/>
        </p:spPr>
        <p:txBody>
          <a:bodyPr wrap="square" lIns="508" tIns="508" rIns="508" bIns="508" rtlCol="0" anchor="ctr">
            <a:normAutofit/>
          </a:bodyPr>
          <a:lstStyle/>
          <a:p>
            <a:pPr marL="148590" indent="-148590">
              <a:buSzPct val="100000"/>
              <a:buChar char="•"/>
            </a:pPr>
            <a:r>
              <a:rPr lang="en-US" sz="1300" dirty="0">
                <a:solidFill>
                  <a:srgbClr val="273449"/>
                </a:solidFill>
              </a:rPr>
              <a:t>Reads files and requirements</a:t>
            </a:r>
            <a:endParaRPr lang="en-US" sz="1300" dirty="0"/>
          </a:p>
          <a:p>
            <a:pPr marL="148590" indent="-148590">
              <a:buSzPct val="100000"/>
              <a:buChar char="•"/>
            </a:pPr>
            <a:r>
              <a:rPr lang="en-US" sz="1300" dirty="0">
                <a:solidFill>
                  <a:srgbClr val="273449"/>
                </a:solidFill>
              </a:rPr>
              <a:t>Checks calendar and constraints</a:t>
            </a:r>
            <a:endParaRPr lang="en-US" sz="1300" dirty="0"/>
          </a:p>
          <a:p>
            <a:pPr marL="148590" indent="-148590">
              <a:buSzPct val="100000"/>
              <a:buChar char="•"/>
            </a:pPr>
            <a:r>
              <a:rPr lang="en-US" sz="1300" dirty="0">
                <a:solidFill>
                  <a:srgbClr val="273449"/>
                </a:solidFill>
              </a:rPr>
              <a:t>Researches speakers and summarizes evidence</a:t>
            </a:r>
            <a:endParaRPr lang="en-US" sz="1300" dirty="0"/>
          </a:p>
          <a:p>
            <a:pPr marL="148590" indent="-148590">
              <a:buSzPct val="100000"/>
              <a:buChar char="•"/>
            </a:pPr>
            <a:r>
              <a:rPr lang="en-US" sz="1300" dirty="0">
                <a:solidFill>
                  <a:srgbClr val="273449"/>
                </a:solidFill>
              </a:rPr>
              <a:t>Drafts agenda, email, and registration material</a:t>
            </a:r>
            <a:endParaRPr lang="en-US" sz="1300" dirty="0"/>
          </a:p>
          <a:p>
            <a:pPr marL="148590" indent="-148590">
              <a:buSzPct val="100000"/>
              <a:buChar char="•"/>
            </a:pPr>
            <a:r>
              <a:rPr lang="en-US" sz="1300" dirty="0">
                <a:solidFill>
                  <a:srgbClr val="273449"/>
                </a:solidFill>
              </a:rPr>
              <a:t>Requests approval before consequential actions</a:t>
            </a:r>
            <a:endParaRPr lang="en-US" sz="1300" dirty="0"/>
          </a:p>
          <a:p>
            <a:pPr marL="148590" indent="-148590">
              <a:buSzPct val="100000"/>
              <a:buChar char="•"/>
            </a:pPr>
            <a:r>
              <a:rPr lang="en-US" sz="1300" dirty="0">
                <a:solidFill>
                  <a:srgbClr val="273449"/>
                </a:solidFill>
              </a:rPr>
              <a:t>Reports what was completed and what remains</a:t>
            </a:r>
            <a:endParaRPr lang="en-US" sz="1300" dirty="0"/>
          </a:p>
        </p:txBody>
      </p:sp>
      <p:sp>
        <p:nvSpPr>
          <p:cNvPr id="12" name="Shape 10"/>
          <p:cNvSpPr/>
          <p:nvPr/>
        </p:nvSpPr>
        <p:spPr>
          <a:xfrm>
            <a:off x="5797296" y="2962656"/>
            <a:ext cx="292608" cy="685800"/>
          </a:xfrm>
          <a:prstGeom prst="chevron">
            <a:avLst/>
          </a:prstGeom>
          <a:solidFill>
            <a:srgbClr val="8DA2B7"/>
          </a:solidFill>
          <a:ln w="12700">
            <a:solidFill>
              <a:srgbClr val="8DA2B7"/>
            </a:solidFill>
            <a:prstDash val="solid"/>
          </a:ln>
        </p:spPr>
      </p:sp>
      <p:sp>
        <p:nvSpPr>
          <p:cNvPr id="13" name="Text 11"/>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Help — ChatGPT agent and Apps in ChatGPT.</a:t>
            </a:r>
            <a:endParaRPr lang="en-US" sz="750" dirty="0"/>
          </a:p>
        </p:txBody>
      </p:sp>
      <p:sp>
        <p:nvSpPr>
          <p:cNvPr id="25"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Applications for Mathematics, AI &amp; Data Science</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Use AI to support thinking—not to replace mathematical understanding.</a:t>
            </a:r>
            <a:endParaRPr lang="en-US" sz="1150" dirty="0"/>
          </a:p>
        </p:txBody>
      </p:sp>
      <p:sp>
        <p:nvSpPr>
          <p:cNvPr id="4" name="Shape 2"/>
          <p:cNvSpPr/>
          <p:nvPr/>
        </p:nvSpPr>
        <p:spPr>
          <a:xfrm>
            <a:off x="685800" y="1353312"/>
            <a:ext cx="3456432" cy="1783080"/>
          </a:xfrm>
          <a:prstGeom prst="roundRect">
            <a:avLst>
              <a:gd name="adj" fmla="val 6154"/>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5" name="Shape 3"/>
          <p:cNvSpPr/>
          <p:nvPr/>
        </p:nvSpPr>
        <p:spPr>
          <a:xfrm>
            <a:off x="685800" y="1353312"/>
            <a:ext cx="3456432" cy="109728"/>
          </a:xfrm>
          <a:prstGeom prst="rect">
            <a:avLst/>
          </a:prstGeom>
          <a:solidFill>
            <a:srgbClr val="1677FF"/>
          </a:solidFill>
          <a:ln w="12700">
            <a:solidFill>
              <a:srgbClr val="1677FF"/>
            </a:solidFill>
            <a:prstDash val="solid"/>
          </a:ln>
        </p:spPr>
      </p:sp>
      <p:sp>
        <p:nvSpPr>
          <p:cNvPr id="6" name="Shape 4"/>
          <p:cNvSpPr/>
          <p:nvPr/>
        </p:nvSpPr>
        <p:spPr>
          <a:xfrm>
            <a:off x="978408" y="1664208"/>
            <a:ext cx="1828800" cy="310896"/>
          </a:xfrm>
          <a:prstGeom prst="roundRect">
            <a:avLst>
              <a:gd name="adj" fmla="val 44118"/>
            </a:avLst>
          </a:prstGeom>
          <a:solidFill>
            <a:srgbClr val="1677FF"/>
          </a:solidFill>
          <a:ln w="12700">
            <a:solidFill>
              <a:srgbClr val="1677FF"/>
            </a:solidFill>
            <a:prstDash val="solid"/>
          </a:ln>
        </p:spPr>
      </p:sp>
      <p:sp>
        <p:nvSpPr>
          <p:cNvPr id="7" name="Text 5"/>
          <p:cNvSpPr/>
          <p:nvPr/>
        </p:nvSpPr>
        <p:spPr>
          <a:xfrm>
            <a:off x="1051560" y="1732788"/>
            <a:ext cx="1682496" cy="164592"/>
          </a:xfrm>
          <a:prstGeom prst="rect">
            <a:avLst/>
          </a:prstGeom>
          <a:noFill/>
        </p:spPr>
        <p:txBody>
          <a:bodyPr wrap="square" lIns="0" tIns="0" rIns="0" bIns="0" rtlCol="0" anchor="ctr"/>
          <a:lstStyle/>
          <a:p>
            <a:pPr marL="0" indent="0" algn="ctr">
              <a:buNone/>
            </a:pPr>
            <a:r>
              <a:rPr lang="en-US" sz="900" b="1" dirty="0">
                <a:solidFill>
                  <a:srgbClr val="FFFFFF"/>
                </a:solidFill>
              </a:rPr>
              <a:t>CONCEPT EXPLANATION</a:t>
            </a:r>
            <a:endParaRPr lang="en-US" sz="900" dirty="0"/>
          </a:p>
        </p:txBody>
      </p:sp>
      <p:sp>
        <p:nvSpPr>
          <p:cNvPr id="8" name="Text 6"/>
          <p:cNvSpPr/>
          <p:nvPr/>
        </p:nvSpPr>
        <p:spPr>
          <a:xfrm>
            <a:off x="978408" y="2295144"/>
            <a:ext cx="2852928" cy="502920"/>
          </a:xfrm>
          <a:prstGeom prst="rect">
            <a:avLst/>
          </a:prstGeom>
          <a:noFill/>
        </p:spPr>
        <p:txBody>
          <a:bodyPr wrap="square" lIns="0" tIns="0" rIns="0" bIns="0" rtlCol="0" anchor="ctr">
            <a:normAutofit/>
          </a:bodyPr>
          <a:lstStyle/>
          <a:p>
            <a:pPr marL="0" indent="0" algn="ctr">
              <a:buNone/>
            </a:pPr>
            <a:r>
              <a:rPr lang="en-US" sz="1250" b="1" dirty="0">
                <a:solidFill>
                  <a:srgbClr val="0B1F3A"/>
                </a:solidFill>
              </a:rPr>
              <a:t>Explain eigenvectors with geometry, algebra, and an everyday analogy.</a:t>
            </a:r>
            <a:endParaRPr lang="en-US" sz="1250" dirty="0"/>
          </a:p>
        </p:txBody>
      </p:sp>
      <p:sp>
        <p:nvSpPr>
          <p:cNvPr id="9" name="Shape 7"/>
          <p:cNvSpPr/>
          <p:nvPr/>
        </p:nvSpPr>
        <p:spPr>
          <a:xfrm>
            <a:off x="4507992" y="1353312"/>
            <a:ext cx="3456432" cy="1783080"/>
          </a:xfrm>
          <a:prstGeom prst="roundRect">
            <a:avLst>
              <a:gd name="adj" fmla="val 6154"/>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0" name="Shape 8"/>
          <p:cNvSpPr/>
          <p:nvPr/>
        </p:nvSpPr>
        <p:spPr>
          <a:xfrm>
            <a:off x="4507992" y="1353312"/>
            <a:ext cx="3456432" cy="109728"/>
          </a:xfrm>
          <a:prstGeom prst="rect">
            <a:avLst/>
          </a:prstGeom>
          <a:solidFill>
            <a:srgbClr val="16B8D4"/>
          </a:solidFill>
          <a:ln w="12700">
            <a:solidFill>
              <a:srgbClr val="16B8D4"/>
            </a:solidFill>
            <a:prstDash val="solid"/>
          </a:ln>
        </p:spPr>
      </p:sp>
      <p:sp>
        <p:nvSpPr>
          <p:cNvPr id="11" name="Shape 9"/>
          <p:cNvSpPr/>
          <p:nvPr/>
        </p:nvSpPr>
        <p:spPr>
          <a:xfrm>
            <a:off x="4800600" y="1664208"/>
            <a:ext cx="1828800" cy="310896"/>
          </a:xfrm>
          <a:prstGeom prst="roundRect">
            <a:avLst>
              <a:gd name="adj" fmla="val 44118"/>
            </a:avLst>
          </a:prstGeom>
          <a:solidFill>
            <a:srgbClr val="16B8D4"/>
          </a:solidFill>
          <a:ln w="12700">
            <a:solidFill>
              <a:srgbClr val="16B8D4"/>
            </a:solidFill>
            <a:prstDash val="solid"/>
          </a:ln>
        </p:spPr>
      </p:sp>
      <p:sp>
        <p:nvSpPr>
          <p:cNvPr id="12" name="Text 10"/>
          <p:cNvSpPr/>
          <p:nvPr/>
        </p:nvSpPr>
        <p:spPr>
          <a:xfrm>
            <a:off x="4873752" y="1732788"/>
            <a:ext cx="1682496" cy="164592"/>
          </a:xfrm>
          <a:prstGeom prst="rect">
            <a:avLst/>
          </a:prstGeom>
          <a:noFill/>
        </p:spPr>
        <p:txBody>
          <a:bodyPr wrap="square" lIns="0" tIns="0" rIns="0" bIns="0" rtlCol="0" anchor="ctr"/>
          <a:lstStyle/>
          <a:p>
            <a:pPr marL="0" indent="0" algn="ctr">
              <a:buNone/>
            </a:pPr>
            <a:r>
              <a:rPr lang="en-US" sz="900" b="1" dirty="0">
                <a:solidFill>
                  <a:srgbClr val="FFFFFF"/>
                </a:solidFill>
              </a:rPr>
              <a:t>PROBLEM VARIATIONS</a:t>
            </a:r>
            <a:endParaRPr lang="en-US" sz="900" dirty="0"/>
          </a:p>
        </p:txBody>
      </p:sp>
      <p:sp>
        <p:nvSpPr>
          <p:cNvPr id="13" name="Text 11"/>
          <p:cNvSpPr/>
          <p:nvPr/>
        </p:nvSpPr>
        <p:spPr>
          <a:xfrm>
            <a:off x="4800600" y="2295144"/>
            <a:ext cx="2852928" cy="502920"/>
          </a:xfrm>
          <a:prstGeom prst="rect">
            <a:avLst/>
          </a:prstGeom>
          <a:noFill/>
        </p:spPr>
        <p:txBody>
          <a:bodyPr wrap="square" lIns="0" tIns="0" rIns="0" bIns="0" rtlCol="0" anchor="ctr">
            <a:normAutofit/>
          </a:bodyPr>
          <a:lstStyle/>
          <a:p>
            <a:pPr marL="0" indent="0" algn="ctr">
              <a:buNone/>
            </a:pPr>
            <a:r>
              <a:rPr lang="en-US" sz="1250" b="1" dirty="0">
                <a:solidFill>
                  <a:srgbClr val="0B1F3A"/>
                </a:solidFill>
              </a:rPr>
              <a:t>Generate graded practice questions and hints—not only final answers.</a:t>
            </a:r>
            <a:endParaRPr lang="en-US" sz="1250" dirty="0"/>
          </a:p>
        </p:txBody>
      </p:sp>
      <p:sp>
        <p:nvSpPr>
          <p:cNvPr id="14" name="Shape 12"/>
          <p:cNvSpPr/>
          <p:nvPr/>
        </p:nvSpPr>
        <p:spPr>
          <a:xfrm>
            <a:off x="8330184" y="1353312"/>
            <a:ext cx="3456432" cy="1783080"/>
          </a:xfrm>
          <a:prstGeom prst="roundRect">
            <a:avLst>
              <a:gd name="adj" fmla="val 6154"/>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5" name="Shape 13"/>
          <p:cNvSpPr/>
          <p:nvPr/>
        </p:nvSpPr>
        <p:spPr>
          <a:xfrm>
            <a:off x="8330184" y="1353312"/>
            <a:ext cx="3456432" cy="109728"/>
          </a:xfrm>
          <a:prstGeom prst="rect">
            <a:avLst/>
          </a:prstGeom>
          <a:solidFill>
            <a:srgbClr val="F59E0B"/>
          </a:solidFill>
          <a:ln w="12700">
            <a:solidFill>
              <a:srgbClr val="F59E0B"/>
            </a:solidFill>
            <a:prstDash val="solid"/>
          </a:ln>
        </p:spPr>
      </p:sp>
      <p:sp>
        <p:nvSpPr>
          <p:cNvPr id="16" name="Shape 14"/>
          <p:cNvSpPr/>
          <p:nvPr/>
        </p:nvSpPr>
        <p:spPr>
          <a:xfrm>
            <a:off x="8622792" y="1664208"/>
            <a:ext cx="1828800" cy="310896"/>
          </a:xfrm>
          <a:prstGeom prst="roundRect">
            <a:avLst>
              <a:gd name="adj" fmla="val 44118"/>
            </a:avLst>
          </a:prstGeom>
          <a:solidFill>
            <a:srgbClr val="F59E0B"/>
          </a:solidFill>
          <a:ln w="12700">
            <a:solidFill>
              <a:srgbClr val="F59E0B"/>
            </a:solidFill>
            <a:prstDash val="solid"/>
          </a:ln>
        </p:spPr>
      </p:sp>
      <p:sp>
        <p:nvSpPr>
          <p:cNvPr id="17" name="Text 15"/>
          <p:cNvSpPr/>
          <p:nvPr/>
        </p:nvSpPr>
        <p:spPr>
          <a:xfrm>
            <a:off x="8695944" y="1732788"/>
            <a:ext cx="1682496" cy="164592"/>
          </a:xfrm>
          <a:prstGeom prst="rect">
            <a:avLst/>
          </a:prstGeom>
          <a:noFill/>
        </p:spPr>
        <p:txBody>
          <a:bodyPr wrap="square" lIns="0" tIns="0" rIns="0" bIns="0" rtlCol="0" anchor="ctr"/>
          <a:lstStyle/>
          <a:p>
            <a:pPr marL="0" indent="0" algn="ctr">
              <a:buNone/>
            </a:pPr>
            <a:r>
              <a:rPr lang="en-US" sz="900" b="1" dirty="0">
                <a:solidFill>
                  <a:srgbClr val="FFFFFF"/>
                </a:solidFill>
              </a:rPr>
              <a:t>DATA ANALYSIS</a:t>
            </a:r>
            <a:endParaRPr lang="en-US" sz="900" dirty="0"/>
          </a:p>
        </p:txBody>
      </p:sp>
      <p:sp>
        <p:nvSpPr>
          <p:cNvPr id="18" name="Text 16"/>
          <p:cNvSpPr/>
          <p:nvPr/>
        </p:nvSpPr>
        <p:spPr>
          <a:xfrm>
            <a:off x="8622792" y="2295144"/>
            <a:ext cx="2852928" cy="502920"/>
          </a:xfrm>
          <a:prstGeom prst="rect">
            <a:avLst/>
          </a:prstGeom>
          <a:noFill/>
        </p:spPr>
        <p:txBody>
          <a:bodyPr wrap="square" lIns="0" tIns="0" rIns="0" bIns="0" rtlCol="0" anchor="ctr">
            <a:normAutofit/>
          </a:bodyPr>
          <a:lstStyle/>
          <a:p>
            <a:pPr marL="0" indent="0" algn="ctr">
              <a:buNone/>
            </a:pPr>
            <a:r>
              <a:rPr lang="en-US" sz="1250" b="1" dirty="0">
                <a:solidFill>
                  <a:srgbClr val="0B1F3A"/>
                </a:solidFill>
              </a:rPr>
              <a:t>Clean data, compute statistics, visualize patterns, and inspect code.</a:t>
            </a:r>
            <a:endParaRPr lang="en-US" sz="1250" dirty="0"/>
          </a:p>
        </p:txBody>
      </p:sp>
      <p:sp>
        <p:nvSpPr>
          <p:cNvPr id="19" name="Shape 17"/>
          <p:cNvSpPr/>
          <p:nvPr/>
        </p:nvSpPr>
        <p:spPr>
          <a:xfrm>
            <a:off x="685800" y="3566160"/>
            <a:ext cx="3456432" cy="1783080"/>
          </a:xfrm>
          <a:prstGeom prst="roundRect">
            <a:avLst>
              <a:gd name="adj" fmla="val 6154"/>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0" name="Shape 18"/>
          <p:cNvSpPr/>
          <p:nvPr/>
        </p:nvSpPr>
        <p:spPr>
          <a:xfrm>
            <a:off x="685800" y="3566160"/>
            <a:ext cx="3456432" cy="109728"/>
          </a:xfrm>
          <a:prstGeom prst="rect">
            <a:avLst/>
          </a:prstGeom>
          <a:solidFill>
            <a:srgbClr val="DC2626"/>
          </a:solidFill>
          <a:ln w="12700">
            <a:solidFill>
              <a:srgbClr val="DC2626"/>
            </a:solidFill>
            <a:prstDash val="solid"/>
          </a:ln>
        </p:spPr>
      </p:sp>
      <p:sp>
        <p:nvSpPr>
          <p:cNvPr id="21" name="Shape 19"/>
          <p:cNvSpPr/>
          <p:nvPr/>
        </p:nvSpPr>
        <p:spPr>
          <a:xfrm>
            <a:off x="978408" y="3877056"/>
            <a:ext cx="1828800" cy="310896"/>
          </a:xfrm>
          <a:prstGeom prst="roundRect">
            <a:avLst>
              <a:gd name="adj" fmla="val 44118"/>
            </a:avLst>
          </a:prstGeom>
          <a:solidFill>
            <a:srgbClr val="DC2626"/>
          </a:solidFill>
          <a:ln w="12700">
            <a:solidFill>
              <a:srgbClr val="DC2626"/>
            </a:solidFill>
            <a:prstDash val="solid"/>
          </a:ln>
        </p:spPr>
      </p:sp>
      <p:sp>
        <p:nvSpPr>
          <p:cNvPr id="22" name="Text 20"/>
          <p:cNvSpPr/>
          <p:nvPr/>
        </p:nvSpPr>
        <p:spPr>
          <a:xfrm>
            <a:off x="1051560" y="3945636"/>
            <a:ext cx="1682496" cy="164592"/>
          </a:xfrm>
          <a:prstGeom prst="rect">
            <a:avLst/>
          </a:prstGeom>
          <a:noFill/>
        </p:spPr>
        <p:txBody>
          <a:bodyPr wrap="square" lIns="0" tIns="0" rIns="0" bIns="0" rtlCol="0" anchor="ctr"/>
          <a:lstStyle/>
          <a:p>
            <a:pPr marL="0" indent="0" algn="ctr">
              <a:buNone/>
            </a:pPr>
            <a:r>
              <a:rPr lang="en-US" sz="900" b="1" dirty="0">
                <a:solidFill>
                  <a:srgbClr val="FFFFFF"/>
                </a:solidFill>
              </a:rPr>
              <a:t>ALGORITHM STUDY</a:t>
            </a:r>
            <a:endParaRPr lang="en-US" sz="900" dirty="0"/>
          </a:p>
        </p:txBody>
      </p:sp>
      <p:sp>
        <p:nvSpPr>
          <p:cNvPr id="23" name="Text 21"/>
          <p:cNvSpPr/>
          <p:nvPr/>
        </p:nvSpPr>
        <p:spPr>
          <a:xfrm>
            <a:off x="978408" y="4507992"/>
            <a:ext cx="2852928" cy="502920"/>
          </a:xfrm>
          <a:prstGeom prst="rect">
            <a:avLst/>
          </a:prstGeom>
          <a:noFill/>
        </p:spPr>
        <p:txBody>
          <a:bodyPr wrap="square" lIns="0" tIns="0" rIns="0" bIns="0" rtlCol="0" anchor="ctr">
            <a:normAutofit/>
          </a:bodyPr>
          <a:lstStyle/>
          <a:p>
            <a:pPr marL="0" indent="0" algn="ctr">
              <a:buNone/>
            </a:pPr>
            <a:r>
              <a:rPr lang="en-US" sz="1250" b="1" dirty="0">
                <a:solidFill>
                  <a:srgbClr val="0B1F3A"/>
                </a:solidFill>
              </a:rPr>
              <a:t>Compare complexity, assumptions, strengths, and failure cases.</a:t>
            </a:r>
            <a:endParaRPr lang="en-US" sz="1250" dirty="0"/>
          </a:p>
        </p:txBody>
      </p:sp>
      <p:sp>
        <p:nvSpPr>
          <p:cNvPr id="24" name="Shape 22"/>
          <p:cNvSpPr/>
          <p:nvPr/>
        </p:nvSpPr>
        <p:spPr>
          <a:xfrm>
            <a:off x="4507992" y="3566160"/>
            <a:ext cx="3456432" cy="1783080"/>
          </a:xfrm>
          <a:prstGeom prst="roundRect">
            <a:avLst>
              <a:gd name="adj" fmla="val 6154"/>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5" name="Shape 23"/>
          <p:cNvSpPr/>
          <p:nvPr/>
        </p:nvSpPr>
        <p:spPr>
          <a:xfrm>
            <a:off x="4507992" y="3566160"/>
            <a:ext cx="3456432" cy="109728"/>
          </a:xfrm>
          <a:prstGeom prst="rect">
            <a:avLst/>
          </a:prstGeom>
          <a:solidFill>
            <a:srgbClr val="16A34A"/>
          </a:solidFill>
          <a:ln w="12700">
            <a:solidFill>
              <a:srgbClr val="16A34A"/>
            </a:solidFill>
            <a:prstDash val="solid"/>
          </a:ln>
        </p:spPr>
      </p:sp>
      <p:sp>
        <p:nvSpPr>
          <p:cNvPr id="26" name="Shape 24"/>
          <p:cNvSpPr/>
          <p:nvPr/>
        </p:nvSpPr>
        <p:spPr>
          <a:xfrm>
            <a:off x="4800600" y="3877056"/>
            <a:ext cx="1828800" cy="310896"/>
          </a:xfrm>
          <a:prstGeom prst="roundRect">
            <a:avLst>
              <a:gd name="adj" fmla="val 44118"/>
            </a:avLst>
          </a:prstGeom>
          <a:solidFill>
            <a:srgbClr val="16A34A"/>
          </a:solidFill>
          <a:ln w="12700">
            <a:solidFill>
              <a:srgbClr val="16A34A"/>
            </a:solidFill>
            <a:prstDash val="solid"/>
          </a:ln>
        </p:spPr>
      </p:sp>
      <p:sp>
        <p:nvSpPr>
          <p:cNvPr id="27" name="Text 25"/>
          <p:cNvSpPr/>
          <p:nvPr/>
        </p:nvSpPr>
        <p:spPr>
          <a:xfrm>
            <a:off x="4873752" y="3945636"/>
            <a:ext cx="1682496" cy="164592"/>
          </a:xfrm>
          <a:prstGeom prst="rect">
            <a:avLst/>
          </a:prstGeom>
          <a:noFill/>
        </p:spPr>
        <p:txBody>
          <a:bodyPr wrap="square" lIns="0" tIns="0" rIns="0" bIns="0" rtlCol="0" anchor="ctr"/>
          <a:lstStyle/>
          <a:p>
            <a:pPr marL="0" indent="0" algn="ctr">
              <a:buNone/>
            </a:pPr>
            <a:r>
              <a:rPr lang="en-US" sz="900" b="1" dirty="0">
                <a:solidFill>
                  <a:srgbClr val="FFFFFF"/>
                </a:solidFill>
              </a:rPr>
              <a:t>RESEARCH SUPPORT</a:t>
            </a:r>
            <a:endParaRPr lang="en-US" sz="900" dirty="0"/>
          </a:p>
        </p:txBody>
      </p:sp>
      <p:sp>
        <p:nvSpPr>
          <p:cNvPr id="28" name="Text 26"/>
          <p:cNvSpPr/>
          <p:nvPr/>
        </p:nvSpPr>
        <p:spPr>
          <a:xfrm>
            <a:off x="4800600" y="4507992"/>
            <a:ext cx="2852928" cy="502920"/>
          </a:xfrm>
          <a:prstGeom prst="rect">
            <a:avLst/>
          </a:prstGeom>
          <a:noFill/>
        </p:spPr>
        <p:txBody>
          <a:bodyPr wrap="square" lIns="0" tIns="0" rIns="0" bIns="0" rtlCol="0" anchor="ctr">
            <a:normAutofit/>
          </a:bodyPr>
          <a:lstStyle/>
          <a:p>
            <a:pPr marL="0" indent="0" algn="ctr">
              <a:buNone/>
            </a:pPr>
            <a:r>
              <a:rPr lang="en-US" sz="1250" b="1" dirty="0">
                <a:solidFill>
                  <a:srgbClr val="0B1F3A"/>
                </a:solidFill>
              </a:rPr>
              <a:t>Search literature, map gaps, summarize evidence, and format notes.</a:t>
            </a:r>
            <a:endParaRPr lang="en-US" sz="1250" dirty="0"/>
          </a:p>
        </p:txBody>
      </p:sp>
      <p:sp>
        <p:nvSpPr>
          <p:cNvPr id="29" name="Shape 27"/>
          <p:cNvSpPr/>
          <p:nvPr/>
        </p:nvSpPr>
        <p:spPr>
          <a:xfrm>
            <a:off x="8330184" y="3566160"/>
            <a:ext cx="3456432" cy="1783080"/>
          </a:xfrm>
          <a:prstGeom prst="roundRect">
            <a:avLst>
              <a:gd name="adj" fmla="val 6154"/>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30" name="Shape 28"/>
          <p:cNvSpPr/>
          <p:nvPr/>
        </p:nvSpPr>
        <p:spPr>
          <a:xfrm>
            <a:off x="8330184" y="3566160"/>
            <a:ext cx="3456432" cy="109728"/>
          </a:xfrm>
          <a:prstGeom prst="rect">
            <a:avLst/>
          </a:prstGeom>
          <a:solidFill>
            <a:srgbClr val="7C3AED"/>
          </a:solidFill>
          <a:ln w="12700">
            <a:solidFill>
              <a:srgbClr val="7C3AED"/>
            </a:solidFill>
            <a:prstDash val="solid"/>
          </a:ln>
        </p:spPr>
      </p:sp>
      <p:sp>
        <p:nvSpPr>
          <p:cNvPr id="31" name="Shape 29"/>
          <p:cNvSpPr/>
          <p:nvPr/>
        </p:nvSpPr>
        <p:spPr>
          <a:xfrm>
            <a:off x="8622792" y="3877056"/>
            <a:ext cx="1828800" cy="310896"/>
          </a:xfrm>
          <a:prstGeom prst="roundRect">
            <a:avLst>
              <a:gd name="adj" fmla="val 44118"/>
            </a:avLst>
          </a:prstGeom>
          <a:solidFill>
            <a:srgbClr val="7C3AED"/>
          </a:solidFill>
          <a:ln w="12700">
            <a:solidFill>
              <a:srgbClr val="7C3AED"/>
            </a:solidFill>
            <a:prstDash val="solid"/>
          </a:ln>
        </p:spPr>
      </p:sp>
      <p:sp>
        <p:nvSpPr>
          <p:cNvPr id="32" name="Text 30"/>
          <p:cNvSpPr/>
          <p:nvPr/>
        </p:nvSpPr>
        <p:spPr>
          <a:xfrm>
            <a:off x="8695944" y="3945636"/>
            <a:ext cx="1682496" cy="164592"/>
          </a:xfrm>
          <a:prstGeom prst="rect">
            <a:avLst/>
          </a:prstGeom>
          <a:noFill/>
        </p:spPr>
        <p:txBody>
          <a:bodyPr wrap="square" lIns="0" tIns="0" rIns="0" bIns="0" rtlCol="0" anchor="ctr"/>
          <a:lstStyle/>
          <a:p>
            <a:pPr marL="0" indent="0" algn="ctr">
              <a:buNone/>
            </a:pPr>
            <a:r>
              <a:rPr lang="en-US" sz="900" b="1" dirty="0">
                <a:solidFill>
                  <a:srgbClr val="FFFFFF"/>
                </a:solidFill>
              </a:rPr>
              <a:t>COMMUNICATION</a:t>
            </a:r>
            <a:endParaRPr lang="en-US" sz="900" dirty="0"/>
          </a:p>
        </p:txBody>
      </p:sp>
      <p:sp>
        <p:nvSpPr>
          <p:cNvPr id="33" name="Text 31"/>
          <p:cNvSpPr/>
          <p:nvPr/>
        </p:nvSpPr>
        <p:spPr>
          <a:xfrm>
            <a:off x="8622792" y="4507992"/>
            <a:ext cx="2852928" cy="502920"/>
          </a:xfrm>
          <a:prstGeom prst="rect">
            <a:avLst/>
          </a:prstGeom>
          <a:noFill/>
        </p:spPr>
        <p:txBody>
          <a:bodyPr wrap="square" lIns="0" tIns="0" rIns="0" bIns="0" rtlCol="0" anchor="ctr">
            <a:normAutofit/>
          </a:bodyPr>
          <a:lstStyle/>
          <a:p>
            <a:pPr marL="0" indent="0" algn="ctr">
              <a:buNone/>
            </a:pPr>
            <a:r>
              <a:rPr lang="en-US" sz="1250" b="1" dirty="0">
                <a:solidFill>
                  <a:srgbClr val="0B1F3A"/>
                </a:solidFill>
              </a:rPr>
              <a:t>Prepare slides, viva questions, graphical abstracts, and explanations.</a:t>
            </a:r>
            <a:endParaRPr lang="en-US" sz="1250" dirty="0"/>
          </a:p>
        </p:txBody>
      </p:sp>
      <p:sp>
        <p:nvSpPr>
          <p:cNvPr id="34" name="Shape 32"/>
          <p:cNvSpPr/>
          <p:nvPr/>
        </p:nvSpPr>
        <p:spPr>
          <a:xfrm>
            <a:off x="3063240" y="5632704"/>
            <a:ext cx="6080760" cy="457200"/>
          </a:xfrm>
          <a:prstGeom prst="roundRect">
            <a:avLst>
              <a:gd name="adj" fmla="val 24000"/>
            </a:avLst>
          </a:prstGeom>
          <a:solidFill>
            <a:srgbClr val="0B1F3A"/>
          </a:solidFill>
          <a:ln w="12700">
            <a:solidFill>
              <a:srgbClr val="0B1F3A"/>
            </a:solidFill>
            <a:prstDash val="solid"/>
          </a:ln>
        </p:spPr>
      </p:sp>
      <p:sp>
        <p:nvSpPr>
          <p:cNvPr id="35" name="Text 33"/>
          <p:cNvSpPr/>
          <p:nvPr/>
        </p:nvSpPr>
        <p:spPr>
          <a:xfrm>
            <a:off x="3310128" y="5769864"/>
            <a:ext cx="5577840" cy="201168"/>
          </a:xfrm>
          <a:prstGeom prst="rect">
            <a:avLst/>
          </a:prstGeom>
          <a:noFill/>
        </p:spPr>
        <p:txBody>
          <a:bodyPr wrap="square" lIns="0" tIns="0" rIns="0" bIns="0" rtlCol="0" anchor="ctr"/>
          <a:lstStyle/>
          <a:p>
            <a:pPr marL="0" indent="0" algn="ctr">
              <a:buNone/>
            </a:pPr>
            <a:r>
              <a:rPr lang="en-US" sz="1100" b="1" dirty="0">
                <a:solidFill>
                  <a:srgbClr val="FFFFFF"/>
                </a:solidFill>
              </a:rPr>
              <a:t>Best practice: Ask for reasoning, assumptions, checks, and alternative methods.</a:t>
            </a:r>
            <a:endParaRPr lang="en-US" sz="1100" dirty="0"/>
          </a:p>
        </p:txBody>
      </p:sp>
      <p:sp>
        <p:nvSpPr>
          <p:cNvPr id="36"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Prompting Framework: T–C–O–C–V</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A strong prompt tells the system what to do, why, how to present it, and how to check it.</a:t>
            </a:r>
            <a:endParaRPr lang="en-US" sz="1150" dirty="0"/>
          </a:p>
        </p:txBody>
      </p:sp>
      <p:sp>
        <p:nvSpPr>
          <p:cNvPr id="4" name="Shape 2"/>
          <p:cNvSpPr/>
          <p:nvPr/>
        </p:nvSpPr>
        <p:spPr>
          <a:xfrm>
            <a:off x="658368" y="1353312"/>
            <a:ext cx="1874520" cy="1508760"/>
          </a:xfrm>
          <a:prstGeom prst="roundRect">
            <a:avLst>
              <a:gd name="adj" fmla="val 727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5" name="Shape 3"/>
          <p:cNvSpPr/>
          <p:nvPr/>
        </p:nvSpPr>
        <p:spPr>
          <a:xfrm>
            <a:off x="1280160" y="1554480"/>
            <a:ext cx="640080" cy="640080"/>
          </a:xfrm>
          <a:prstGeom prst="ellipse">
            <a:avLst/>
          </a:prstGeom>
          <a:solidFill>
            <a:srgbClr val="1677FF"/>
          </a:solidFill>
          <a:ln w="12700">
            <a:solidFill>
              <a:srgbClr val="1677FF"/>
            </a:solidFill>
            <a:prstDash val="solid"/>
          </a:ln>
        </p:spPr>
      </p:sp>
      <p:sp>
        <p:nvSpPr>
          <p:cNvPr id="6" name="Text 4"/>
          <p:cNvSpPr/>
          <p:nvPr/>
        </p:nvSpPr>
        <p:spPr>
          <a:xfrm>
            <a:off x="1280160" y="1719072"/>
            <a:ext cx="640080" cy="182880"/>
          </a:xfrm>
          <a:prstGeom prst="rect">
            <a:avLst/>
          </a:prstGeom>
          <a:noFill/>
        </p:spPr>
        <p:txBody>
          <a:bodyPr wrap="square" lIns="0" tIns="0" rIns="0" bIns="0" rtlCol="0" anchor="ctr"/>
          <a:lstStyle/>
          <a:p>
            <a:pPr marL="0" indent="0" algn="ctr">
              <a:buNone/>
            </a:pPr>
            <a:r>
              <a:rPr lang="en-US" sz="1400" b="1" dirty="0">
                <a:solidFill>
                  <a:srgbClr val="FFFFFF"/>
                </a:solidFill>
              </a:rPr>
              <a:t>T</a:t>
            </a:r>
            <a:endParaRPr lang="en-US" sz="1400" dirty="0"/>
          </a:p>
        </p:txBody>
      </p:sp>
      <p:sp>
        <p:nvSpPr>
          <p:cNvPr id="7" name="Text 5"/>
          <p:cNvSpPr/>
          <p:nvPr/>
        </p:nvSpPr>
        <p:spPr>
          <a:xfrm>
            <a:off x="841248" y="2304288"/>
            <a:ext cx="1508760" cy="256032"/>
          </a:xfrm>
          <a:prstGeom prst="rect">
            <a:avLst/>
          </a:prstGeom>
          <a:noFill/>
        </p:spPr>
        <p:txBody>
          <a:bodyPr wrap="square" lIns="0" tIns="0" rIns="0" bIns="0" rtlCol="0" anchor="ctr"/>
          <a:lstStyle/>
          <a:p>
            <a:pPr marL="0" indent="0" algn="ctr">
              <a:buNone/>
            </a:pPr>
            <a:r>
              <a:rPr lang="en-US" sz="1300" b="1" dirty="0">
                <a:solidFill>
                  <a:srgbClr val="0B1F3A"/>
                </a:solidFill>
              </a:rPr>
              <a:t>TASK</a:t>
            </a:r>
            <a:endParaRPr lang="en-US" sz="1300" dirty="0"/>
          </a:p>
        </p:txBody>
      </p:sp>
      <p:sp>
        <p:nvSpPr>
          <p:cNvPr id="8" name="Text 6"/>
          <p:cNvSpPr/>
          <p:nvPr/>
        </p:nvSpPr>
        <p:spPr>
          <a:xfrm>
            <a:off x="841248" y="2615184"/>
            <a:ext cx="1508760" cy="384048"/>
          </a:xfrm>
          <a:prstGeom prst="rect">
            <a:avLst/>
          </a:prstGeom>
          <a:noFill/>
        </p:spPr>
        <p:txBody>
          <a:bodyPr wrap="square" lIns="0" tIns="0" rIns="0" bIns="0" rtlCol="0" anchor="ctr">
            <a:normAutofit/>
          </a:bodyPr>
          <a:lstStyle/>
          <a:p>
            <a:pPr marL="0" indent="0" algn="ctr">
              <a:buNone/>
            </a:pPr>
            <a:r>
              <a:rPr lang="en-US" sz="940" dirty="0">
                <a:solidFill>
                  <a:srgbClr val="667085"/>
                </a:solidFill>
              </a:rPr>
              <a:t>State the exact job</a:t>
            </a:r>
            <a:endParaRPr lang="en-US" sz="940" dirty="0"/>
          </a:p>
        </p:txBody>
      </p:sp>
      <p:sp>
        <p:nvSpPr>
          <p:cNvPr id="9" name="Shape 7"/>
          <p:cNvSpPr/>
          <p:nvPr/>
        </p:nvSpPr>
        <p:spPr>
          <a:xfrm>
            <a:off x="2907792" y="1353312"/>
            <a:ext cx="1874520" cy="1508760"/>
          </a:xfrm>
          <a:prstGeom prst="roundRect">
            <a:avLst>
              <a:gd name="adj" fmla="val 727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0" name="Shape 8"/>
          <p:cNvSpPr/>
          <p:nvPr/>
        </p:nvSpPr>
        <p:spPr>
          <a:xfrm>
            <a:off x="3529584" y="1554480"/>
            <a:ext cx="640080" cy="640080"/>
          </a:xfrm>
          <a:prstGeom prst="ellipse">
            <a:avLst/>
          </a:prstGeom>
          <a:solidFill>
            <a:srgbClr val="16B8D4"/>
          </a:solidFill>
          <a:ln w="12700">
            <a:solidFill>
              <a:srgbClr val="16B8D4"/>
            </a:solidFill>
            <a:prstDash val="solid"/>
          </a:ln>
        </p:spPr>
      </p:sp>
      <p:sp>
        <p:nvSpPr>
          <p:cNvPr id="11" name="Text 9"/>
          <p:cNvSpPr/>
          <p:nvPr/>
        </p:nvSpPr>
        <p:spPr>
          <a:xfrm>
            <a:off x="3529584" y="1719072"/>
            <a:ext cx="640080" cy="182880"/>
          </a:xfrm>
          <a:prstGeom prst="rect">
            <a:avLst/>
          </a:prstGeom>
          <a:noFill/>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12" name="Text 10"/>
          <p:cNvSpPr/>
          <p:nvPr/>
        </p:nvSpPr>
        <p:spPr>
          <a:xfrm>
            <a:off x="3090672" y="2304288"/>
            <a:ext cx="1508760" cy="256032"/>
          </a:xfrm>
          <a:prstGeom prst="rect">
            <a:avLst/>
          </a:prstGeom>
          <a:noFill/>
        </p:spPr>
        <p:txBody>
          <a:bodyPr wrap="square" lIns="0" tIns="0" rIns="0" bIns="0" rtlCol="0" anchor="ctr"/>
          <a:lstStyle/>
          <a:p>
            <a:pPr marL="0" indent="0" algn="ctr">
              <a:buNone/>
            </a:pPr>
            <a:r>
              <a:rPr lang="en-US" sz="1300" b="1" dirty="0">
                <a:solidFill>
                  <a:srgbClr val="0B1F3A"/>
                </a:solidFill>
              </a:rPr>
              <a:t>CONTEXT</a:t>
            </a:r>
            <a:endParaRPr lang="en-US" sz="1300" dirty="0"/>
          </a:p>
        </p:txBody>
      </p:sp>
      <p:sp>
        <p:nvSpPr>
          <p:cNvPr id="13" name="Text 11"/>
          <p:cNvSpPr/>
          <p:nvPr/>
        </p:nvSpPr>
        <p:spPr>
          <a:xfrm>
            <a:off x="3090672" y="2615184"/>
            <a:ext cx="1508760" cy="384048"/>
          </a:xfrm>
          <a:prstGeom prst="rect">
            <a:avLst/>
          </a:prstGeom>
          <a:noFill/>
        </p:spPr>
        <p:txBody>
          <a:bodyPr wrap="square" lIns="0" tIns="0" rIns="0" bIns="0" rtlCol="0" anchor="ctr">
            <a:normAutofit/>
          </a:bodyPr>
          <a:lstStyle/>
          <a:p>
            <a:pPr marL="0" indent="0" algn="ctr">
              <a:buNone/>
            </a:pPr>
            <a:r>
              <a:rPr lang="en-US" sz="940" dirty="0">
                <a:solidFill>
                  <a:srgbClr val="667085"/>
                </a:solidFill>
              </a:rPr>
              <a:t>Give background, level, data, and purpose</a:t>
            </a:r>
            <a:endParaRPr lang="en-US" sz="940" dirty="0"/>
          </a:p>
        </p:txBody>
      </p:sp>
      <p:sp>
        <p:nvSpPr>
          <p:cNvPr id="14" name="Shape 12"/>
          <p:cNvSpPr/>
          <p:nvPr/>
        </p:nvSpPr>
        <p:spPr>
          <a:xfrm>
            <a:off x="5157216" y="1353312"/>
            <a:ext cx="1874520" cy="1508760"/>
          </a:xfrm>
          <a:prstGeom prst="roundRect">
            <a:avLst>
              <a:gd name="adj" fmla="val 727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5" name="Shape 13"/>
          <p:cNvSpPr/>
          <p:nvPr/>
        </p:nvSpPr>
        <p:spPr>
          <a:xfrm>
            <a:off x="5779008" y="1554480"/>
            <a:ext cx="640080" cy="640080"/>
          </a:xfrm>
          <a:prstGeom prst="ellipse">
            <a:avLst/>
          </a:prstGeom>
          <a:solidFill>
            <a:srgbClr val="F59E0B"/>
          </a:solidFill>
          <a:ln w="12700">
            <a:solidFill>
              <a:srgbClr val="F59E0B"/>
            </a:solidFill>
            <a:prstDash val="solid"/>
          </a:ln>
        </p:spPr>
      </p:sp>
      <p:sp>
        <p:nvSpPr>
          <p:cNvPr id="16" name="Text 14"/>
          <p:cNvSpPr/>
          <p:nvPr/>
        </p:nvSpPr>
        <p:spPr>
          <a:xfrm>
            <a:off x="5779008" y="1719072"/>
            <a:ext cx="640080" cy="182880"/>
          </a:xfrm>
          <a:prstGeom prst="rect">
            <a:avLst/>
          </a:prstGeom>
          <a:noFill/>
        </p:spPr>
        <p:txBody>
          <a:bodyPr wrap="square" lIns="0" tIns="0" rIns="0" bIns="0" rtlCol="0" anchor="ctr"/>
          <a:lstStyle/>
          <a:p>
            <a:pPr marL="0" indent="0" algn="ctr">
              <a:buNone/>
            </a:pPr>
            <a:r>
              <a:rPr lang="en-US" sz="1400" b="1" dirty="0">
                <a:solidFill>
                  <a:srgbClr val="FFFFFF"/>
                </a:solidFill>
              </a:rPr>
              <a:t>O</a:t>
            </a:r>
            <a:endParaRPr lang="en-US" sz="1400" dirty="0"/>
          </a:p>
        </p:txBody>
      </p:sp>
      <p:sp>
        <p:nvSpPr>
          <p:cNvPr id="17" name="Text 15"/>
          <p:cNvSpPr/>
          <p:nvPr/>
        </p:nvSpPr>
        <p:spPr>
          <a:xfrm>
            <a:off x="5340096" y="2304288"/>
            <a:ext cx="1508760" cy="256032"/>
          </a:xfrm>
          <a:prstGeom prst="rect">
            <a:avLst/>
          </a:prstGeom>
          <a:noFill/>
        </p:spPr>
        <p:txBody>
          <a:bodyPr wrap="square" lIns="0" tIns="0" rIns="0" bIns="0" rtlCol="0" anchor="ctr"/>
          <a:lstStyle/>
          <a:p>
            <a:pPr marL="0" indent="0" algn="ctr">
              <a:buNone/>
            </a:pPr>
            <a:r>
              <a:rPr lang="en-US" sz="1300" b="1" dirty="0">
                <a:solidFill>
                  <a:srgbClr val="0B1F3A"/>
                </a:solidFill>
              </a:rPr>
              <a:t>OUTPUT</a:t>
            </a:r>
            <a:endParaRPr lang="en-US" sz="1300" dirty="0"/>
          </a:p>
        </p:txBody>
      </p:sp>
      <p:sp>
        <p:nvSpPr>
          <p:cNvPr id="18" name="Text 16"/>
          <p:cNvSpPr/>
          <p:nvPr/>
        </p:nvSpPr>
        <p:spPr>
          <a:xfrm>
            <a:off x="5340096" y="2615184"/>
            <a:ext cx="1508760" cy="384048"/>
          </a:xfrm>
          <a:prstGeom prst="rect">
            <a:avLst/>
          </a:prstGeom>
          <a:noFill/>
        </p:spPr>
        <p:txBody>
          <a:bodyPr wrap="square" lIns="0" tIns="0" rIns="0" bIns="0" rtlCol="0" anchor="ctr">
            <a:normAutofit/>
          </a:bodyPr>
          <a:lstStyle/>
          <a:p>
            <a:pPr marL="0" indent="0" algn="ctr">
              <a:buNone/>
            </a:pPr>
            <a:r>
              <a:rPr lang="en-US" sz="940" dirty="0">
                <a:solidFill>
                  <a:srgbClr val="667085"/>
                </a:solidFill>
              </a:rPr>
              <a:t>Specify structure, tone, length, or format</a:t>
            </a:r>
            <a:endParaRPr lang="en-US" sz="940" dirty="0"/>
          </a:p>
        </p:txBody>
      </p:sp>
      <p:sp>
        <p:nvSpPr>
          <p:cNvPr id="19" name="Shape 17"/>
          <p:cNvSpPr/>
          <p:nvPr/>
        </p:nvSpPr>
        <p:spPr>
          <a:xfrm>
            <a:off x="7406640" y="1353312"/>
            <a:ext cx="1874520" cy="1508760"/>
          </a:xfrm>
          <a:prstGeom prst="roundRect">
            <a:avLst>
              <a:gd name="adj" fmla="val 727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0" name="Shape 18"/>
          <p:cNvSpPr/>
          <p:nvPr/>
        </p:nvSpPr>
        <p:spPr>
          <a:xfrm>
            <a:off x="8028432" y="1554480"/>
            <a:ext cx="640080" cy="640080"/>
          </a:xfrm>
          <a:prstGeom prst="ellipse">
            <a:avLst/>
          </a:prstGeom>
          <a:solidFill>
            <a:srgbClr val="DC2626"/>
          </a:solidFill>
          <a:ln w="12700">
            <a:solidFill>
              <a:srgbClr val="DC2626"/>
            </a:solidFill>
            <a:prstDash val="solid"/>
          </a:ln>
        </p:spPr>
      </p:sp>
      <p:sp>
        <p:nvSpPr>
          <p:cNvPr id="21" name="Text 19"/>
          <p:cNvSpPr/>
          <p:nvPr/>
        </p:nvSpPr>
        <p:spPr>
          <a:xfrm>
            <a:off x="8028432" y="1719072"/>
            <a:ext cx="640080" cy="182880"/>
          </a:xfrm>
          <a:prstGeom prst="rect">
            <a:avLst/>
          </a:prstGeom>
          <a:noFill/>
        </p:spPr>
        <p:txBody>
          <a:bodyPr wrap="square" lIns="0" tIns="0" rIns="0" bIns="0" rtlCol="0" anchor="ctr"/>
          <a:lstStyle/>
          <a:p>
            <a:pPr marL="0" indent="0" algn="ctr">
              <a:buNone/>
            </a:pPr>
            <a:r>
              <a:rPr lang="en-US" sz="1400" b="1" dirty="0">
                <a:solidFill>
                  <a:srgbClr val="FFFFFF"/>
                </a:solidFill>
              </a:rPr>
              <a:t>C</a:t>
            </a:r>
            <a:endParaRPr lang="en-US" sz="1400" dirty="0"/>
          </a:p>
        </p:txBody>
      </p:sp>
      <p:sp>
        <p:nvSpPr>
          <p:cNvPr id="22" name="Text 20"/>
          <p:cNvSpPr/>
          <p:nvPr/>
        </p:nvSpPr>
        <p:spPr>
          <a:xfrm>
            <a:off x="7589520" y="2304288"/>
            <a:ext cx="1508760" cy="256032"/>
          </a:xfrm>
          <a:prstGeom prst="rect">
            <a:avLst/>
          </a:prstGeom>
          <a:noFill/>
        </p:spPr>
        <p:txBody>
          <a:bodyPr wrap="square" lIns="0" tIns="0" rIns="0" bIns="0" rtlCol="0" anchor="ctr"/>
          <a:lstStyle/>
          <a:p>
            <a:pPr marL="0" indent="0" algn="ctr">
              <a:buNone/>
            </a:pPr>
            <a:r>
              <a:rPr lang="en-US" sz="1300" b="1" dirty="0">
                <a:solidFill>
                  <a:srgbClr val="0B1F3A"/>
                </a:solidFill>
              </a:rPr>
              <a:t>CONSTRAINTS</a:t>
            </a:r>
            <a:endParaRPr lang="en-US" sz="1300" dirty="0"/>
          </a:p>
        </p:txBody>
      </p:sp>
      <p:sp>
        <p:nvSpPr>
          <p:cNvPr id="23" name="Text 21"/>
          <p:cNvSpPr/>
          <p:nvPr/>
        </p:nvSpPr>
        <p:spPr>
          <a:xfrm>
            <a:off x="7589520" y="2615184"/>
            <a:ext cx="1508760" cy="384048"/>
          </a:xfrm>
          <a:prstGeom prst="rect">
            <a:avLst/>
          </a:prstGeom>
          <a:noFill/>
        </p:spPr>
        <p:txBody>
          <a:bodyPr wrap="square" lIns="0" tIns="0" rIns="0" bIns="0" rtlCol="0" anchor="ctr">
            <a:normAutofit/>
          </a:bodyPr>
          <a:lstStyle/>
          <a:p>
            <a:pPr marL="0" indent="0" algn="ctr">
              <a:buNone/>
            </a:pPr>
            <a:r>
              <a:rPr lang="en-US" sz="940" dirty="0">
                <a:solidFill>
                  <a:srgbClr val="667085"/>
                </a:solidFill>
              </a:rPr>
              <a:t>Set boundaries, sources, notation, and exclusions</a:t>
            </a:r>
            <a:endParaRPr lang="en-US" sz="940" dirty="0"/>
          </a:p>
        </p:txBody>
      </p:sp>
      <p:sp>
        <p:nvSpPr>
          <p:cNvPr id="24" name="Shape 22"/>
          <p:cNvSpPr/>
          <p:nvPr/>
        </p:nvSpPr>
        <p:spPr>
          <a:xfrm>
            <a:off x="9656064" y="1353312"/>
            <a:ext cx="1874520" cy="1508760"/>
          </a:xfrm>
          <a:prstGeom prst="roundRect">
            <a:avLst>
              <a:gd name="adj" fmla="val 727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5" name="Shape 23"/>
          <p:cNvSpPr/>
          <p:nvPr/>
        </p:nvSpPr>
        <p:spPr>
          <a:xfrm>
            <a:off x="10277856" y="1554480"/>
            <a:ext cx="640080" cy="640080"/>
          </a:xfrm>
          <a:prstGeom prst="ellipse">
            <a:avLst/>
          </a:prstGeom>
          <a:solidFill>
            <a:srgbClr val="16A34A"/>
          </a:solidFill>
          <a:ln w="12700">
            <a:solidFill>
              <a:srgbClr val="16A34A"/>
            </a:solidFill>
            <a:prstDash val="solid"/>
          </a:ln>
        </p:spPr>
      </p:sp>
      <p:sp>
        <p:nvSpPr>
          <p:cNvPr id="26" name="Text 24"/>
          <p:cNvSpPr/>
          <p:nvPr/>
        </p:nvSpPr>
        <p:spPr>
          <a:xfrm>
            <a:off x="10277856" y="1719072"/>
            <a:ext cx="640080" cy="182880"/>
          </a:xfrm>
          <a:prstGeom prst="rect">
            <a:avLst/>
          </a:prstGeom>
          <a:noFill/>
        </p:spPr>
        <p:txBody>
          <a:bodyPr wrap="square" lIns="0" tIns="0" rIns="0" bIns="0" rtlCol="0" anchor="ctr"/>
          <a:lstStyle/>
          <a:p>
            <a:pPr marL="0" indent="0" algn="ctr">
              <a:buNone/>
            </a:pPr>
            <a:r>
              <a:rPr lang="en-US" sz="1400" b="1" dirty="0">
                <a:solidFill>
                  <a:srgbClr val="FFFFFF"/>
                </a:solidFill>
              </a:rPr>
              <a:t>V</a:t>
            </a:r>
            <a:endParaRPr lang="en-US" sz="1400" dirty="0"/>
          </a:p>
        </p:txBody>
      </p:sp>
      <p:sp>
        <p:nvSpPr>
          <p:cNvPr id="27" name="Text 25"/>
          <p:cNvSpPr/>
          <p:nvPr/>
        </p:nvSpPr>
        <p:spPr>
          <a:xfrm>
            <a:off x="9838944" y="2304288"/>
            <a:ext cx="1508760" cy="256032"/>
          </a:xfrm>
          <a:prstGeom prst="rect">
            <a:avLst/>
          </a:prstGeom>
          <a:noFill/>
        </p:spPr>
        <p:txBody>
          <a:bodyPr wrap="square" lIns="0" tIns="0" rIns="0" bIns="0" rtlCol="0" anchor="ctr"/>
          <a:lstStyle/>
          <a:p>
            <a:pPr marL="0" indent="0" algn="ctr">
              <a:buNone/>
            </a:pPr>
            <a:r>
              <a:rPr lang="en-US" sz="1300" b="1" dirty="0">
                <a:solidFill>
                  <a:srgbClr val="0B1F3A"/>
                </a:solidFill>
              </a:rPr>
              <a:t>VERIFY</a:t>
            </a:r>
            <a:endParaRPr lang="en-US" sz="1300" dirty="0"/>
          </a:p>
        </p:txBody>
      </p:sp>
      <p:sp>
        <p:nvSpPr>
          <p:cNvPr id="28" name="Text 26"/>
          <p:cNvSpPr/>
          <p:nvPr/>
        </p:nvSpPr>
        <p:spPr>
          <a:xfrm>
            <a:off x="9838944" y="2615184"/>
            <a:ext cx="1508760" cy="384048"/>
          </a:xfrm>
          <a:prstGeom prst="rect">
            <a:avLst/>
          </a:prstGeom>
          <a:noFill/>
        </p:spPr>
        <p:txBody>
          <a:bodyPr wrap="square" lIns="0" tIns="0" rIns="0" bIns="0" rtlCol="0" anchor="ctr">
            <a:normAutofit/>
          </a:bodyPr>
          <a:lstStyle/>
          <a:p>
            <a:pPr marL="0" indent="0" algn="ctr">
              <a:buNone/>
            </a:pPr>
            <a:r>
              <a:rPr lang="en-US" sz="940" dirty="0">
                <a:solidFill>
                  <a:srgbClr val="667085"/>
                </a:solidFill>
              </a:rPr>
              <a:t>Ask for assumptions, checks, citations, or uncertainty</a:t>
            </a:r>
            <a:endParaRPr lang="en-US" sz="940" dirty="0"/>
          </a:p>
        </p:txBody>
      </p:sp>
      <p:sp>
        <p:nvSpPr>
          <p:cNvPr id="29" name="Shape 27"/>
          <p:cNvSpPr/>
          <p:nvPr/>
        </p:nvSpPr>
        <p:spPr>
          <a:xfrm>
            <a:off x="685800" y="3429000"/>
            <a:ext cx="5321808" cy="2057400"/>
          </a:xfrm>
          <a:prstGeom prst="roundRect">
            <a:avLst>
              <a:gd name="adj" fmla="val 5333"/>
            </a:avLst>
          </a:prstGeom>
          <a:solidFill>
            <a:srgbClr val="FDECEC"/>
          </a:solidFill>
          <a:ln w="12700">
            <a:solidFill>
              <a:srgbClr val="F5B8B8"/>
            </a:solidFill>
            <a:prstDash val="solid"/>
          </a:ln>
          <a:effectLst>
            <a:outerShdw blurRad="-2147483648" dist="-2147483648" algn="bl" rotWithShape="0">
              <a:srgbClr val="000000">
                <a:alpha val="0"/>
              </a:srgbClr>
            </a:outerShdw>
          </a:effectLst>
        </p:spPr>
      </p:sp>
      <p:sp>
        <p:nvSpPr>
          <p:cNvPr id="30" name="Text 28"/>
          <p:cNvSpPr/>
          <p:nvPr/>
        </p:nvSpPr>
        <p:spPr>
          <a:xfrm>
            <a:off x="960120" y="3703320"/>
            <a:ext cx="1554480" cy="256032"/>
          </a:xfrm>
          <a:prstGeom prst="rect">
            <a:avLst/>
          </a:prstGeom>
          <a:noFill/>
        </p:spPr>
        <p:txBody>
          <a:bodyPr wrap="square" lIns="0" tIns="0" rIns="0" bIns="0" rtlCol="0" anchor="ctr"/>
          <a:lstStyle/>
          <a:p>
            <a:pPr marL="0" indent="0">
              <a:buNone/>
            </a:pPr>
            <a:r>
              <a:rPr lang="en-US" sz="1500" b="1" dirty="0">
                <a:solidFill>
                  <a:srgbClr val="DC2626"/>
                </a:solidFill>
              </a:rPr>
              <a:t>WEAK PROMPT</a:t>
            </a:r>
            <a:endParaRPr lang="en-US" sz="1500" dirty="0"/>
          </a:p>
        </p:txBody>
      </p:sp>
      <p:sp>
        <p:nvSpPr>
          <p:cNvPr id="31" name="Text 29"/>
          <p:cNvSpPr/>
          <p:nvPr/>
        </p:nvSpPr>
        <p:spPr>
          <a:xfrm>
            <a:off x="960120" y="4224528"/>
            <a:ext cx="4389120" cy="365760"/>
          </a:xfrm>
          <a:prstGeom prst="rect">
            <a:avLst/>
          </a:prstGeom>
          <a:noFill/>
        </p:spPr>
        <p:txBody>
          <a:bodyPr wrap="square" lIns="0" tIns="0" rIns="0" bIns="0" rtlCol="0" anchor="ctr"/>
          <a:lstStyle/>
          <a:p>
            <a:pPr marL="0" indent="0">
              <a:buNone/>
            </a:pPr>
            <a:r>
              <a:rPr lang="en-US" sz="2000" b="1" dirty="0">
                <a:solidFill>
                  <a:srgbClr val="0B1F3A"/>
                </a:solidFill>
              </a:rPr>
              <a:t>“Explain neural networks.”</a:t>
            </a:r>
            <a:endParaRPr lang="en-US" sz="2000" dirty="0"/>
          </a:p>
        </p:txBody>
      </p:sp>
      <p:sp>
        <p:nvSpPr>
          <p:cNvPr id="32" name="Text 30"/>
          <p:cNvSpPr/>
          <p:nvPr/>
        </p:nvSpPr>
        <p:spPr>
          <a:xfrm>
            <a:off x="960120" y="4864608"/>
            <a:ext cx="4389120" cy="256032"/>
          </a:xfrm>
          <a:prstGeom prst="rect">
            <a:avLst/>
          </a:prstGeom>
          <a:noFill/>
        </p:spPr>
        <p:txBody>
          <a:bodyPr wrap="square" lIns="0" tIns="0" rIns="0" bIns="0" rtlCol="0" anchor="ctr"/>
          <a:lstStyle/>
          <a:p>
            <a:pPr marL="0" indent="0">
              <a:buNone/>
            </a:pPr>
            <a:r>
              <a:rPr lang="en-US" sz="1150" dirty="0">
                <a:solidFill>
                  <a:srgbClr val="667085"/>
                </a:solidFill>
              </a:rPr>
              <a:t>Unclear level • no purpose • no output format • no check</a:t>
            </a:r>
            <a:endParaRPr lang="en-US" sz="1150" dirty="0"/>
          </a:p>
        </p:txBody>
      </p:sp>
      <p:sp>
        <p:nvSpPr>
          <p:cNvPr id="33" name="Shape 31"/>
          <p:cNvSpPr/>
          <p:nvPr/>
        </p:nvSpPr>
        <p:spPr>
          <a:xfrm>
            <a:off x="6199632" y="3429000"/>
            <a:ext cx="5321808" cy="2057400"/>
          </a:xfrm>
          <a:prstGeom prst="roundRect">
            <a:avLst>
              <a:gd name="adj" fmla="val 5333"/>
            </a:avLst>
          </a:prstGeom>
          <a:solidFill>
            <a:srgbClr val="EAF8EE"/>
          </a:solidFill>
          <a:ln w="12700">
            <a:solidFill>
              <a:srgbClr val="A8DDB7"/>
            </a:solidFill>
            <a:prstDash val="solid"/>
          </a:ln>
          <a:effectLst>
            <a:outerShdw blurRad="-2147483648" dist="-2147483648" algn="bl" rotWithShape="0">
              <a:srgbClr val="000000">
                <a:alpha val="0"/>
              </a:srgbClr>
            </a:outerShdw>
          </a:effectLst>
        </p:spPr>
      </p:sp>
      <p:sp>
        <p:nvSpPr>
          <p:cNvPr id="34" name="Text 32"/>
          <p:cNvSpPr/>
          <p:nvPr/>
        </p:nvSpPr>
        <p:spPr>
          <a:xfrm>
            <a:off x="6473952" y="3703320"/>
            <a:ext cx="1737360" cy="256032"/>
          </a:xfrm>
          <a:prstGeom prst="rect">
            <a:avLst/>
          </a:prstGeom>
          <a:noFill/>
        </p:spPr>
        <p:txBody>
          <a:bodyPr wrap="square" lIns="0" tIns="0" rIns="0" bIns="0" rtlCol="0" anchor="ctr"/>
          <a:lstStyle/>
          <a:p>
            <a:pPr marL="0" indent="0">
              <a:buNone/>
            </a:pPr>
            <a:r>
              <a:rPr lang="en-US" sz="1500" b="1" dirty="0">
                <a:solidFill>
                  <a:srgbClr val="16A34A"/>
                </a:solidFill>
              </a:rPr>
              <a:t>STRONG PROMPT</a:t>
            </a:r>
            <a:endParaRPr lang="en-US" sz="1500" dirty="0"/>
          </a:p>
        </p:txBody>
      </p:sp>
      <p:sp>
        <p:nvSpPr>
          <p:cNvPr id="35" name="Text 33"/>
          <p:cNvSpPr/>
          <p:nvPr/>
        </p:nvSpPr>
        <p:spPr>
          <a:xfrm>
            <a:off x="6473952" y="4096512"/>
            <a:ext cx="4526280" cy="1024128"/>
          </a:xfrm>
          <a:prstGeom prst="rect">
            <a:avLst/>
          </a:prstGeom>
          <a:noFill/>
        </p:spPr>
        <p:txBody>
          <a:bodyPr wrap="square" lIns="0" tIns="0" rIns="0" bIns="0" rtlCol="0" anchor="ctr">
            <a:normAutofit/>
          </a:bodyPr>
          <a:lstStyle/>
          <a:p>
            <a:pPr marL="0" indent="0">
              <a:buNone/>
            </a:pPr>
            <a:r>
              <a:rPr lang="en-US" sz="1240" b="1" dirty="0">
                <a:solidFill>
                  <a:srgbClr val="0B1F3A"/>
                </a:solidFill>
              </a:rPr>
              <a:t>“Teach a beginner MSc Mathematics class how a one-hidden-layer neural network works. Connect each step to matrices and functions. Use one numerical example, a simple diagram description, and five check questions. State assumptions and flag any simplifications.”</a:t>
            </a:r>
            <a:endParaRPr lang="en-US" sz="1240" dirty="0"/>
          </a:p>
        </p:txBody>
      </p:sp>
      <p:sp>
        <p:nvSpPr>
          <p:cNvPr id="36" name="Text 34"/>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Help — Creating a good prompt; OpenAI Academy — Prompting fundamentals (2026).</a:t>
            </a:r>
            <a:endParaRPr lang="en-US" sz="750" dirty="0"/>
          </a:p>
        </p:txBody>
      </p:sp>
      <p:sp>
        <p:nvSpPr>
          <p:cNvPr id="37"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Responsible Use: Trust, but Verify</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AI can be confident and still be wrong. Academic users must remain accountable.</a:t>
            </a:r>
            <a:endParaRPr lang="en-US" sz="1150" dirty="0"/>
          </a:p>
        </p:txBody>
      </p:sp>
      <p:sp>
        <p:nvSpPr>
          <p:cNvPr id="4" name="Shape 2"/>
          <p:cNvSpPr/>
          <p:nvPr/>
        </p:nvSpPr>
        <p:spPr>
          <a:xfrm>
            <a:off x="713232" y="1261872"/>
            <a:ext cx="10771632" cy="768096"/>
          </a:xfrm>
          <a:prstGeom prst="roundRect">
            <a:avLst>
              <a:gd name="adj" fmla="val 14286"/>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5" name="Shape 3"/>
          <p:cNvSpPr/>
          <p:nvPr/>
        </p:nvSpPr>
        <p:spPr>
          <a:xfrm>
            <a:off x="932688" y="1463040"/>
            <a:ext cx="1508760" cy="310896"/>
          </a:xfrm>
          <a:prstGeom prst="roundRect">
            <a:avLst>
              <a:gd name="adj" fmla="val 44118"/>
            </a:avLst>
          </a:prstGeom>
          <a:solidFill>
            <a:srgbClr val="DC2626"/>
          </a:solidFill>
          <a:ln w="12700">
            <a:solidFill>
              <a:srgbClr val="DC2626"/>
            </a:solidFill>
            <a:prstDash val="solid"/>
          </a:ln>
        </p:spPr>
      </p:sp>
      <p:sp>
        <p:nvSpPr>
          <p:cNvPr id="6" name="Text 4"/>
          <p:cNvSpPr/>
          <p:nvPr/>
        </p:nvSpPr>
        <p:spPr>
          <a:xfrm>
            <a:off x="1005840" y="1531620"/>
            <a:ext cx="1362456" cy="164592"/>
          </a:xfrm>
          <a:prstGeom prst="rect">
            <a:avLst/>
          </a:prstGeom>
          <a:noFill/>
        </p:spPr>
        <p:txBody>
          <a:bodyPr wrap="square" lIns="0" tIns="0" rIns="0" bIns="0" rtlCol="0" anchor="ctr"/>
          <a:lstStyle/>
          <a:p>
            <a:pPr marL="0" indent="0" algn="ctr">
              <a:buNone/>
            </a:pPr>
            <a:r>
              <a:rPr lang="en-US" sz="900" b="1" dirty="0">
                <a:solidFill>
                  <a:srgbClr val="FFFFFF"/>
                </a:solidFill>
              </a:rPr>
              <a:t>HALLUCINATION</a:t>
            </a:r>
            <a:endParaRPr lang="en-US" sz="900" dirty="0"/>
          </a:p>
        </p:txBody>
      </p:sp>
      <p:sp>
        <p:nvSpPr>
          <p:cNvPr id="7" name="Text 5"/>
          <p:cNvSpPr/>
          <p:nvPr/>
        </p:nvSpPr>
        <p:spPr>
          <a:xfrm>
            <a:off x="2697480" y="1426464"/>
            <a:ext cx="3840480" cy="384048"/>
          </a:xfrm>
          <a:prstGeom prst="rect">
            <a:avLst/>
          </a:prstGeom>
          <a:noFill/>
        </p:spPr>
        <p:txBody>
          <a:bodyPr wrap="square" lIns="0" tIns="0" rIns="0" bIns="0" rtlCol="0" anchor="ctr">
            <a:normAutofit/>
          </a:bodyPr>
          <a:lstStyle/>
          <a:p>
            <a:pPr marL="0" indent="0">
              <a:buNone/>
            </a:pPr>
            <a:r>
              <a:rPr lang="en-US" sz="1250" b="1" dirty="0">
                <a:solidFill>
                  <a:srgbClr val="0B1F3A"/>
                </a:solidFill>
              </a:rPr>
              <a:t>Fabricated facts, references, or explanations</a:t>
            </a:r>
            <a:endParaRPr lang="en-US" sz="1250" dirty="0"/>
          </a:p>
        </p:txBody>
      </p:sp>
      <p:sp>
        <p:nvSpPr>
          <p:cNvPr id="8" name="Text 6"/>
          <p:cNvSpPr/>
          <p:nvPr/>
        </p:nvSpPr>
        <p:spPr>
          <a:xfrm>
            <a:off x="6656832" y="1463040"/>
            <a:ext cx="365760" cy="228600"/>
          </a:xfrm>
          <a:prstGeom prst="rect">
            <a:avLst/>
          </a:prstGeom>
          <a:noFill/>
        </p:spPr>
        <p:txBody>
          <a:bodyPr wrap="square" lIns="0" tIns="0" rIns="0" bIns="0" rtlCol="0" anchor="ctr"/>
          <a:lstStyle/>
          <a:p>
            <a:pPr marL="0" indent="0" algn="ctr">
              <a:buNone/>
            </a:pPr>
            <a:r>
              <a:rPr lang="en-US" sz="1800" b="1" dirty="0">
                <a:solidFill>
                  <a:srgbClr val="9AA8B7"/>
                </a:solidFill>
              </a:rPr>
              <a:t>→</a:t>
            </a:r>
            <a:endParaRPr lang="en-US" sz="1800" dirty="0"/>
          </a:p>
        </p:txBody>
      </p:sp>
      <p:sp>
        <p:nvSpPr>
          <p:cNvPr id="9" name="Text 7"/>
          <p:cNvSpPr/>
          <p:nvPr/>
        </p:nvSpPr>
        <p:spPr>
          <a:xfrm>
            <a:off x="7178040" y="1426464"/>
            <a:ext cx="3749040" cy="384048"/>
          </a:xfrm>
          <a:prstGeom prst="rect">
            <a:avLst/>
          </a:prstGeom>
          <a:noFill/>
        </p:spPr>
        <p:txBody>
          <a:bodyPr wrap="square" lIns="0" tIns="0" rIns="0" bIns="0" rtlCol="0" anchor="ctr">
            <a:normAutofit/>
          </a:bodyPr>
          <a:lstStyle/>
          <a:p>
            <a:pPr marL="0" indent="0">
              <a:buNone/>
            </a:pPr>
            <a:r>
              <a:rPr lang="en-US" sz="1250" b="1" dirty="0">
                <a:solidFill>
                  <a:srgbClr val="DC2626"/>
                </a:solidFill>
              </a:rPr>
              <a:t>Verify with primary sources</a:t>
            </a:r>
            <a:endParaRPr lang="en-US" sz="1250" dirty="0"/>
          </a:p>
        </p:txBody>
      </p:sp>
      <p:sp>
        <p:nvSpPr>
          <p:cNvPr id="10" name="Shape 8"/>
          <p:cNvSpPr/>
          <p:nvPr/>
        </p:nvSpPr>
        <p:spPr>
          <a:xfrm>
            <a:off x="713232" y="2249424"/>
            <a:ext cx="10771632" cy="768096"/>
          </a:xfrm>
          <a:prstGeom prst="roundRect">
            <a:avLst>
              <a:gd name="adj" fmla="val 14286"/>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1" name="Shape 9"/>
          <p:cNvSpPr/>
          <p:nvPr/>
        </p:nvSpPr>
        <p:spPr>
          <a:xfrm>
            <a:off x="932688" y="2450592"/>
            <a:ext cx="1508760" cy="310896"/>
          </a:xfrm>
          <a:prstGeom prst="roundRect">
            <a:avLst>
              <a:gd name="adj" fmla="val 44118"/>
            </a:avLst>
          </a:prstGeom>
          <a:solidFill>
            <a:srgbClr val="F59E0B"/>
          </a:solidFill>
          <a:ln w="12700">
            <a:solidFill>
              <a:srgbClr val="F59E0B"/>
            </a:solidFill>
            <a:prstDash val="solid"/>
          </a:ln>
        </p:spPr>
      </p:sp>
      <p:sp>
        <p:nvSpPr>
          <p:cNvPr id="12" name="Text 10"/>
          <p:cNvSpPr/>
          <p:nvPr/>
        </p:nvSpPr>
        <p:spPr>
          <a:xfrm>
            <a:off x="1005840" y="2519172"/>
            <a:ext cx="1362456" cy="164592"/>
          </a:xfrm>
          <a:prstGeom prst="rect">
            <a:avLst/>
          </a:prstGeom>
          <a:noFill/>
        </p:spPr>
        <p:txBody>
          <a:bodyPr wrap="square" lIns="0" tIns="0" rIns="0" bIns="0" rtlCol="0" anchor="ctr"/>
          <a:lstStyle/>
          <a:p>
            <a:pPr marL="0" indent="0" algn="ctr">
              <a:buNone/>
            </a:pPr>
            <a:r>
              <a:rPr lang="en-US" sz="900" b="1" dirty="0">
                <a:solidFill>
                  <a:srgbClr val="FFFFFF"/>
                </a:solidFill>
              </a:rPr>
              <a:t>MATH ERRORS</a:t>
            </a:r>
            <a:endParaRPr lang="en-US" sz="900" dirty="0"/>
          </a:p>
        </p:txBody>
      </p:sp>
      <p:sp>
        <p:nvSpPr>
          <p:cNvPr id="13" name="Text 11"/>
          <p:cNvSpPr/>
          <p:nvPr/>
        </p:nvSpPr>
        <p:spPr>
          <a:xfrm>
            <a:off x="2697480" y="2414016"/>
            <a:ext cx="3840480" cy="384048"/>
          </a:xfrm>
          <a:prstGeom prst="rect">
            <a:avLst/>
          </a:prstGeom>
          <a:noFill/>
        </p:spPr>
        <p:txBody>
          <a:bodyPr wrap="square" lIns="0" tIns="0" rIns="0" bIns="0" rtlCol="0" anchor="ctr">
            <a:normAutofit/>
          </a:bodyPr>
          <a:lstStyle/>
          <a:p>
            <a:pPr marL="0" indent="0">
              <a:buNone/>
            </a:pPr>
            <a:r>
              <a:rPr lang="en-US" sz="1250" b="1" dirty="0">
                <a:solidFill>
                  <a:srgbClr val="0B1F3A"/>
                </a:solidFill>
              </a:rPr>
              <a:t>Incorrect algebra, hidden assumptions, or faulty proof steps</a:t>
            </a:r>
            <a:endParaRPr lang="en-US" sz="1250" dirty="0"/>
          </a:p>
        </p:txBody>
      </p:sp>
      <p:sp>
        <p:nvSpPr>
          <p:cNvPr id="14" name="Text 12"/>
          <p:cNvSpPr/>
          <p:nvPr/>
        </p:nvSpPr>
        <p:spPr>
          <a:xfrm>
            <a:off x="6656832" y="2450592"/>
            <a:ext cx="365760" cy="228600"/>
          </a:xfrm>
          <a:prstGeom prst="rect">
            <a:avLst/>
          </a:prstGeom>
          <a:noFill/>
        </p:spPr>
        <p:txBody>
          <a:bodyPr wrap="square" lIns="0" tIns="0" rIns="0" bIns="0" rtlCol="0" anchor="ctr"/>
          <a:lstStyle/>
          <a:p>
            <a:pPr marL="0" indent="0" algn="ctr">
              <a:buNone/>
            </a:pPr>
            <a:r>
              <a:rPr lang="en-US" sz="1800" b="1" dirty="0">
                <a:solidFill>
                  <a:srgbClr val="9AA8B7"/>
                </a:solidFill>
              </a:rPr>
              <a:t>→</a:t>
            </a:r>
            <a:endParaRPr lang="en-US" sz="1800" dirty="0"/>
          </a:p>
        </p:txBody>
      </p:sp>
      <p:sp>
        <p:nvSpPr>
          <p:cNvPr id="15" name="Text 13"/>
          <p:cNvSpPr/>
          <p:nvPr/>
        </p:nvSpPr>
        <p:spPr>
          <a:xfrm>
            <a:off x="7178040" y="2414016"/>
            <a:ext cx="3749040" cy="384048"/>
          </a:xfrm>
          <a:prstGeom prst="rect">
            <a:avLst/>
          </a:prstGeom>
          <a:noFill/>
        </p:spPr>
        <p:txBody>
          <a:bodyPr wrap="square" lIns="0" tIns="0" rIns="0" bIns="0" rtlCol="0" anchor="ctr">
            <a:normAutofit/>
          </a:bodyPr>
          <a:lstStyle/>
          <a:p>
            <a:pPr marL="0" indent="0">
              <a:buNone/>
            </a:pPr>
            <a:r>
              <a:rPr lang="en-US" sz="1250" b="1" dirty="0">
                <a:solidFill>
                  <a:srgbClr val="F59E0B"/>
                </a:solidFill>
              </a:rPr>
              <a:t>Recalculate and test edge cases</a:t>
            </a:r>
            <a:endParaRPr lang="en-US" sz="1250" dirty="0"/>
          </a:p>
        </p:txBody>
      </p:sp>
      <p:sp>
        <p:nvSpPr>
          <p:cNvPr id="16" name="Shape 14"/>
          <p:cNvSpPr/>
          <p:nvPr/>
        </p:nvSpPr>
        <p:spPr>
          <a:xfrm>
            <a:off x="713232" y="3236976"/>
            <a:ext cx="10771632" cy="768096"/>
          </a:xfrm>
          <a:prstGeom prst="roundRect">
            <a:avLst>
              <a:gd name="adj" fmla="val 14286"/>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7" name="Shape 15"/>
          <p:cNvSpPr/>
          <p:nvPr/>
        </p:nvSpPr>
        <p:spPr>
          <a:xfrm>
            <a:off x="932688" y="3438144"/>
            <a:ext cx="1508760" cy="310896"/>
          </a:xfrm>
          <a:prstGeom prst="roundRect">
            <a:avLst>
              <a:gd name="adj" fmla="val 44118"/>
            </a:avLst>
          </a:prstGeom>
          <a:solidFill>
            <a:srgbClr val="1677FF"/>
          </a:solidFill>
          <a:ln w="12700">
            <a:solidFill>
              <a:srgbClr val="1677FF"/>
            </a:solidFill>
            <a:prstDash val="solid"/>
          </a:ln>
        </p:spPr>
      </p:sp>
      <p:sp>
        <p:nvSpPr>
          <p:cNvPr id="18" name="Text 16"/>
          <p:cNvSpPr/>
          <p:nvPr/>
        </p:nvSpPr>
        <p:spPr>
          <a:xfrm>
            <a:off x="1005840" y="3506724"/>
            <a:ext cx="1362456" cy="164592"/>
          </a:xfrm>
          <a:prstGeom prst="rect">
            <a:avLst/>
          </a:prstGeom>
          <a:noFill/>
        </p:spPr>
        <p:txBody>
          <a:bodyPr wrap="square" lIns="0" tIns="0" rIns="0" bIns="0" rtlCol="0" anchor="ctr"/>
          <a:lstStyle/>
          <a:p>
            <a:pPr marL="0" indent="0" algn="ctr">
              <a:buNone/>
            </a:pPr>
            <a:r>
              <a:rPr lang="en-US" sz="900" b="1" dirty="0">
                <a:solidFill>
                  <a:srgbClr val="FFFFFF"/>
                </a:solidFill>
              </a:rPr>
              <a:t>PRIVACY</a:t>
            </a:r>
            <a:endParaRPr lang="en-US" sz="900" dirty="0"/>
          </a:p>
        </p:txBody>
      </p:sp>
      <p:sp>
        <p:nvSpPr>
          <p:cNvPr id="19" name="Text 17"/>
          <p:cNvSpPr/>
          <p:nvPr/>
        </p:nvSpPr>
        <p:spPr>
          <a:xfrm>
            <a:off x="2697480" y="3401568"/>
            <a:ext cx="3840480" cy="384048"/>
          </a:xfrm>
          <a:prstGeom prst="rect">
            <a:avLst/>
          </a:prstGeom>
          <a:noFill/>
        </p:spPr>
        <p:txBody>
          <a:bodyPr wrap="square" lIns="0" tIns="0" rIns="0" bIns="0" rtlCol="0" anchor="ctr">
            <a:normAutofit/>
          </a:bodyPr>
          <a:lstStyle/>
          <a:p>
            <a:pPr marL="0" indent="0">
              <a:buNone/>
            </a:pPr>
            <a:r>
              <a:rPr lang="en-US" sz="1250" b="1" dirty="0">
                <a:solidFill>
                  <a:srgbClr val="0B1F3A"/>
                </a:solidFill>
              </a:rPr>
              <a:t>Sensitive student, research, or institutional data</a:t>
            </a:r>
            <a:endParaRPr lang="en-US" sz="1250" dirty="0"/>
          </a:p>
        </p:txBody>
      </p:sp>
      <p:sp>
        <p:nvSpPr>
          <p:cNvPr id="20" name="Text 18"/>
          <p:cNvSpPr/>
          <p:nvPr/>
        </p:nvSpPr>
        <p:spPr>
          <a:xfrm>
            <a:off x="6656832" y="3438144"/>
            <a:ext cx="365760" cy="228600"/>
          </a:xfrm>
          <a:prstGeom prst="rect">
            <a:avLst/>
          </a:prstGeom>
          <a:noFill/>
        </p:spPr>
        <p:txBody>
          <a:bodyPr wrap="square" lIns="0" tIns="0" rIns="0" bIns="0" rtlCol="0" anchor="ctr"/>
          <a:lstStyle/>
          <a:p>
            <a:pPr marL="0" indent="0" algn="ctr">
              <a:buNone/>
            </a:pPr>
            <a:r>
              <a:rPr lang="en-US" sz="1800" b="1" dirty="0">
                <a:solidFill>
                  <a:srgbClr val="9AA8B7"/>
                </a:solidFill>
              </a:rPr>
              <a:t>→</a:t>
            </a:r>
            <a:endParaRPr lang="en-US" sz="1800" dirty="0"/>
          </a:p>
        </p:txBody>
      </p:sp>
      <p:sp>
        <p:nvSpPr>
          <p:cNvPr id="21" name="Text 19"/>
          <p:cNvSpPr/>
          <p:nvPr/>
        </p:nvSpPr>
        <p:spPr>
          <a:xfrm>
            <a:off x="7178040" y="3401568"/>
            <a:ext cx="3749040" cy="384048"/>
          </a:xfrm>
          <a:prstGeom prst="rect">
            <a:avLst/>
          </a:prstGeom>
          <a:noFill/>
        </p:spPr>
        <p:txBody>
          <a:bodyPr wrap="square" lIns="0" tIns="0" rIns="0" bIns="0" rtlCol="0" anchor="ctr">
            <a:normAutofit/>
          </a:bodyPr>
          <a:lstStyle/>
          <a:p>
            <a:pPr marL="0" indent="0">
              <a:buNone/>
            </a:pPr>
            <a:r>
              <a:rPr lang="en-US" sz="1250" b="1" dirty="0">
                <a:solidFill>
                  <a:srgbClr val="1677FF"/>
                </a:solidFill>
              </a:rPr>
              <a:t>Minimize, anonymize, and follow policy</a:t>
            </a:r>
            <a:endParaRPr lang="en-US" sz="1250" dirty="0"/>
          </a:p>
        </p:txBody>
      </p:sp>
      <p:sp>
        <p:nvSpPr>
          <p:cNvPr id="22" name="Shape 20"/>
          <p:cNvSpPr/>
          <p:nvPr/>
        </p:nvSpPr>
        <p:spPr>
          <a:xfrm>
            <a:off x="713232" y="4224528"/>
            <a:ext cx="10771632" cy="768096"/>
          </a:xfrm>
          <a:prstGeom prst="roundRect">
            <a:avLst>
              <a:gd name="adj" fmla="val 14286"/>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3" name="Shape 21"/>
          <p:cNvSpPr/>
          <p:nvPr/>
        </p:nvSpPr>
        <p:spPr>
          <a:xfrm>
            <a:off x="932688" y="4425696"/>
            <a:ext cx="1508760" cy="310896"/>
          </a:xfrm>
          <a:prstGeom prst="roundRect">
            <a:avLst>
              <a:gd name="adj" fmla="val 44118"/>
            </a:avLst>
          </a:prstGeom>
          <a:solidFill>
            <a:srgbClr val="7C3AED"/>
          </a:solidFill>
          <a:ln w="12700">
            <a:solidFill>
              <a:srgbClr val="7C3AED"/>
            </a:solidFill>
            <a:prstDash val="solid"/>
          </a:ln>
        </p:spPr>
      </p:sp>
      <p:sp>
        <p:nvSpPr>
          <p:cNvPr id="24" name="Text 22"/>
          <p:cNvSpPr/>
          <p:nvPr/>
        </p:nvSpPr>
        <p:spPr>
          <a:xfrm>
            <a:off x="1005840" y="4494276"/>
            <a:ext cx="1362456" cy="164592"/>
          </a:xfrm>
          <a:prstGeom prst="rect">
            <a:avLst/>
          </a:prstGeom>
          <a:noFill/>
        </p:spPr>
        <p:txBody>
          <a:bodyPr wrap="square" lIns="0" tIns="0" rIns="0" bIns="0" rtlCol="0" anchor="ctr"/>
          <a:lstStyle/>
          <a:p>
            <a:pPr marL="0" indent="0" algn="ctr">
              <a:buNone/>
            </a:pPr>
            <a:r>
              <a:rPr lang="en-US" sz="900" b="1" dirty="0">
                <a:solidFill>
                  <a:srgbClr val="FFFFFF"/>
                </a:solidFill>
              </a:rPr>
              <a:t>BIAS</a:t>
            </a:r>
            <a:endParaRPr lang="en-US" sz="900" dirty="0"/>
          </a:p>
        </p:txBody>
      </p:sp>
      <p:sp>
        <p:nvSpPr>
          <p:cNvPr id="25" name="Text 23"/>
          <p:cNvSpPr/>
          <p:nvPr/>
        </p:nvSpPr>
        <p:spPr>
          <a:xfrm>
            <a:off x="2697480" y="4389120"/>
            <a:ext cx="3840480" cy="384048"/>
          </a:xfrm>
          <a:prstGeom prst="rect">
            <a:avLst/>
          </a:prstGeom>
          <a:noFill/>
        </p:spPr>
        <p:txBody>
          <a:bodyPr wrap="square" lIns="0" tIns="0" rIns="0" bIns="0" rtlCol="0" anchor="ctr">
            <a:normAutofit/>
          </a:bodyPr>
          <a:lstStyle/>
          <a:p>
            <a:pPr marL="0" indent="0">
              <a:buNone/>
            </a:pPr>
            <a:r>
              <a:rPr lang="en-US" sz="1250" b="1" dirty="0">
                <a:solidFill>
                  <a:srgbClr val="0B1F3A"/>
                </a:solidFill>
              </a:rPr>
              <a:t>Unequal or incomplete patterns in data and language</a:t>
            </a:r>
            <a:endParaRPr lang="en-US" sz="1250" dirty="0"/>
          </a:p>
        </p:txBody>
      </p:sp>
      <p:sp>
        <p:nvSpPr>
          <p:cNvPr id="26" name="Text 24"/>
          <p:cNvSpPr/>
          <p:nvPr/>
        </p:nvSpPr>
        <p:spPr>
          <a:xfrm>
            <a:off x="6656832" y="4425696"/>
            <a:ext cx="365760" cy="228600"/>
          </a:xfrm>
          <a:prstGeom prst="rect">
            <a:avLst/>
          </a:prstGeom>
          <a:noFill/>
        </p:spPr>
        <p:txBody>
          <a:bodyPr wrap="square" lIns="0" tIns="0" rIns="0" bIns="0" rtlCol="0" anchor="ctr"/>
          <a:lstStyle/>
          <a:p>
            <a:pPr marL="0" indent="0" algn="ctr">
              <a:buNone/>
            </a:pPr>
            <a:r>
              <a:rPr lang="en-US" sz="1800" b="1" dirty="0">
                <a:solidFill>
                  <a:srgbClr val="9AA8B7"/>
                </a:solidFill>
              </a:rPr>
              <a:t>→</a:t>
            </a:r>
            <a:endParaRPr lang="en-US" sz="1800" dirty="0"/>
          </a:p>
        </p:txBody>
      </p:sp>
      <p:sp>
        <p:nvSpPr>
          <p:cNvPr id="27" name="Text 25"/>
          <p:cNvSpPr/>
          <p:nvPr/>
        </p:nvSpPr>
        <p:spPr>
          <a:xfrm>
            <a:off x="7178040" y="4389120"/>
            <a:ext cx="3749040" cy="384048"/>
          </a:xfrm>
          <a:prstGeom prst="rect">
            <a:avLst/>
          </a:prstGeom>
          <a:noFill/>
        </p:spPr>
        <p:txBody>
          <a:bodyPr wrap="square" lIns="0" tIns="0" rIns="0" bIns="0" rtlCol="0" anchor="ctr">
            <a:normAutofit/>
          </a:bodyPr>
          <a:lstStyle/>
          <a:p>
            <a:pPr marL="0" indent="0">
              <a:buNone/>
            </a:pPr>
            <a:r>
              <a:rPr lang="en-US" sz="1250" b="1" dirty="0">
                <a:solidFill>
                  <a:srgbClr val="7C3AED"/>
                </a:solidFill>
              </a:rPr>
              <a:t>Compare perspectives and inspect evidence</a:t>
            </a:r>
            <a:endParaRPr lang="en-US" sz="1250" dirty="0"/>
          </a:p>
        </p:txBody>
      </p:sp>
      <p:sp>
        <p:nvSpPr>
          <p:cNvPr id="28" name="Shape 26"/>
          <p:cNvSpPr/>
          <p:nvPr/>
        </p:nvSpPr>
        <p:spPr>
          <a:xfrm>
            <a:off x="713232" y="5212080"/>
            <a:ext cx="10771632" cy="768096"/>
          </a:xfrm>
          <a:prstGeom prst="roundRect">
            <a:avLst>
              <a:gd name="adj" fmla="val 14286"/>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9" name="Shape 27"/>
          <p:cNvSpPr/>
          <p:nvPr/>
        </p:nvSpPr>
        <p:spPr>
          <a:xfrm>
            <a:off x="932688" y="5413248"/>
            <a:ext cx="1508760" cy="310896"/>
          </a:xfrm>
          <a:prstGeom prst="roundRect">
            <a:avLst>
              <a:gd name="adj" fmla="val 44118"/>
            </a:avLst>
          </a:prstGeom>
          <a:solidFill>
            <a:srgbClr val="16A34A"/>
          </a:solidFill>
          <a:ln w="12700">
            <a:solidFill>
              <a:srgbClr val="16A34A"/>
            </a:solidFill>
            <a:prstDash val="solid"/>
          </a:ln>
        </p:spPr>
      </p:sp>
      <p:sp>
        <p:nvSpPr>
          <p:cNvPr id="30" name="Text 28"/>
          <p:cNvSpPr/>
          <p:nvPr/>
        </p:nvSpPr>
        <p:spPr>
          <a:xfrm>
            <a:off x="1005840" y="5481828"/>
            <a:ext cx="1362456" cy="164592"/>
          </a:xfrm>
          <a:prstGeom prst="rect">
            <a:avLst/>
          </a:prstGeom>
          <a:noFill/>
        </p:spPr>
        <p:txBody>
          <a:bodyPr wrap="square" lIns="0" tIns="0" rIns="0" bIns="0" rtlCol="0" anchor="ctr"/>
          <a:lstStyle/>
          <a:p>
            <a:pPr marL="0" indent="0" algn="ctr">
              <a:buNone/>
            </a:pPr>
            <a:r>
              <a:rPr lang="en-US" sz="900" b="1" dirty="0">
                <a:solidFill>
                  <a:srgbClr val="FFFFFF"/>
                </a:solidFill>
              </a:rPr>
              <a:t>ACADEMIC INTEGRITY</a:t>
            </a:r>
            <a:endParaRPr lang="en-US" sz="900" dirty="0"/>
          </a:p>
        </p:txBody>
      </p:sp>
      <p:sp>
        <p:nvSpPr>
          <p:cNvPr id="31" name="Text 29"/>
          <p:cNvSpPr/>
          <p:nvPr/>
        </p:nvSpPr>
        <p:spPr>
          <a:xfrm>
            <a:off x="2697480" y="5376672"/>
            <a:ext cx="3840480" cy="384048"/>
          </a:xfrm>
          <a:prstGeom prst="rect">
            <a:avLst/>
          </a:prstGeom>
          <a:noFill/>
        </p:spPr>
        <p:txBody>
          <a:bodyPr wrap="square" lIns="0" tIns="0" rIns="0" bIns="0" rtlCol="0" anchor="ctr">
            <a:normAutofit/>
          </a:bodyPr>
          <a:lstStyle/>
          <a:p>
            <a:pPr marL="0" indent="0">
              <a:buNone/>
            </a:pPr>
            <a:r>
              <a:rPr lang="en-US" sz="1250" b="1" dirty="0">
                <a:solidFill>
                  <a:srgbClr val="0B1F3A"/>
                </a:solidFill>
              </a:rPr>
              <a:t>Unacknowledged AI-generated work or over-reliance</a:t>
            </a:r>
            <a:endParaRPr lang="en-US" sz="1250" dirty="0"/>
          </a:p>
        </p:txBody>
      </p:sp>
      <p:sp>
        <p:nvSpPr>
          <p:cNvPr id="32" name="Text 30"/>
          <p:cNvSpPr/>
          <p:nvPr/>
        </p:nvSpPr>
        <p:spPr>
          <a:xfrm>
            <a:off x="6656832" y="5413248"/>
            <a:ext cx="365760" cy="228600"/>
          </a:xfrm>
          <a:prstGeom prst="rect">
            <a:avLst/>
          </a:prstGeom>
          <a:noFill/>
        </p:spPr>
        <p:txBody>
          <a:bodyPr wrap="square" lIns="0" tIns="0" rIns="0" bIns="0" rtlCol="0" anchor="ctr"/>
          <a:lstStyle/>
          <a:p>
            <a:pPr marL="0" indent="0" algn="ctr">
              <a:buNone/>
            </a:pPr>
            <a:r>
              <a:rPr lang="en-US" sz="1800" b="1" dirty="0">
                <a:solidFill>
                  <a:srgbClr val="9AA8B7"/>
                </a:solidFill>
              </a:rPr>
              <a:t>→</a:t>
            </a:r>
            <a:endParaRPr lang="en-US" sz="1800" dirty="0"/>
          </a:p>
        </p:txBody>
      </p:sp>
      <p:sp>
        <p:nvSpPr>
          <p:cNvPr id="33" name="Text 31"/>
          <p:cNvSpPr/>
          <p:nvPr/>
        </p:nvSpPr>
        <p:spPr>
          <a:xfrm>
            <a:off x="7178040" y="5376672"/>
            <a:ext cx="3749040" cy="384048"/>
          </a:xfrm>
          <a:prstGeom prst="rect">
            <a:avLst/>
          </a:prstGeom>
          <a:noFill/>
        </p:spPr>
        <p:txBody>
          <a:bodyPr wrap="square" lIns="0" tIns="0" rIns="0" bIns="0" rtlCol="0" anchor="ctr">
            <a:normAutofit/>
          </a:bodyPr>
          <a:lstStyle/>
          <a:p>
            <a:pPr marL="0" indent="0">
              <a:buNone/>
            </a:pPr>
            <a:r>
              <a:rPr lang="en-US" sz="1250" b="1" dirty="0">
                <a:solidFill>
                  <a:srgbClr val="16A34A"/>
                </a:solidFill>
              </a:rPr>
              <a:t>Follow course rules and disclose assistance</a:t>
            </a:r>
            <a:endParaRPr lang="en-US" sz="1250" dirty="0"/>
          </a:p>
        </p:txBody>
      </p:sp>
      <p:sp>
        <p:nvSpPr>
          <p:cNvPr id="34" name="Shape 32"/>
          <p:cNvSpPr/>
          <p:nvPr/>
        </p:nvSpPr>
        <p:spPr>
          <a:xfrm>
            <a:off x="1828800" y="5513832"/>
            <a:ext cx="8549640" cy="530352"/>
          </a:xfrm>
          <a:prstGeom prst="roundRect">
            <a:avLst>
              <a:gd name="adj" fmla="val 24138"/>
            </a:avLst>
          </a:prstGeom>
          <a:solidFill>
            <a:srgbClr val="0B1F3A"/>
          </a:solidFill>
          <a:ln w="12700">
            <a:solidFill>
              <a:srgbClr val="0B1F3A"/>
            </a:solidFill>
            <a:prstDash val="solid"/>
          </a:ln>
        </p:spPr>
      </p:sp>
      <p:sp>
        <p:nvSpPr>
          <p:cNvPr id="35" name="Text 33"/>
          <p:cNvSpPr/>
          <p:nvPr/>
        </p:nvSpPr>
        <p:spPr>
          <a:xfrm>
            <a:off x="2084832" y="5678424"/>
            <a:ext cx="8046720" cy="219456"/>
          </a:xfrm>
          <a:prstGeom prst="rect">
            <a:avLst/>
          </a:prstGeom>
          <a:noFill/>
        </p:spPr>
        <p:txBody>
          <a:bodyPr wrap="square" lIns="0" tIns="0" rIns="0" bIns="0" rtlCol="0" anchor="ctr"/>
          <a:lstStyle/>
          <a:p>
            <a:pPr marL="0" indent="0" algn="ctr">
              <a:buNone/>
            </a:pPr>
            <a:r>
              <a:rPr lang="en-US" sz="1150" b="1" dirty="0">
                <a:solidFill>
                  <a:srgbClr val="FFFFFF"/>
                </a:solidFill>
              </a:rPr>
              <a:t>Human responsibility: define the goal • review evidence • approve actions • own the final decision</a:t>
            </a:r>
            <a:endParaRPr lang="en-US" sz="1150" dirty="0"/>
          </a:p>
        </p:txBody>
      </p:sp>
      <p:sp>
        <p:nvSpPr>
          <p:cNvPr id="36" name="Text 34"/>
          <p:cNvSpPr/>
          <p:nvPr/>
        </p:nvSpPr>
        <p:spPr>
          <a:xfrm>
            <a:off x="566928" y="6245352"/>
            <a:ext cx="10789920" cy="164592"/>
          </a:xfrm>
          <a:prstGeom prst="rect">
            <a:avLst/>
          </a:prstGeom>
          <a:noFill/>
        </p:spPr>
        <p:txBody>
          <a:bodyPr wrap="square" lIns="0" tIns="0" rIns="0" bIns="0" rtlCol="0" anchor="ctr"/>
          <a:lstStyle/>
          <a:p>
            <a:pPr marL="0" indent="0" algn="l">
              <a:buNone/>
            </a:pPr>
            <a:r>
              <a:rPr lang="en-US" sz="750" i="1" dirty="0">
                <a:solidFill>
                  <a:srgbClr val="78849A"/>
                </a:solidFill>
              </a:rPr>
              <a:t>Source: OpenAI system documentation and general guidance on model limitations and user control.</a:t>
            </a:r>
            <a:endParaRPr lang="en-US" sz="750" dirty="0"/>
          </a:p>
        </p:txBody>
      </p:sp>
      <p:sp>
        <p:nvSpPr>
          <p:cNvPr id="37"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Class Activity: Match the Task to the Capability</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Work in groups for 6 minutes, then share one prompt and one verification step.</a:t>
            </a:r>
            <a:endParaRPr lang="en-US" sz="1150" dirty="0"/>
          </a:p>
        </p:txBody>
      </p:sp>
      <p:sp>
        <p:nvSpPr>
          <p:cNvPr id="4" name="Shape 2"/>
          <p:cNvSpPr/>
          <p:nvPr/>
        </p:nvSpPr>
        <p:spPr>
          <a:xfrm>
            <a:off x="694944" y="1325880"/>
            <a:ext cx="5074920" cy="1783080"/>
          </a:xfrm>
          <a:prstGeom prst="roundRect">
            <a:avLst>
              <a:gd name="adj" fmla="val 6154"/>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5" name="Shape 3"/>
          <p:cNvSpPr/>
          <p:nvPr/>
        </p:nvSpPr>
        <p:spPr>
          <a:xfrm>
            <a:off x="932688" y="1554480"/>
            <a:ext cx="566928" cy="566928"/>
          </a:xfrm>
          <a:prstGeom prst="ellipse">
            <a:avLst/>
          </a:prstGeom>
          <a:solidFill>
            <a:srgbClr val="1677FF"/>
          </a:solidFill>
          <a:ln w="12700">
            <a:solidFill>
              <a:srgbClr val="1677FF"/>
            </a:solidFill>
            <a:prstDash val="solid"/>
          </a:ln>
        </p:spPr>
      </p:sp>
      <p:sp>
        <p:nvSpPr>
          <p:cNvPr id="6" name="Text 4"/>
          <p:cNvSpPr/>
          <p:nvPr/>
        </p:nvSpPr>
        <p:spPr>
          <a:xfrm>
            <a:off x="932688" y="1682496"/>
            <a:ext cx="566928" cy="182880"/>
          </a:xfrm>
          <a:prstGeom prst="rect">
            <a:avLst/>
          </a:prstGeom>
          <a:noFill/>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7" name="Text 5"/>
          <p:cNvSpPr/>
          <p:nvPr/>
        </p:nvSpPr>
        <p:spPr>
          <a:xfrm>
            <a:off x="1655064" y="1536192"/>
            <a:ext cx="2286000" cy="274320"/>
          </a:xfrm>
          <a:prstGeom prst="rect">
            <a:avLst/>
          </a:prstGeom>
          <a:noFill/>
        </p:spPr>
        <p:txBody>
          <a:bodyPr wrap="square" lIns="0" tIns="0" rIns="0" bIns="0" rtlCol="0" anchor="ctr"/>
          <a:lstStyle/>
          <a:p>
            <a:pPr marL="0" indent="0">
              <a:buNone/>
            </a:pPr>
            <a:r>
              <a:rPr lang="en-US" sz="1600" b="1" dirty="0">
                <a:solidFill>
                  <a:srgbClr val="0B1F3A"/>
                </a:solidFill>
              </a:rPr>
              <a:t>Current Research</a:t>
            </a:r>
            <a:endParaRPr lang="en-US" sz="1600" dirty="0"/>
          </a:p>
        </p:txBody>
      </p:sp>
      <p:sp>
        <p:nvSpPr>
          <p:cNvPr id="8" name="Shape 6"/>
          <p:cNvSpPr/>
          <p:nvPr/>
        </p:nvSpPr>
        <p:spPr>
          <a:xfrm>
            <a:off x="4123944" y="1545336"/>
            <a:ext cx="1325880" cy="310896"/>
          </a:xfrm>
          <a:prstGeom prst="roundRect">
            <a:avLst>
              <a:gd name="adj" fmla="val 44118"/>
            </a:avLst>
          </a:prstGeom>
          <a:solidFill>
            <a:srgbClr val="1677FF"/>
          </a:solidFill>
          <a:ln w="12700">
            <a:solidFill>
              <a:srgbClr val="1677FF"/>
            </a:solidFill>
            <a:prstDash val="solid"/>
          </a:ln>
        </p:spPr>
      </p:sp>
      <p:sp>
        <p:nvSpPr>
          <p:cNvPr id="9" name="Text 7"/>
          <p:cNvSpPr/>
          <p:nvPr/>
        </p:nvSpPr>
        <p:spPr>
          <a:xfrm>
            <a:off x="4197096" y="1613916"/>
            <a:ext cx="1179576" cy="164592"/>
          </a:xfrm>
          <a:prstGeom prst="rect">
            <a:avLst/>
          </a:prstGeom>
          <a:noFill/>
        </p:spPr>
        <p:txBody>
          <a:bodyPr wrap="square" lIns="0" tIns="0" rIns="0" bIns="0" rtlCol="0" anchor="ctr"/>
          <a:lstStyle/>
          <a:p>
            <a:pPr marL="0" indent="0" algn="ctr">
              <a:buNone/>
            </a:pPr>
            <a:r>
              <a:rPr lang="en-US" sz="900" b="1" dirty="0">
                <a:solidFill>
                  <a:srgbClr val="FFFFFF"/>
                </a:solidFill>
              </a:rPr>
              <a:t>Web Search</a:t>
            </a:r>
            <a:endParaRPr lang="en-US" sz="900" dirty="0"/>
          </a:p>
        </p:txBody>
      </p:sp>
      <p:sp>
        <p:nvSpPr>
          <p:cNvPr id="10" name="Text 8"/>
          <p:cNvSpPr/>
          <p:nvPr/>
        </p:nvSpPr>
        <p:spPr>
          <a:xfrm>
            <a:off x="1655064" y="2020824"/>
            <a:ext cx="3703320" cy="621792"/>
          </a:xfrm>
          <a:prstGeom prst="rect">
            <a:avLst/>
          </a:prstGeom>
          <a:noFill/>
        </p:spPr>
        <p:txBody>
          <a:bodyPr wrap="square" lIns="0" tIns="0" rIns="0" bIns="0" rtlCol="0" anchor="ctr">
            <a:normAutofit/>
          </a:bodyPr>
          <a:lstStyle/>
          <a:p>
            <a:pPr marL="0" indent="0">
              <a:buNone/>
            </a:pPr>
            <a:r>
              <a:rPr lang="en-US" sz="1200" dirty="0">
                <a:solidFill>
                  <a:srgbClr val="273449"/>
                </a:solidFill>
              </a:rPr>
              <a:t>Find three recent applications of topological data analysis and cite authoritative sources.</a:t>
            </a:r>
            <a:endParaRPr lang="en-US" sz="1200" dirty="0"/>
          </a:p>
        </p:txBody>
      </p:sp>
      <p:sp>
        <p:nvSpPr>
          <p:cNvPr id="11" name="Text 9"/>
          <p:cNvSpPr/>
          <p:nvPr/>
        </p:nvSpPr>
        <p:spPr>
          <a:xfrm>
            <a:off x="1655064" y="2743200"/>
            <a:ext cx="3749040" cy="201168"/>
          </a:xfrm>
          <a:prstGeom prst="rect">
            <a:avLst/>
          </a:prstGeom>
          <a:noFill/>
        </p:spPr>
        <p:txBody>
          <a:bodyPr wrap="square" lIns="0" tIns="0" rIns="0" bIns="0" rtlCol="0" anchor="ctr"/>
          <a:lstStyle/>
          <a:p>
            <a:pPr marL="0" indent="0">
              <a:buNone/>
            </a:pPr>
            <a:r>
              <a:rPr lang="en-US" sz="980" b="1" dirty="0">
                <a:solidFill>
                  <a:srgbClr val="667085"/>
                </a:solidFill>
              </a:rPr>
              <a:t>Deliverable: prompt + expected output + verification plan</a:t>
            </a:r>
            <a:endParaRPr lang="en-US" sz="980" dirty="0"/>
          </a:p>
        </p:txBody>
      </p:sp>
      <p:sp>
        <p:nvSpPr>
          <p:cNvPr id="12" name="Shape 10"/>
          <p:cNvSpPr/>
          <p:nvPr/>
        </p:nvSpPr>
        <p:spPr>
          <a:xfrm>
            <a:off x="6227064" y="1325880"/>
            <a:ext cx="5074920" cy="1783080"/>
          </a:xfrm>
          <a:prstGeom prst="roundRect">
            <a:avLst>
              <a:gd name="adj" fmla="val 6154"/>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3" name="Shape 11"/>
          <p:cNvSpPr/>
          <p:nvPr/>
        </p:nvSpPr>
        <p:spPr>
          <a:xfrm>
            <a:off x="6464808" y="1554480"/>
            <a:ext cx="566928" cy="566928"/>
          </a:xfrm>
          <a:prstGeom prst="ellipse">
            <a:avLst/>
          </a:prstGeom>
          <a:solidFill>
            <a:srgbClr val="F59E0B"/>
          </a:solidFill>
          <a:ln w="12700">
            <a:solidFill>
              <a:srgbClr val="F59E0B"/>
            </a:solidFill>
            <a:prstDash val="solid"/>
          </a:ln>
        </p:spPr>
      </p:sp>
      <p:sp>
        <p:nvSpPr>
          <p:cNvPr id="14" name="Text 12"/>
          <p:cNvSpPr/>
          <p:nvPr/>
        </p:nvSpPr>
        <p:spPr>
          <a:xfrm>
            <a:off x="6464808" y="1682496"/>
            <a:ext cx="566928" cy="182880"/>
          </a:xfrm>
          <a:prstGeom prst="rect">
            <a:avLst/>
          </a:prstGeom>
          <a:noFill/>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5" name="Text 13"/>
          <p:cNvSpPr/>
          <p:nvPr/>
        </p:nvSpPr>
        <p:spPr>
          <a:xfrm>
            <a:off x="7187184" y="1536192"/>
            <a:ext cx="2286000" cy="274320"/>
          </a:xfrm>
          <a:prstGeom prst="rect">
            <a:avLst/>
          </a:prstGeom>
          <a:noFill/>
        </p:spPr>
        <p:txBody>
          <a:bodyPr wrap="square" lIns="0" tIns="0" rIns="0" bIns="0" rtlCol="0" anchor="ctr"/>
          <a:lstStyle/>
          <a:p>
            <a:pPr marL="0" indent="0">
              <a:buNone/>
            </a:pPr>
            <a:r>
              <a:rPr lang="en-US" sz="1600" b="1" dirty="0">
                <a:solidFill>
                  <a:srgbClr val="0B1F3A"/>
                </a:solidFill>
              </a:rPr>
              <a:t>Evidence Synthesis</a:t>
            </a:r>
            <a:endParaRPr lang="en-US" sz="1600" dirty="0"/>
          </a:p>
        </p:txBody>
      </p:sp>
      <p:sp>
        <p:nvSpPr>
          <p:cNvPr id="16" name="Shape 14"/>
          <p:cNvSpPr/>
          <p:nvPr/>
        </p:nvSpPr>
        <p:spPr>
          <a:xfrm>
            <a:off x="9656064" y="1545336"/>
            <a:ext cx="1325880" cy="310896"/>
          </a:xfrm>
          <a:prstGeom prst="roundRect">
            <a:avLst>
              <a:gd name="adj" fmla="val 44118"/>
            </a:avLst>
          </a:prstGeom>
          <a:solidFill>
            <a:srgbClr val="F59E0B"/>
          </a:solidFill>
          <a:ln w="12700">
            <a:solidFill>
              <a:srgbClr val="F59E0B"/>
            </a:solidFill>
            <a:prstDash val="solid"/>
          </a:ln>
        </p:spPr>
      </p:sp>
      <p:sp>
        <p:nvSpPr>
          <p:cNvPr id="17" name="Text 15"/>
          <p:cNvSpPr/>
          <p:nvPr/>
        </p:nvSpPr>
        <p:spPr>
          <a:xfrm>
            <a:off x="9729216" y="1613916"/>
            <a:ext cx="1179576" cy="164592"/>
          </a:xfrm>
          <a:prstGeom prst="rect">
            <a:avLst/>
          </a:prstGeom>
          <a:noFill/>
        </p:spPr>
        <p:txBody>
          <a:bodyPr wrap="square" lIns="0" tIns="0" rIns="0" bIns="0" rtlCol="0" anchor="ctr"/>
          <a:lstStyle/>
          <a:p>
            <a:pPr marL="0" indent="0" algn="ctr">
              <a:buNone/>
            </a:pPr>
            <a:r>
              <a:rPr lang="en-US" sz="900" b="1" dirty="0">
                <a:solidFill>
                  <a:srgbClr val="FFFFFF"/>
                </a:solidFill>
              </a:rPr>
              <a:t>Deep Research</a:t>
            </a:r>
            <a:endParaRPr lang="en-US" sz="900" dirty="0"/>
          </a:p>
        </p:txBody>
      </p:sp>
      <p:sp>
        <p:nvSpPr>
          <p:cNvPr id="18" name="Text 16"/>
          <p:cNvSpPr/>
          <p:nvPr/>
        </p:nvSpPr>
        <p:spPr>
          <a:xfrm>
            <a:off x="7187184" y="2020824"/>
            <a:ext cx="3703320" cy="621792"/>
          </a:xfrm>
          <a:prstGeom prst="rect">
            <a:avLst/>
          </a:prstGeom>
          <a:noFill/>
        </p:spPr>
        <p:txBody>
          <a:bodyPr wrap="square" lIns="0" tIns="0" rIns="0" bIns="0" rtlCol="0" anchor="ctr">
            <a:normAutofit/>
          </a:bodyPr>
          <a:lstStyle/>
          <a:p>
            <a:pPr marL="0" indent="0">
              <a:buNone/>
            </a:pPr>
            <a:r>
              <a:rPr lang="en-US" sz="1200" dirty="0">
                <a:solidFill>
                  <a:srgbClr val="273449"/>
                </a:solidFill>
              </a:rPr>
              <a:t>Compare five methods for time-series anomaly detection and recommend a method for a given dataset.</a:t>
            </a:r>
            <a:endParaRPr lang="en-US" sz="1200" dirty="0"/>
          </a:p>
        </p:txBody>
      </p:sp>
      <p:sp>
        <p:nvSpPr>
          <p:cNvPr id="19" name="Text 17"/>
          <p:cNvSpPr/>
          <p:nvPr/>
        </p:nvSpPr>
        <p:spPr>
          <a:xfrm>
            <a:off x="7187184" y="2743200"/>
            <a:ext cx="3749040" cy="201168"/>
          </a:xfrm>
          <a:prstGeom prst="rect">
            <a:avLst/>
          </a:prstGeom>
          <a:noFill/>
        </p:spPr>
        <p:txBody>
          <a:bodyPr wrap="square" lIns="0" tIns="0" rIns="0" bIns="0" rtlCol="0" anchor="ctr"/>
          <a:lstStyle/>
          <a:p>
            <a:pPr marL="0" indent="0">
              <a:buNone/>
            </a:pPr>
            <a:r>
              <a:rPr lang="en-US" sz="980" b="1" dirty="0">
                <a:solidFill>
                  <a:srgbClr val="667085"/>
                </a:solidFill>
              </a:rPr>
              <a:t>Deliverable: prompt + expected output + verification plan</a:t>
            </a:r>
            <a:endParaRPr lang="en-US" sz="980" dirty="0"/>
          </a:p>
        </p:txBody>
      </p:sp>
      <p:sp>
        <p:nvSpPr>
          <p:cNvPr id="20" name="Shape 18"/>
          <p:cNvSpPr/>
          <p:nvPr/>
        </p:nvSpPr>
        <p:spPr>
          <a:xfrm>
            <a:off x="694944" y="3474720"/>
            <a:ext cx="5074920" cy="1783080"/>
          </a:xfrm>
          <a:prstGeom prst="roundRect">
            <a:avLst>
              <a:gd name="adj" fmla="val 6154"/>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1" name="Shape 19"/>
          <p:cNvSpPr/>
          <p:nvPr/>
        </p:nvSpPr>
        <p:spPr>
          <a:xfrm>
            <a:off x="932688" y="3703320"/>
            <a:ext cx="566928" cy="566928"/>
          </a:xfrm>
          <a:prstGeom prst="ellipse">
            <a:avLst/>
          </a:prstGeom>
          <a:solidFill>
            <a:srgbClr val="16B8D4"/>
          </a:solidFill>
          <a:ln w="12700">
            <a:solidFill>
              <a:srgbClr val="16B8D4"/>
            </a:solidFill>
            <a:prstDash val="solid"/>
          </a:ln>
        </p:spPr>
      </p:sp>
      <p:sp>
        <p:nvSpPr>
          <p:cNvPr id="22" name="Text 20"/>
          <p:cNvSpPr/>
          <p:nvPr/>
        </p:nvSpPr>
        <p:spPr>
          <a:xfrm>
            <a:off x="932688" y="3831336"/>
            <a:ext cx="566928" cy="182880"/>
          </a:xfrm>
          <a:prstGeom prst="rect">
            <a:avLst/>
          </a:prstGeom>
          <a:noFill/>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23" name="Text 21"/>
          <p:cNvSpPr/>
          <p:nvPr/>
        </p:nvSpPr>
        <p:spPr>
          <a:xfrm>
            <a:off x="1655064" y="3685032"/>
            <a:ext cx="2286000" cy="274320"/>
          </a:xfrm>
          <a:prstGeom prst="rect">
            <a:avLst/>
          </a:prstGeom>
          <a:noFill/>
        </p:spPr>
        <p:txBody>
          <a:bodyPr wrap="square" lIns="0" tIns="0" rIns="0" bIns="0" rtlCol="0" anchor="ctr"/>
          <a:lstStyle/>
          <a:p>
            <a:pPr marL="0" indent="0">
              <a:buNone/>
            </a:pPr>
            <a:r>
              <a:rPr lang="en-US" sz="1600" b="1" dirty="0">
                <a:solidFill>
                  <a:srgbClr val="0B1F3A"/>
                </a:solidFill>
              </a:rPr>
              <a:t>Dataset Analysis</a:t>
            </a:r>
            <a:endParaRPr lang="en-US" sz="1600" dirty="0"/>
          </a:p>
        </p:txBody>
      </p:sp>
      <p:sp>
        <p:nvSpPr>
          <p:cNvPr id="24" name="Shape 22"/>
          <p:cNvSpPr/>
          <p:nvPr/>
        </p:nvSpPr>
        <p:spPr>
          <a:xfrm>
            <a:off x="4123944" y="3694176"/>
            <a:ext cx="1325880" cy="310896"/>
          </a:xfrm>
          <a:prstGeom prst="roundRect">
            <a:avLst>
              <a:gd name="adj" fmla="val 44118"/>
            </a:avLst>
          </a:prstGeom>
          <a:solidFill>
            <a:srgbClr val="16B8D4"/>
          </a:solidFill>
          <a:ln w="12700">
            <a:solidFill>
              <a:srgbClr val="16B8D4"/>
            </a:solidFill>
            <a:prstDash val="solid"/>
          </a:ln>
        </p:spPr>
      </p:sp>
      <p:sp>
        <p:nvSpPr>
          <p:cNvPr id="25" name="Text 23"/>
          <p:cNvSpPr/>
          <p:nvPr/>
        </p:nvSpPr>
        <p:spPr>
          <a:xfrm>
            <a:off x="4197096" y="3762756"/>
            <a:ext cx="1179576" cy="164592"/>
          </a:xfrm>
          <a:prstGeom prst="rect">
            <a:avLst/>
          </a:prstGeom>
          <a:noFill/>
        </p:spPr>
        <p:txBody>
          <a:bodyPr wrap="square" lIns="0" tIns="0" rIns="0" bIns="0" rtlCol="0" anchor="ctr"/>
          <a:lstStyle/>
          <a:p>
            <a:pPr marL="0" indent="0" algn="ctr">
              <a:buNone/>
            </a:pPr>
            <a:r>
              <a:rPr lang="en-US" sz="900" b="1" dirty="0">
                <a:solidFill>
                  <a:srgbClr val="FFFFFF"/>
                </a:solidFill>
              </a:rPr>
              <a:t>Files + Data</a:t>
            </a:r>
            <a:endParaRPr lang="en-US" sz="900" dirty="0"/>
          </a:p>
        </p:txBody>
      </p:sp>
      <p:sp>
        <p:nvSpPr>
          <p:cNvPr id="26" name="Text 24"/>
          <p:cNvSpPr/>
          <p:nvPr/>
        </p:nvSpPr>
        <p:spPr>
          <a:xfrm>
            <a:off x="1655064" y="4169664"/>
            <a:ext cx="3703320" cy="621792"/>
          </a:xfrm>
          <a:prstGeom prst="rect">
            <a:avLst/>
          </a:prstGeom>
          <a:noFill/>
        </p:spPr>
        <p:txBody>
          <a:bodyPr wrap="square" lIns="0" tIns="0" rIns="0" bIns="0" rtlCol="0" anchor="ctr">
            <a:normAutofit/>
          </a:bodyPr>
          <a:lstStyle/>
          <a:p>
            <a:pPr marL="0" indent="0">
              <a:buNone/>
            </a:pPr>
            <a:r>
              <a:rPr lang="en-US" sz="1200" dirty="0">
                <a:solidFill>
                  <a:srgbClr val="273449"/>
                </a:solidFill>
              </a:rPr>
              <a:t>Upload a CSV of student scores, identify patterns, and create an appropriate chart.</a:t>
            </a:r>
            <a:endParaRPr lang="en-US" sz="1200" dirty="0"/>
          </a:p>
        </p:txBody>
      </p:sp>
      <p:sp>
        <p:nvSpPr>
          <p:cNvPr id="27" name="Text 25"/>
          <p:cNvSpPr/>
          <p:nvPr/>
        </p:nvSpPr>
        <p:spPr>
          <a:xfrm>
            <a:off x="1655064" y="4892040"/>
            <a:ext cx="3749040" cy="201168"/>
          </a:xfrm>
          <a:prstGeom prst="rect">
            <a:avLst/>
          </a:prstGeom>
          <a:noFill/>
        </p:spPr>
        <p:txBody>
          <a:bodyPr wrap="square" lIns="0" tIns="0" rIns="0" bIns="0" rtlCol="0" anchor="ctr"/>
          <a:lstStyle/>
          <a:p>
            <a:pPr marL="0" indent="0">
              <a:buNone/>
            </a:pPr>
            <a:r>
              <a:rPr lang="en-US" sz="980" b="1" dirty="0">
                <a:solidFill>
                  <a:srgbClr val="667085"/>
                </a:solidFill>
              </a:rPr>
              <a:t>Deliverable: prompt + expected output + verification plan</a:t>
            </a:r>
            <a:endParaRPr lang="en-US" sz="980" dirty="0"/>
          </a:p>
        </p:txBody>
      </p:sp>
      <p:sp>
        <p:nvSpPr>
          <p:cNvPr id="28" name="Shape 26"/>
          <p:cNvSpPr/>
          <p:nvPr/>
        </p:nvSpPr>
        <p:spPr>
          <a:xfrm>
            <a:off x="6227064" y="3474720"/>
            <a:ext cx="5074920" cy="1783080"/>
          </a:xfrm>
          <a:prstGeom prst="roundRect">
            <a:avLst>
              <a:gd name="adj" fmla="val 6154"/>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9" name="Shape 27"/>
          <p:cNvSpPr/>
          <p:nvPr/>
        </p:nvSpPr>
        <p:spPr>
          <a:xfrm>
            <a:off x="6464808" y="3703320"/>
            <a:ext cx="566928" cy="566928"/>
          </a:xfrm>
          <a:prstGeom prst="ellipse">
            <a:avLst/>
          </a:prstGeom>
          <a:solidFill>
            <a:srgbClr val="16A34A"/>
          </a:solidFill>
          <a:ln w="12700">
            <a:solidFill>
              <a:srgbClr val="16A34A"/>
            </a:solidFill>
            <a:prstDash val="solid"/>
          </a:ln>
        </p:spPr>
      </p:sp>
      <p:sp>
        <p:nvSpPr>
          <p:cNvPr id="30" name="Text 28"/>
          <p:cNvSpPr/>
          <p:nvPr/>
        </p:nvSpPr>
        <p:spPr>
          <a:xfrm>
            <a:off x="6464808" y="3831336"/>
            <a:ext cx="566928" cy="182880"/>
          </a:xfrm>
          <a:prstGeom prst="rect">
            <a:avLst/>
          </a:prstGeom>
          <a:noFill/>
        </p:spPr>
        <p:txBody>
          <a:bodyPr wrap="square" lIns="0" tIns="0" rIns="0" bIns="0" rtlCol="0" anchor="ctr"/>
          <a:lstStyle/>
          <a:p>
            <a:pPr marL="0" indent="0" algn="ctr">
              <a:buNone/>
            </a:pPr>
            <a:r>
              <a:rPr lang="en-US" sz="1200" b="1" dirty="0">
                <a:solidFill>
                  <a:srgbClr val="FFFFFF"/>
                </a:solidFill>
              </a:rPr>
              <a:t>D</a:t>
            </a:r>
            <a:endParaRPr lang="en-US" sz="1200" dirty="0"/>
          </a:p>
        </p:txBody>
      </p:sp>
      <p:sp>
        <p:nvSpPr>
          <p:cNvPr id="31" name="Text 29"/>
          <p:cNvSpPr/>
          <p:nvPr/>
        </p:nvSpPr>
        <p:spPr>
          <a:xfrm>
            <a:off x="7187184" y="3685032"/>
            <a:ext cx="2286000" cy="274320"/>
          </a:xfrm>
          <a:prstGeom prst="rect">
            <a:avLst/>
          </a:prstGeom>
          <a:noFill/>
        </p:spPr>
        <p:txBody>
          <a:bodyPr wrap="square" lIns="0" tIns="0" rIns="0" bIns="0" rtlCol="0" anchor="ctr"/>
          <a:lstStyle/>
          <a:p>
            <a:pPr marL="0" indent="0">
              <a:buNone/>
            </a:pPr>
            <a:r>
              <a:rPr lang="en-US" sz="1600" b="1" dirty="0">
                <a:solidFill>
                  <a:srgbClr val="0B1F3A"/>
                </a:solidFill>
              </a:rPr>
              <a:t>Agentic Workflow</a:t>
            </a:r>
            <a:endParaRPr lang="en-US" sz="1600" dirty="0"/>
          </a:p>
        </p:txBody>
      </p:sp>
      <p:sp>
        <p:nvSpPr>
          <p:cNvPr id="32" name="Shape 30"/>
          <p:cNvSpPr/>
          <p:nvPr/>
        </p:nvSpPr>
        <p:spPr>
          <a:xfrm>
            <a:off x="9656064" y="3694176"/>
            <a:ext cx="1325880" cy="310896"/>
          </a:xfrm>
          <a:prstGeom prst="roundRect">
            <a:avLst>
              <a:gd name="adj" fmla="val 44118"/>
            </a:avLst>
          </a:prstGeom>
          <a:solidFill>
            <a:srgbClr val="16A34A"/>
          </a:solidFill>
          <a:ln w="12700">
            <a:solidFill>
              <a:srgbClr val="16A34A"/>
            </a:solidFill>
            <a:prstDash val="solid"/>
          </a:ln>
        </p:spPr>
      </p:sp>
      <p:sp>
        <p:nvSpPr>
          <p:cNvPr id="33" name="Text 31"/>
          <p:cNvSpPr/>
          <p:nvPr/>
        </p:nvSpPr>
        <p:spPr>
          <a:xfrm>
            <a:off x="9729216" y="3762756"/>
            <a:ext cx="1179576" cy="164592"/>
          </a:xfrm>
          <a:prstGeom prst="rect">
            <a:avLst/>
          </a:prstGeom>
          <a:noFill/>
        </p:spPr>
        <p:txBody>
          <a:bodyPr wrap="square" lIns="0" tIns="0" rIns="0" bIns="0" rtlCol="0" anchor="ctr"/>
          <a:lstStyle/>
          <a:p>
            <a:pPr marL="0" indent="0" algn="ctr">
              <a:buNone/>
            </a:pPr>
            <a:r>
              <a:rPr lang="en-US" sz="900" b="1" dirty="0">
                <a:solidFill>
                  <a:srgbClr val="FFFFFF"/>
                </a:solidFill>
              </a:rPr>
              <a:t>Agent + Apps</a:t>
            </a:r>
            <a:endParaRPr lang="en-US" sz="900" dirty="0"/>
          </a:p>
        </p:txBody>
      </p:sp>
      <p:sp>
        <p:nvSpPr>
          <p:cNvPr id="34" name="Text 32"/>
          <p:cNvSpPr/>
          <p:nvPr/>
        </p:nvSpPr>
        <p:spPr>
          <a:xfrm>
            <a:off x="7187184" y="4169664"/>
            <a:ext cx="3703320" cy="621792"/>
          </a:xfrm>
          <a:prstGeom prst="rect">
            <a:avLst/>
          </a:prstGeom>
          <a:noFill/>
        </p:spPr>
        <p:txBody>
          <a:bodyPr wrap="square" lIns="0" tIns="0" rIns="0" bIns="0" rtlCol="0" anchor="ctr">
            <a:normAutofit/>
          </a:bodyPr>
          <a:lstStyle/>
          <a:p>
            <a:pPr marL="0" indent="0">
              <a:buNone/>
            </a:pPr>
            <a:r>
              <a:rPr lang="en-US" sz="1200" dirty="0">
                <a:solidFill>
                  <a:srgbClr val="273449"/>
                </a:solidFill>
              </a:rPr>
              <a:t>Prepare a two-day AI seminar plan using files, calendar constraints, and approval checkpoints.</a:t>
            </a:r>
            <a:endParaRPr lang="en-US" sz="1200" dirty="0"/>
          </a:p>
        </p:txBody>
      </p:sp>
      <p:sp>
        <p:nvSpPr>
          <p:cNvPr id="35" name="Text 33"/>
          <p:cNvSpPr/>
          <p:nvPr/>
        </p:nvSpPr>
        <p:spPr>
          <a:xfrm>
            <a:off x="7187184" y="4892040"/>
            <a:ext cx="3749040" cy="201168"/>
          </a:xfrm>
          <a:prstGeom prst="rect">
            <a:avLst/>
          </a:prstGeom>
          <a:noFill/>
        </p:spPr>
        <p:txBody>
          <a:bodyPr wrap="square" lIns="0" tIns="0" rIns="0" bIns="0" rtlCol="0" anchor="ctr"/>
          <a:lstStyle/>
          <a:p>
            <a:pPr marL="0" indent="0">
              <a:buNone/>
            </a:pPr>
            <a:r>
              <a:rPr lang="en-US" sz="980" b="1" dirty="0">
                <a:solidFill>
                  <a:srgbClr val="667085"/>
                </a:solidFill>
              </a:rPr>
              <a:t>Deliverable: prompt + expected output + verification plan</a:t>
            </a:r>
            <a:endParaRPr lang="en-US" sz="980" dirty="0"/>
          </a:p>
        </p:txBody>
      </p:sp>
      <p:sp>
        <p:nvSpPr>
          <p:cNvPr id="36"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Key Takeaways</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The best AI user chooses the right level, the right feature, and the right verification.</a:t>
            </a:r>
            <a:endParaRPr lang="en-US" sz="1150" dirty="0"/>
          </a:p>
        </p:txBody>
      </p:sp>
      <p:sp>
        <p:nvSpPr>
          <p:cNvPr id="4" name="Shape 2"/>
          <p:cNvSpPr/>
          <p:nvPr/>
        </p:nvSpPr>
        <p:spPr>
          <a:xfrm>
            <a:off x="6437376" y="1179576"/>
            <a:ext cx="5001768" cy="4636008"/>
          </a:xfrm>
          <a:prstGeom prst="roundRect">
            <a:avLst>
              <a:gd name="adj" fmla="val 2367"/>
            </a:avLst>
          </a:prstGeom>
          <a:solidFill>
            <a:srgbClr val="FFFFFF"/>
          </a:solidFill>
          <a:ln w="12700">
            <a:solidFill>
              <a:srgbClr val="DDE4EC"/>
            </a:solidFill>
            <a:prstDash val="solid"/>
          </a:ln>
          <a:effectLst>
            <a:outerShdw blurRad="-2147483648" dist="-2147483648" algn="bl" rotWithShape="0">
              <a:srgbClr val="000000">
                <a:alpha val="0"/>
              </a:srgbClr>
            </a:outerShdw>
          </a:effectLst>
        </p:spPr>
      </p:sp>
      <p:pic>
        <p:nvPicPr>
          <p:cNvPr id="5" name="Image 0" descr="/mnt/data/WhatsApp Image 2026-07-17 at 12.23.12 AM.jpeg"/>
          <p:cNvPicPr>
            <a:picLocks noChangeAspect="1"/>
          </p:cNvPicPr>
          <p:nvPr/>
        </p:nvPicPr>
        <p:blipFill>
          <a:blip r:embed="rId1"/>
          <a:stretch>
            <a:fillRect/>
          </a:stretch>
        </p:blipFill>
        <p:spPr>
          <a:xfrm>
            <a:off x="6588410" y="1234440"/>
            <a:ext cx="4699701" cy="4526280"/>
          </a:xfrm>
          <a:prstGeom prst="rect">
            <a:avLst/>
          </a:prstGeom>
        </p:spPr>
      </p:pic>
      <p:sp>
        <p:nvSpPr>
          <p:cNvPr id="6" name="Shape 3"/>
          <p:cNvSpPr/>
          <p:nvPr/>
        </p:nvSpPr>
        <p:spPr>
          <a:xfrm>
            <a:off x="749808" y="1325880"/>
            <a:ext cx="502920" cy="502920"/>
          </a:xfrm>
          <a:prstGeom prst="ellipse">
            <a:avLst/>
          </a:prstGeom>
          <a:solidFill>
            <a:srgbClr val="1677FF"/>
          </a:solidFill>
          <a:ln w="12700">
            <a:solidFill>
              <a:srgbClr val="1677FF"/>
            </a:solidFill>
            <a:prstDash val="solid"/>
          </a:ln>
        </p:spPr>
      </p:sp>
      <p:sp>
        <p:nvSpPr>
          <p:cNvPr id="7" name="Text 4"/>
          <p:cNvSpPr/>
          <p:nvPr/>
        </p:nvSpPr>
        <p:spPr>
          <a:xfrm>
            <a:off x="749808" y="1435608"/>
            <a:ext cx="502920" cy="182880"/>
          </a:xfrm>
          <a:prstGeom prst="rect">
            <a:avLst/>
          </a:prstGeom>
          <a:noFill/>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8" name="Text 5"/>
          <p:cNvSpPr/>
          <p:nvPr/>
        </p:nvSpPr>
        <p:spPr>
          <a:xfrm>
            <a:off x="1508760" y="1280160"/>
            <a:ext cx="4526280" cy="566928"/>
          </a:xfrm>
          <a:prstGeom prst="rect">
            <a:avLst/>
          </a:prstGeom>
          <a:noFill/>
        </p:spPr>
        <p:txBody>
          <a:bodyPr wrap="square" lIns="0" tIns="0" rIns="0" bIns="0" rtlCol="0" anchor="ctr">
            <a:normAutofit/>
          </a:bodyPr>
          <a:lstStyle/>
          <a:p>
            <a:pPr marL="0" indent="0">
              <a:buNone/>
            </a:pPr>
            <a:r>
              <a:rPr lang="en-US" sz="1450" b="1" dirty="0">
                <a:solidFill>
                  <a:srgbClr val="0B1F3A"/>
                </a:solidFill>
              </a:rPr>
              <a:t>AI models reason and generate; tools add specific capabilities.</a:t>
            </a:r>
            <a:endParaRPr lang="en-US" sz="1450" dirty="0"/>
          </a:p>
        </p:txBody>
      </p:sp>
      <p:sp>
        <p:nvSpPr>
          <p:cNvPr id="9" name="Shape 6"/>
          <p:cNvSpPr/>
          <p:nvPr/>
        </p:nvSpPr>
        <p:spPr>
          <a:xfrm>
            <a:off x="749808" y="2240280"/>
            <a:ext cx="502920" cy="502920"/>
          </a:xfrm>
          <a:prstGeom prst="ellipse">
            <a:avLst/>
          </a:prstGeom>
          <a:solidFill>
            <a:srgbClr val="1677FF"/>
          </a:solidFill>
          <a:ln w="12700">
            <a:solidFill>
              <a:srgbClr val="1677FF"/>
            </a:solidFill>
            <a:prstDash val="solid"/>
          </a:ln>
        </p:spPr>
      </p:sp>
      <p:sp>
        <p:nvSpPr>
          <p:cNvPr id="10" name="Text 7"/>
          <p:cNvSpPr/>
          <p:nvPr/>
        </p:nvSpPr>
        <p:spPr>
          <a:xfrm>
            <a:off x="749808" y="2350008"/>
            <a:ext cx="502920" cy="182880"/>
          </a:xfrm>
          <a:prstGeom prst="rect">
            <a:avLst/>
          </a:prstGeom>
          <a:noFill/>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1" name="Text 8"/>
          <p:cNvSpPr/>
          <p:nvPr/>
        </p:nvSpPr>
        <p:spPr>
          <a:xfrm>
            <a:off x="1508760" y="2194560"/>
            <a:ext cx="4526280" cy="566928"/>
          </a:xfrm>
          <a:prstGeom prst="rect">
            <a:avLst/>
          </a:prstGeom>
          <a:noFill/>
        </p:spPr>
        <p:txBody>
          <a:bodyPr wrap="square" lIns="0" tIns="0" rIns="0" bIns="0" rtlCol="0" anchor="ctr">
            <a:normAutofit/>
          </a:bodyPr>
          <a:lstStyle/>
          <a:p>
            <a:pPr marL="0" indent="0">
              <a:buNone/>
            </a:pPr>
            <a:r>
              <a:rPr lang="en-US" sz="1450" b="1" dirty="0">
                <a:solidFill>
                  <a:srgbClr val="0B1F3A"/>
                </a:solidFill>
              </a:rPr>
              <a:t>Search is for current facts; Deep Research is for documented synthesis.</a:t>
            </a:r>
            <a:endParaRPr lang="en-US" sz="1450" dirty="0"/>
          </a:p>
        </p:txBody>
      </p:sp>
      <p:sp>
        <p:nvSpPr>
          <p:cNvPr id="12" name="Shape 9"/>
          <p:cNvSpPr/>
          <p:nvPr/>
        </p:nvSpPr>
        <p:spPr>
          <a:xfrm>
            <a:off x="749808" y="3154680"/>
            <a:ext cx="502920" cy="502920"/>
          </a:xfrm>
          <a:prstGeom prst="ellipse">
            <a:avLst/>
          </a:prstGeom>
          <a:solidFill>
            <a:srgbClr val="1677FF"/>
          </a:solidFill>
          <a:ln w="12700">
            <a:solidFill>
              <a:srgbClr val="1677FF"/>
            </a:solidFill>
            <a:prstDash val="solid"/>
          </a:ln>
        </p:spPr>
      </p:sp>
      <p:sp>
        <p:nvSpPr>
          <p:cNvPr id="13" name="Text 10"/>
          <p:cNvSpPr/>
          <p:nvPr/>
        </p:nvSpPr>
        <p:spPr>
          <a:xfrm>
            <a:off x="749808" y="3264408"/>
            <a:ext cx="502920" cy="182880"/>
          </a:xfrm>
          <a:prstGeom prst="rect">
            <a:avLst/>
          </a:prstGeom>
          <a:noFill/>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4" name="Text 11"/>
          <p:cNvSpPr/>
          <p:nvPr/>
        </p:nvSpPr>
        <p:spPr>
          <a:xfrm>
            <a:off x="1508760" y="3108960"/>
            <a:ext cx="4526280" cy="566928"/>
          </a:xfrm>
          <a:prstGeom prst="rect">
            <a:avLst/>
          </a:prstGeom>
          <a:noFill/>
        </p:spPr>
        <p:txBody>
          <a:bodyPr wrap="square" lIns="0" tIns="0" rIns="0" bIns="0" rtlCol="0" anchor="ctr">
            <a:normAutofit/>
          </a:bodyPr>
          <a:lstStyle/>
          <a:p>
            <a:pPr marL="0" indent="0">
              <a:buNone/>
            </a:pPr>
            <a:r>
              <a:rPr lang="en-US" sz="1450" b="1" dirty="0">
                <a:solidFill>
                  <a:srgbClr val="0B1F3A"/>
                </a:solidFill>
              </a:rPr>
              <a:t>Files, data, images, and voice make ChatGPT multimodal.</a:t>
            </a:r>
            <a:endParaRPr lang="en-US" sz="1450" dirty="0"/>
          </a:p>
        </p:txBody>
      </p:sp>
      <p:sp>
        <p:nvSpPr>
          <p:cNvPr id="15" name="Shape 12"/>
          <p:cNvSpPr/>
          <p:nvPr/>
        </p:nvSpPr>
        <p:spPr>
          <a:xfrm>
            <a:off x="749808" y="4069080"/>
            <a:ext cx="502920" cy="502920"/>
          </a:xfrm>
          <a:prstGeom prst="ellipse">
            <a:avLst/>
          </a:prstGeom>
          <a:solidFill>
            <a:srgbClr val="1677FF"/>
          </a:solidFill>
          <a:ln w="12700">
            <a:solidFill>
              <a:srgbClr val="1677FF"/>
            </a:solidFill>
            <a:prstDash val="solid"/>
          </a:ln>
        </p:spPr>
      </p:sp>
      <p:sp>
        <p:nvSpPr>
          <p:cNvPr id="16" name="Text 13"/>
          <p:cNvSpPr/>
          <p:nvPr/>
        </p:nvSpPr>
        <p:spPr>
          <a:xfrm>
            <a:off x="749808" y="4178808"/>
            <a:ext cx="502920" cy="182880"/>
          </a:xfrm>
          <a:prstGeom prst="rect">
            <a:avLst/>
          </a:prstGeom>
          <a:noFill/>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17" name="Text 14"/>
          <p:cNvSpPr/>
          <p:nvPr/>
        </p:nvSpPr>
        <p:spPr>
          <a:xfrm>
            <a:off x="1508760" y="4023360"/>
            <a:ext cx="4526280" cy="566928"/>
          </a:xfrm>
          <a:prstGeom prst="rect">
            <a:avLst/>
          </a:prstGeom>
          <a:noFill/>
        </p:spPr>
        <p:txBody>
          <a:bodyPr wrap="square" lIns="0" tIns="0" rIns="0" bIns="0" rtlCol="0" anchor="ctr">
            <a:normAutofit/>
          </a:bodyPr>
          <a:lstStyle/>
          <a:p>
            <a:pPr marL="0" indent="0">
              <a:buNone/>
            </a:pPr>
            <a:r>
              <a:rPr lang="en-US" sz="1450" b="1" dirty="0">
                <a:solidFill>
                  <a:srgbClr val="0B1F3A"/>
                </a:solidFill>
              </a:rPr>
              <a:t>Agents pursue goals through planning, tools, actions, and feedback.</a:t>
            </a:r>
            <a:endParaRPr lang="en-US" sz="1450" dirty="0"/>
          </a:p>
        </p:txBody>
      </p:sp>
      <p:sp>
        <p:nvSpPr>
          <p:cNvPr id="18" name="Shape 15"/>
          <p:cNvSpPr/>
          <p:nvPr/>
        </p:nvSpPr>
        <p:spPr>
          <a:xfrm>
            <a:off x="749808" y="4983480"/>
            <a:ext cx="502920" cy="502920"/>
          </a:xfrm>
          <a:prstGeom prst="ellipse">
            <a:avLst/>
          </a:prstGeom>
          <a:solidFill>
            <a:srgbClr val="16A34A"/>
          </a:solidFill>
          <a:ln w="12700">
            <a:solidFill>
              <a:srgbClr val="16A34A"/>
            </a:solidFill>
            <a:prstDash val="solid"/>
          </a:ln>
        </p:spPr>
      </p:sp>
      <p:sp>
        <p:nvSpPr>
          <p:cNvPr id="19" name="Text 16"/>
          <p:cNvSpPr/>
          <p:nvPr/>
        </p:nvSpPr>
        <p:spPr>
          <a:xfrm>
            <a:off x="749808" y="5093208"/>
            <a:ext cx="502920" cy="182880"/>
          </a:xfrm>
          <a:prstGeom prst="rect">
            <a:avLst/>
          </a:prstGeom>
          <a:noFill/>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20" name="Text 17"/>
          <p:cNvSpPr/>
          <p:nvPr/>
        </p:nvSpPr>
        <p:spPr>
          <a:xfrm>
            <a:off x="1508760" y="4937760"/>
            <a:ext cx="4526280" cy="566928"/>
          </a:xfrm>
          <a:prstGeom prst="rect">
            <a:avLst/>
          </a:prstGeom>
          <a:noFill/>
        </p:spPr>
        <p:txBody>
          <a:bodyPr wrap="square" lIns="0" tIns="0" rIns="0" bIns="0" rtlCol="0" anchor="ctr">
            <a:normAutofit/>
          </a:bodyPr>
          <a:lstStyle/>
          <a:p>
            <a:pPr marL="0" indent="0">
              <a:buNone/>
            </a:pPr>
            <a:r>
              <a:rPr lang="en-US" sz="1450" b="1" dirty="0">
                <a:solidFill>
                  <a:srgbClr val="0B1F3A"/>
                </a:solidFill>
              </a:rPr>
              <a:t>Clear prompts and human verification determine the quality of outcomes.</a:t>
            </a:r>
            <a:endParaRPr lang="en-US" sz="1450" dirty="0"/>
          </a:p>
        </p:txBody>
      </p:sp>
      <p:sp>
        <p:nvSpPr>
          <p:cNvPr id="21" name="Shape 18"/>
          <p:cNvSpPr/>
          <p:nvPr/>
        </p:nvSpPr>
        <p:spPr>
          <a:xfrm>
            <a:off x="731520" y="5715000"/>
            <a:ext cx="5349240" cy="411480"/>
          </a:xfrm>
          <a:prstGeom prst="roundRect">
            <a:avLst>
              <a:gd name="adj" fmla="val 26667"/>
            </a:avLst>
          </a:prstGeom>
          <a:solidFill>
            <a:srgbClr val="FFF4DF"/>
          </a:solidFill>
          <a:ln w="12700">
            <a:solidFill>
              <a:srgbClr val="F1CB82"/>
            </a:solidFill>
            <a:prstDash val="solid"/>
          </a:ln>
        </p:spPr>
      </p:sp>
      <p:sp>
        <p:nvSpPr>
          <p:cNvPr id="22" name="Text 19"/>
          <p:cNvSpPr/>
          <p:nvPr/>
        </p:nvSpPr>
        <p:spPr>
          <a:xfrm>
            <a:off x="960120" y="5833872"/>
            <a:ext cx="4892040" cy="182880"/>
          </a:xfrm>
          <a:prstGeom prst="rect">
            <a:avLst/>
          </a:prstGeom>
          <a:noFill/>
        </p:spPr>
        <p:txBody>
          <a:bodyPr wrap="square" lIns="0" tIns="0" rIns="0" bIns="0" rtlCol="0" anchor="ctr"/>
          <a:lstStyle/>
          <a:p>
            <a:pPr marL="0" indent="0" algn="ctr">
              <a:buNone/>
            </a:pPr>
            <a:r>
              <a:rPr lang="en-US" sz="1050" b="1" dirty="0">
                <a:solidFill>
                  <a:srgbClr val="0B1F3A"/>
                </a:solidFill>
              </a:rPr>
              <a:t>Next lecture: Voice, custom GPTs/skills, and building a simple agent workflow</a:t>
            </a:r>
            <a:endParaRPr lang="en-US" sz="1050" dirty="0"/>
          </a:p>
        </p:txBody>
      </p:sp>
      <p:sp>
        <p:nvSpPr>
          <p:cNvPr id="25"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47472"/>
            <a:ext cx="10881360" cy="438912"/>
          </a:xfrm>
          <a:prstGeom prst="rect">
            <a:avLst/>
          </a:prstGeom>
          <a:noFill/>
        </p:spPr>
        <p:txBody>
          <a:bodyPr wrap="square" lIns="0" tIns="0" rIns="0" bIns="0" rtlCol="0" anchor="ctr"/>
          <a:lstStyle/>
          <a:p>
            <a:pPr marL="0" indent="0">
              <a:buNone/>
            </a:pPr>
            <a:r>
              <a:rPr lang="en-US" sz="2500" b="1" dirty="0">
                <a:solidFill>
                  <a:srgbClr val="0B1F3A"/>
                </a:solidFill>
                <a:latin typeface="Aptos Display" pitchFamily="34" charset="0"/>
                <a:ea typeface="Aptos Display" pitchFamily="34" charset="-122"/>
                <a:cs typeface="Aptos Display" pitchFamily="34" charset="-120"/>
              </a:rPr>
              <a:t>Official Sources &amp; Further Learning</a:t>
            </a:r>
            <a:endParaRPr lang="en-US" sz="2500" dirty="0"/>
          </a:p>
        </p:txBody>
      </p:sp>
      <p:sp>
        <p:nvSpPr>
          <p:cNvPr id="3" name="Text 1"/>
          <p:cNvSpPr/>
          <p:nvPr/>
        </p:nvSpPr>
        <p:spPr>
          <a:xfrm>
            <a:off x="585216" y="813816"/>
            <a:ext cx="10607040" cy="310896"/>
          </a:xfrm>
          <a:prstGeom prst="rect">
            <a:avLst/>
          </a:prstGeom>
          <a:noFill/>
        </p:spPr>
        <p:txBody>
          <a:bodyPr wrap="square" lIns="0" tIns="0" rIns="0" bIns="0" rtlCol="0" anchor="ctr"/>
          <a:lstStyle/>
          <a:p>
            <a:pPr marL="0" indent="0">
              <a:buNone/>
            </a:pPr>
            <a:r>
              <a:rPr lang="en-US" sz="1150" dirty="0">
                <a:solidFill>
                  <a:srgbClr val="667085"/>
                </a:solidFill>
              </a:rPr>
              <a:t>OpenAI sources used to update this lecture on 17 July 2026.</a:t>
            </a:r>
            <a:endParaRPr lang="en-US" sz="1150" dirty="0"/>
          </a:p>
        </p:txBody>
      </p:sp>
      <p:sp>
        <p:nvSpPr>
          <p:cNvPr id="4" name="Shape 2"/>
          <p:cNvSpPr/>
          <p:nvPr/>
        </p:nvSpPr>
        <p:spPr>
          <a:xfrm>
            <a:off x="749808" y="1261872"/>
            <a:ext cx="5138928" cy="640080"/>
          </a:xfrm>
          <a:prstGeom prst="roundRect">
            <a:avLst>
              <a:gd name="adj" fmla="val 1714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5" name="Text 3"/>
          <p:cNvSpPr/>
          <p:nvPr/>
        </p:nvSpPr>
        <p:spPr>
          <a:xfrm>
            <a:off x="932688" y="1444752"/>
            <a:ext cx="457200" cy="201168"/>
          </a:xfrm>
          <a:prstGeom prst="rect">
            <a:avLst/>
          </a:prstGeom>
          <a:noFill/>
        </p:spPr>
        <p:txBody>
          <a:bodyPr wrap="square" lIns="0" tIns="0" rIns="0" bIns="0" rtlCol="0" anchor="ctr"/>
          <a:lstStyle/>
          <a:p>
            <a:pPr marL="0" indent="0">
              <a:buNone/>
            </a:pPr>
            <a:r>
              <a:rPr lang="en-US" sz="1000" b="1" dirty="0">
                <a:solidFill>
                  <a:srgbClr val="1677FF"/>
                </a:solidFill>
              </a:rPr>
              <a:t>01</a:t>
            </a:r>
            <a:endParaRPr lang="en-US" sz="1000" dirty="0"/>
          </a:p>
        </p:txBody>
      </p:sp>
      <p:sp>
        <p:nvSpPr>
          <p:cNvPr id="6" name="Text 4"/>
          <p:cNvSpPr/>
          <p:nvPr/>
        </p:nvSpPr>
        <p:spPr>
          <a:xfrm>
            <a:off x="1463040" y="1399032"/>
            <a:ext cx="4160520" cy="329184"/>
          </a:xfrm>
          <a:prstGeom prst="rect">
            <a:avLst/>
          </a:prstGeom>
          <a:noFill/>
        </p:spPr>
        <p:txBody>
          <a:bodyPr wrap="square" lIns="0" tIns="0" rIns="0" bIns="0" rtlCol="0" anchor="ctr">
            <a:normAutofit/>
          </a:bodyPr>
          <a:lstStyle/>
          <a:p>
            <a:pPr marL="0" indent="0">
              <a:buNone/>
            </a:pPr>
            <a:r>
              <a:rPr lang="en-US" sz="1120" b="1" dirty="0">
                <a:solidFill>
                  <a:srgbClr val="0B1F3A"/>
                </a:solidFill>
              </a:rPr>
              <a:t>OpenAI Help Center — ChatGPT Capabilities Overview</a:t>
            </a:r>
            <a:endParaRPr lang="en-US" sz="1120" dirty="0"/>
          </a:p>
        </p:txBody>
      </p:sp>
      <p:sp>
        <p:nvSpPr>
          <p:cNvPr id="7" name="Shape 5"/>
          <p:cNvSpPr/>
          <p:nvPr/>
        </p:nvSpPr>
        <p:spPr>
          <a:xfrm>
            <a:off x="749808" y="2130552"/>
            <a:ext cx="5138928" cy="640080"/>
          </a:xfrm>
          <a:prstGeom prst="roundRect">
            <a:avLst>
              <a:gd name="adj" fmla="val 1714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8" name="Text 6"/>
          <p:cNvSpPr/>
          <p:nvPr/>
        </p:nvSpPr>
        <p:spPr>
          <a:xfrm>
            <a:off x="932688" y="2313432"/>
            <a:ext cx="457200" cy="201168"/>
          </a:xfrm>
          <a:prstGeom prst="rect">
            <a:avLst/>
          </a:prstGeom>
          <a:noFill/>
        </p:spPr>
        <p:txBody>
          <a:bodyPr wrap="square" lIns="0" tIns="0" rIns="0" bIns="0" rtlCol="0" anchor="ctr"/>
          <a:lstStyle/>
          <a:p>
            <a:pPr marL="0" indent="0">
              <a:buNone/>
            </a:pPr>
            <a:r>
              <a:rPr lang="en-US" sz="1000" b="1" dirty="0">
                <a:solidFill>
                  <a:srgbClr val="1677FF"/>
                </a:solidFill>
              </a:rPr>
              <a:t>02</a:t>
            </a:r>
            <a:endParaRPr lang="en-US" sz="1000" dirty="0"/>
          </a:p>
        </p:txBody>
      </p:sp>
      <p:sp>
        <p:nvSpPr>
          <p:cNvPr id="9" name="Text 7"/>
          <p:cNvSpPr/>
          <p:nvPr/>
        </p:nvSpPr>
        <p:spPr>
          <a:xfrm>
            <a:off x="1463040" y="2267712"/>
            <a:ext cx="4160520" cy="329184"/>
          </a:xfrm>
          <a:prstGeom prst="rect">
            <a:avLst/>
          </a:prstGeom>
          <a:noFill/>
        </p:spPr>
        <p:txBody>
          <a:bodyPr wrap="square" lIns="0" tIns="0" rIns="0" bIns="0" rtlCol="0" anchor="ctr">
            <a:normAutofit/>
          </a:bodyPr>
          <a:lstStyle/>
          <a:p>
            <a:pPr marL="0" indent="0">
              <a:buNone/>
            </a:pPr>
            <a:r>
              <a:rPr lang="en-US" sz="1120" b="1" dirty="0">
                <a:solidFill>
                  <a:srgbClr val="0B1F3A"/>
                </a:solidFill>
              </a:rPr>
              <a:t>OpenAI — Introducing ChatGPT Search</a:t>
            </a:r>
            <a:endParaRPr lang="en-US" sz="1120" dirty="0"/>
          </a:p>
        </p:txBody>
      </p:sp>
      <p:sp>
        <p:nvSpPr>
          <p:cNvPr id="10" name="Shape 8"/>
          <p:cNvSpPr/>
          <p:nvPr/>
        </p:nvSpPr>
        <p:spPr>
          <a:xfrm>
            <a:off x="749808" y="2999232"/>
            <a:ext cx="5138928" cy="640080"/>
          </a:xfrm>
          <a:prstGeom prst="roundRect">
            <a:avLst>
              <a:gd name="adj" fmla="val 1714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1" name="Text 9"/>
          <p:cNvSpPr/>
          <p:nvPr/>
        </p:nvSpPr>
        <p:spPr>
          <a:xfrm>
            <a:off x="932688" y="3182112"/>
            <a:ext cx="457200" cy="201168"/>
          </a:xfrm>
          <a:prstGeom prst="rect">
            <a:avLst/>
          </a:prstGeom>
          <a:noFill/>
        </p:spPr>
        <p:txBody>
          <a:bodyPr wrap="square" lIns="0" tIns="0" rIns="0" bIns="0" rtlCol="0" anchor="ctr"/>
          <a:lstStyle/>
          <a:p>
            <a:pPr marL="0" indent="0">
              <a:buNone/>
            </a:pPr>
            <a:r>
              <a:rPr lang="en-US" sz="1000" b="1" dirty="0">
                <a:solidFill>
                  <a:srgbClr val="1677FF"/>
                </a:solidFill>
              </a:rPr>
              <a:t>03</a:t>
            </a:r>
            <a:endParaRPr lang="en-US" sz="1000" dirty="0"/>
          </a:p>
        </p:txBody>
      </p:sp>
      <p:sp>
        <p:nvSpPr>
          <p:cNvPr id="12" name="Text 10"/>
          <p:cNvSpPr/>
          <p:nvPr/>
        </p:nvSpPr>
        <p:spPr>
          <a:xfrm>
            <a:off x="1463040" y="3136392"/>
            <a:ext cx="4160520" cy="329184"/>
          </a:xfrm>
          <a:prstGeom prst="rect">
            <a:avLst/>
          </a:prstGeom>
          <a:noFill/>
        </p:spPr>
        <p:txBody>
          <a:bodyPr wrap="square" lIns="0" tIns="0" rIns="0" bIns="0" rtlCol="0" anchor="ctr">
            <a:normAutofit/>
          </a:bodyPr>
          <a:lstStyle/>
          <a:p>
            <a:pPr marL="0" indent="0">
              <a:buNone/>
            </a:pPr>
            <a:r>
              <a:rPr lang="en-US" sz="1120" b="1" dirty="0">
                <a:solidFill>
                  <a:srgbClr val="0B1F3A"/>
                </a:solidFill>
              </a:rPr>
              <a:t>OpenAI Help Center — Deep Research in ChatGPT</a:t>
            </a:r>
            <a:endParaRPr lang="en-US" sz="1120" dirty="0"/>
          </a:p>
        </p:txBody>
      </p:sp>
      <p:sp>
        <p:nvSpPr>
          <p:cNvPr id="13" name="Shape 11"/>
          <p:cNvSpPr/>
          <p:nvPr/>
        </p:nvSpPr>
        <p:spPr>
          <a:xfrm>
            <a:off x="749808" y="3867912"/>
            <a:ext cx="5138928" cy="640080"/>
          </a:xfrm>
          <a:prstGeom prst="roundRect">
            <a:avLst>
              <a:gd name="adj" fmla="val 1714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4" name="Text 12"/>
          <p:cNvSpPr/>
          <p:nvPr/>
        </p:nvSpPr>
        <p:spPr>
          <a:xfrm>
            <a:off x="932688" y="4050792"/>
            <a:ext cx="457200" cy="201168"/>
          </a:xfrm>
          <a:prstGeom prst="rect">
            <a:avLst/>
          </a:prstGeom>
          <a:noFill/>
        </p:spPr>
        <p:txBody>
          <a:bodyPr wrap="square" lIns="0" tIns="0" rIns="0" bIns="0" rtlCol="0" anchor="ctr"/>
          <a:lstStyle/>
          <a:p>
            <a:pPr marL="0" indent="0">
              <a:buNone/>
            </a:pPr>
            <a:r>
              <a:rPr lang="en-US" sz="1000" b="1" dirty="0">
                <a:solidFill>
                  <a:srgbClr val="1677FF"/>
                </a:solidFill>
              </a:rPr>
              <a:t>04</a:t>
            </a:r>
            <a:endParaRPr lang="en-US" sz="1000" dirty="0"/>
          </a:p>
        </p:txBody>
      </p:sp>
      <p:sp>
        <p:nvSpPr>
          <p:cNvPr id="15" name="Text 13"/>
          <p:cNvSpPr/>
          <p:nvPr/>
        </p:nvSpPr>
        <p:spPr>
          <a:xfrm>
            <a:off x="1463040" y="4005072"/>
            <a:ext cx="4160520" cy="329184"/>
          </a:xfrm>
          <a:prstGeom prst="rect">
            <a:avLst/>
          </a:prstGeom>
          <a:noFill/>
        </p:spPr>
        <p:txBody>
          <a:bodyPr wrap="square" lIns="0" tIns="0" rIns="0" bIns="0" rtlCol="0" anchor="ctr">
            <a:normAutofit/>
          </a:bodyPr>
          <a:lstStyle/>
          <a:p>
            <a:pPr marL="0" indent="0">
              <a:buNone/>
            </a:pPr>
            <a:r>
              <a:rPr lang="en-US" sz="1120" b="1" dirty="0">
                <a:solidFill>
                  <a:srgbClr val="0B1F3A"/>
                </a:solidFill>
              </a:rPr>
              <a:t>OpenAI Help Center — Data Analysis with ChatGPT</a:t>
            </a:r>
            <a:endParaRPr lang="en-US" sz="1120" dirty="0"/>
          </a:p>
        </p:txBody>
      </p:sp>
      <p:sp>
        <p:nvSpPr>
          <p:cNvPr id="16" name="Shape 14"/>
          <p:cNvSpPr/>
          <p:nvPr/>
        </p:nvSpPr>
        <p:spPr>
          <a:xfrm>
            <a:off x="749808" y="4736592"/>
            <a:ext cx="5138928" cy="640080"/>
          </a:xfrm>
          <a:prstGeom prst="roundRect">
            <a:avLst>
              <a:gd name="adj" fmla="val 1714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17" name="Text 15"/>
          <p:cNvSpPr/>
          <p:nvPr/>
        </p:nvSpPr>
        <p:spPr>
          <a:xfrm>
            <a:off x="932688" y="4919472"/>
            <a:ext cx="457200" cy="201168"/>
          </a:xfrm>
          <a:prstGeom prst="rect">
            <a:avLst/>
          </a:prstGeom>
          <a:noFill/>
        </p:spPr>
        <p:txBody>
          <a:bodyPr wrap="square" lIns="0" tIns="0" rIns="0" bIns="0" rtlCol="0" anchor="ctr"/>
          <a:lstStyle/>
          <a:p>
            <a:pPr marL="0" indent="0">
              <a:buNone/>
            </a:pPr>
            <a:r>
              <a:rPr lang="en-US" sz="1000" b="1" dirty="0">
                <a:solidFill>
                  <a:srgbClr val="1677FF"/>
                </a:solidFill>
              </a:rPr>
              <a:t>05</a:t>
            </a:r>
            <a:endParaRPr lang="en-US" sz="1000" dirty="0"/>
          </a:p>
        </p:txBody>
      </p:sp>
      <p:sp>
        <p:nvSpPr>
          <p:cNvPr id="18" name="Text 16"/>
          <p:cNvSpPr/>
          <p:nvPr/>
        </p:nvSpPr>
        <p:spPr>
          <a:xfrm>
            <a:off x="1463040" y="4873752"/>
            <a:ext cx="4160520" cy="329184"/>
          </a:xfrm>
          <a:prstGeom prst="rect">
            <a:avLst/>
          </a:prstGeom>
          <a:noFill/>
        </p:spPr>
        <p:txBody>
          <a:bodyPr wrap="square" lIns="0" tIns="0" rIns="0" bIns="0" rtlCol="0" anchor="ctr">
            <a:normAutofit/>
          </a:bodyPr>
          <a:lstStyle/>
          <a:p>
            <a:pPr marL="0" indent="0">
              <a:buNone/>
            </a:pPr>
            <a:r>
              <a:rPr lang="en-US" sz="1120" b="1" dirty="0">
                <a:solidFill>
                  <a:srgbClr val="0B1F3A"/>
                </a:solidFill>
              </a:rPr>
              <a:t>OpenAI Academy — Working with Files; Prompting Fundamentals</a:t>
            </a:r>
            <a:endParaRPr lang="en-US" sz="1120" dirty="0"/>
          </a:p>
        </p:txBody>
      </p:sp>
      <p:sp>
        <p:nvSpPr>
          <p:cNvPr id="19" name="Shape 17"/>
          <p:cNvSpPr/>
          <p:nvPr/>
        </p:nvSpPr>
        <p:spPr>
          <a:xfrm>
            <a:off x="6327648" y="1261872"/>
            <a:ext cx="5138928" cy="640080"/>
          </a:xfrm>
          <a:prstGeom prst="roundRect">
            <a:avLst>
              <a:gd name="adj" fmla="val 1714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0" name="Text 18"/>
          <p:cNvSpPr/>
          <p:nvPr/>
        </p:nvSpPr>
        <p:spPr>
          <a:xfrm>
            <a:off x="6510528" y="1444752"/>
            <a:ext cx="457200" cy="201168"/>
          </a:xfrm>
          <a:prstGeom prst="rect">
            <a:avLst/>
          </a:prstGeom>
          <a:noFill/>
        </p:spPr>
        <p:txBody>
          <a:bodyPr wrap="square" lIns="0" tIns="0" rIns="0" bIns="0" rtlCol="0" anchor="ctr"/>
          <a:lstStyle/>
          <a:p>
            <a:pPr marL="0" indent="0">
              <a:buNone/>
            </a:pPr>
            <a:r>
              <a:rPr lang="en-US" sz="1000" b="1" dirty="0">
                <a:solidFill>
                  <a:srgbClr val="1677FF"/>
                </a:solidFill>
              </a:rPr>
              <a:t>06</a:t>
            </a:r>
            <a:endParaRPr lang="en-US" sz="1000" dirty="0"/>
          </a:p>
        </p:txBody>
      </p:sp>
      <p:sp>
        <p:nvSpPr>
          <p:cNvPr id="21" name="Text 19"/>
          <p:cNvSpPr/>
          <p:nvPr/>
        </p:nvSpPr>
        <p:spPr>
          <a:xfrm>
            <a:off x="7040880" y="1399032"/>
            <a:ext cx="4160520" cy="329184"/>
          </a:xfrm>
          <a:prstGeom prst="rect">
            <a:avLst/>
          </a:prstGeom>
          <a:noFill/>
        </p:spPr>
        <p:txBody>
          <a:bodyPr wrap="square" lIns="0" tIns="0" rIns="0" bIns="0" rtlCol="0" anchor="ctr">
            <a:normAutofit/>
          </a:bodyPr>
          <a:lstStyle/>
          <a:p>
            <a:pPr marL="0" indent="0">
              <a:buNone/>
            </a:pPr>
            <a:r>
              <a:rPr lang="en-US" sz="1120" b="1" dirty="0">
                <a:solidFill>
                  <a:srgbClr val="0B1F3A"/>
                </a:solidFill>
              </a:rPr>
              <a:t>OpenAI Help Center — ChatGPT Voice; OpenAI — Introducing GPT-Live</a:t>
            </a:r>
            <a:endParaRPr lang="en-US" sz="1120" dirty="0"/>
          </a:p>
        </p:txBody>
      </p:sp>
      <p:sp>
        <p:nvSpPr>
          <p:cNvPr id="22" name="Shape 20"/>
          <p:cNvSpPr/>
          <p:nvPr/>
        </p:nvSpPr>
        <p:spPr>
          <a:xfrm>
            <a:off x="6327648" y="2130552"/>
            <a:ext cx="5138928" cy="640080"/>
          </a:xfrm>
          <a:prstGeom prst="roundRect">
            <a:avLst>
              <a:gd name="adj" fmla="val 1714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3" name="Text 21"/>
          <p:cNvSpPr/>
          <p:nvPr/>
        </p:nvSpPr>
        <p:spPr>
          <a:xfrm>
            <a:off x="6510528" y="2313432"/>
            <a:ext cx="457200" cy="201168"/>
          </a:xfrm>
          <a:prstGeom prst="rect">
            <a:avLst/>
          </a:prstGeom>
          <a:noFill/>
        </p:spPr>
        <p:txBody>
          <a:bodyPr wrap="square" lIns="0" tIns="0" rIns="0" bIns="0" rtlCol="0" anchor="ctr"/>
          <a:lstStyle/>
          <a:p>
            <a:pPr marL="0" indent="0">
              <a:buNone/>
            </a:pPr>
            <a:r>
              <a:rPr lang="en-US" sz="1000" b="1" dirty="0">
                <a:solidFill>
                  <a:srgbClr val="1677FF"/>
                </a:solidFill>
              </a:rPr>
              <a:t>07</a:t>
            </a:r>
            <a:endParaRPr lang="en-US" sz="1000" dirty="0"/>
          </a:p>
        </p:txBody>
      </p:sp>
      <p:sp>
        <p:nvSpPr>
          <p:cNvPr id="24" name="Text 22"/>
          <p:cNvSpPr/>
          <p:nvPr/>
        </p:nvSpPr>
        <p:spPr>
          <a:xfrm>
            <a:off x="7040880" y="2267712"/>
            <a:ext cx="4160520" cy="329184"/>
          </a:xfrm>
          <a:prstGeom prst="rect">
            <a:avLst/>
          </a:prstGeom>
          <a:noFill/>
        </p:spPr>
        <p:txBody>
          <a:bodyPr wrap="square" lIns="0" tIns="0" rIns="0" bIns="0" rtlCol="0" anchor="ctr">
            <a:normAutofit/>
          </a:bodyPr>
          <a:lstStyle/>
          <a:p>
            <a:pPr marL="0" indent="0">
              <a:buNone/>
            </a:pPr>
            <a:r>
              <a:rPr lang="en-US" sz="1120" b="1" dirty="0">
                <a:solidFill>
                  <a:srgbClr val="0B1F3A"/>
                </a:solidFill>
              </a:rPr>
              <a:t>OpenAI Help Center — Apps in ChatGPT</a:t>
            </a:r>
            <a:endParaRPr lang="en-US" sz="1120" dirty="0"/>
          </a:p>
        </p:txBody>
      </p:sp>
      <p:sp>
        <p:nvSpPr>
          <p:cNvPr id="25" name="Shape 23"/>
          <p:cNvSpPr/>
          <p:nvPr/>
        </p:nvSpPr>
        <p:spPr>
          <a:xfrm>
            <a:off x="6327648" y="2999232"/>
            <a:ext cx="5138928" cy="640080"/>
          </a:xfrm>
          <a:prstGeom prst="roundRect">
            <a:avLst>
              <a:gd name="adj" fmla="val 1714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6" name="Text 24"/>
          <p:cNvSpPr/>
          <p:nvPr/>
        </p:nvSpPr>
        <p:spPr>
          <a:xfrm>
            <a:off x="6510528" y="3182112"/>
            <a:ext cx="457200" cy="201168"/>
          </a:xfrm>
          <a:prstGeom prst="rect">
            <a:avLst/>
          </a:prstGeom>
          <a:noFill/>
        </p:spPr>
        <p:txBody>
          <a:bodyPr wrap="square" lIns="0" tIns="0" rIns="0" bIns="0" rtlCol="0" anchor="ctr"/>
          <a:lstStyle/>
          <a:p>
            <a:pPr marL="0" indent="0">
              <a:buNone/>
            </a:pPr>
            <a:r>
              <a:rPr lang="en-US" sz="1000" b="1" dirty="0">
                <a:solidFill>
                  <a:srgbClr val="1677FF"/>
                </a:solidFill>
              </a:rPr>
              <a:t>08</a:t>
            </a:r>
            <a:endParaRPr lang="en-US" sz="1000" dirty="0"/>
          </a:p>
        </p:txBody>
      </p:sp>
      <p:sp>
        <p:nvSpPr>
          <p:cNvPr id="27" name="Text 25"/>
          <p:cNvSpPr/>
          <p:nvPr/>
        </p:nvSpPr>
        <p:spPr>
          <a:xfrm>
            <a:off x="7040880" y="3136392"/>
            <a:ext cx="4160520" cy="329184"/>
          </a:xfrm>
          <a:prstGeom prst="rect">
            <a:avLst/>
          </a:prstGeom>
          <a:noFill/>
        </p:spPr>
        <p:txBody>
          <a:bodyPr wrap="square" lIns="0" tIns="0" rIns="0" bIns="0" rtlCol="0" anchor="ctr">
            <a:normAutofit/>
          </a:bodyPr>
          <a:lstStyle/>
          <a:p>
            <a:pPr marL="0" indent="0">
              <a:buNone/>
            </a:pPr>
            <a:r>
              <a:rPr lang="en-US" sz="1120" b="1" dirty="0">
                <a:solidFill>
                  <a:srgbClr val="0B1F3A"/>
                </a:solidFill>
              </a:rPr>
              <a:t>OpenAI Help Center — ChatGPT Agent</a:t>
            </a:r>
            <a:endParaRPr lang="en-US" sz="1120" dirty="0"/>
          </a:p>
        </p:txBody>
      </p:sp>
      <p:sp>
        <p:nvSpPr>
          <p:cNvPr id="28" name="Shape 26"/>
          <p:cNvSpPr/>
          <p:nvPr/>
        </p:nvSpPr>
        <p:spPr>
          <a:xfrm>
            <a:off x="6327648" y="3867912"/>
            <a:ext cx="5138928" cy="640080"/>
          </a:xfrm>
          <a:prstGeom prst="roundRect">
            <a:avLst>
              <a:gd name="adj" fmla="val 1714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29" name="Text 27"/>
          <p:cNvSpPr/>
          <p:nvPr/>
        </p:nvSpPr>
        <p:spPr>
          <a:xfrm>
            <a:off x="6510528" y="4050792"/>
            <a:ext cx="457200" cy="201168"/>
          </a:xfrm>
          <a:prstGeom prst="rect">
            <a:avLst/>
          </a:prstGeom>
          <a:noFill/>
        </p:spPr>
        <p:txBody>
          <a:bodyPr wrap="square" lIns="0" tIns="0" rIns="0" bIns="0" rtlCol="0" anchor="ctr"/>
          <a:lstStyle/>
          <a:p>
            <a:pPr marL="0" indent="0">
              <a:buNone/>
            </a:pPr>
            <a:r>
              <a:rPr lang="en-US" sz="1000" b="1" dirty="0">
                <a:solidFill>
                  <a:srgbClr val="1677FF"/>
                </a:solidFill>
              </a:rPr>
              <a:t>09</a:t>
            </a:r>
            <a:endParaRPr lang="en-US" sz="1000" dirty="0"/>
          </a:p>
        </p:txBody>
      </p:sp>
      <p:sp>
        <p:nvSpPr>
          <p:cNvPr id="30" name="Text 28"/>
          <p:cNvSpPr/>
          <p:nvPr/>
        </p:nvSpPr>
        <p:spPr>
          <a:xfrm>
            <a:off x="7040880" y="4005072"/>
            <a:ext cx="4160520" cy="329184"/>
          </a:xfrm>
          <a:prstGeom prst="rect">
            <a:avLst/>
          </a:prstGeom>
          <a:noFill/>
        </p:spPr>
        <p:txBody>
          <a:bodyPr wrap="square" lIns="0" tIns="0" rIns="0" bIns="0" rtlCol="0" anchor="ctr">
            <a:normAutofit/>
          </a:bodyPr>
          <a:lstStyle/>
          <a:p>
            <a:pPr marL="0" indent="0">
              <a:buNone/>
            </a:pPr>
            <a:r>
              <a:rPr lang="en-US" sz="1120" b="1" dirty="0">
                <a:solidFill>
                  <a:srgbClr val="0B1F3A"/>
                </a:solidFill>
              </a:rPr>
              <a:t>OpenAI Developer Documentation — Models and Platform</a:t>
            </a:r>
            <a:endParaRPr lang="en-US" sz="1120" dirty="0"/>
          </a:p>
        </p:txBody>
      </p:sp>
      <p:sp>
        <p:nvSpPr>
          <p:cNvPr id="31" name="Shape 29"/>
          <p:cNvSpPr/>
          <p:nvPr/>
        </p:nvSpPr>
        <p:spPr>
          <a:xfrm>
            <a:off x="6327648" y="4736592"/>
            <a:ext cx="5138928" cy="640080"/>
          </a:xfrm>
          <a:prstGeom prst="roundRect">
            <a:avLst>
              <a:gd name="adj" fmla="val 17143"/>
            </a:avLst>
          </a:prstGeom>
          <a:solidFill>
            <a:srgbClr val="FFFFFF"/>
          </a:solidFill>
          <a:ln w="12700">
            <a:solidFill>
              <a:srgbClr val="DCE5EF"/>
            </a:solidFill>
            <a:prstDash val="solid"/>
          </a:ln>
          <a:effectLst>
            <a:outerShdw blurRad="-2147483648" dist="-2147483648" algn="bl" rotWithShape="0">
              <a:srgbClr val="000000">
                <a:alpha val="0"/>
              </a:srgbClr>
            </a:outerShdw>
          </a:effectLst>
        </p:spPr>
      </p:sp>
      <p:sp>
        <p:nvSpPr>
          <p:cNvPr id="32" name="Text 30"/>
          <p:cNvSpPr/>
          <p:nvPr/>
        </p:nvSpPr>
        <p:spPr>
          <a:xfrm>
            <a:off x="6510528" y="4919472"/>
            <a:ext cx="457200" cy="201168"/>
          </a:xfrm>
          <a:prstGeom prst="rect">
            <a:avLst/>
          </a:prstGeom>
          <a:noFill/>
        </p:spPr>
        <p:txBody>
          <a:bodyPr wrap="square" lIns="0" tIns="0" rIns="0" bIns="0" rtlCol="0" anchor="ctr"/>
          <a:lstStyle/>
          <a:p>
            <a:pPr marL="0" indent="0">
              <a:buNone/>
            </a:pPr>
            <a:r>
              <a:rPr lang="en-US" sz="1000" b="1" dirty="0">
                <a:solidFill>
                  <a:srgbClr val="1677FF"/>
                </a:solidFill>
              </a:rPr>
              <a:t>10</a:t>
            </a:r>
            <a:endParaRPr lang="en-US" sz="1000" dirty="0"/>
          </a:p>
        </p:txBody>
      </p:sp>
      <p:sp>
        <p:nvSpPr>
          <p:cNvPr id="33" name="Text 31"/>
          <p:cNvSpPr/>
          <p:nvPr/>
        </p:nvSpPr>
        <p:spPr>
          <a:xfrm>
            <a:off x="7040880" y="4873752"/>
            <a:ext cx="4160520" cy="329184"/>
          </a:xfrm>
          <a:prstGeom prst="rect">
            <a:avLst/>
          </a:prstGeom>
          <a:noFill/>
        </p:spPr>
        <p:txBody>
          <a:bodyPr wrap="square" lIns="0" tIns="0" rIns="0" bIns="0" rtlCol="0" anchor="ctr">
            <a:normAutofit/>
          </a:bodyPr>
          <a:lstStyle/>
          <a:p>
            <a:pPr marL="0" indent="0">
              <a:buNone/>
            </a:pPr>
            <a:r>
              <a:rPr lang="en-US" sz="1120" b="1" dirty="0">
                <a:solidFill>
                  <a:srgbClr val="0B1F3A"/>
                </a:solidFill>
              </a:rPr>
              <a:t>OpenAI — Introducing ChatGPT Images 2.0</a:t>
            </a:r>
            <a:endParaRPr lang="en-US" sz="1120" dirty="0"/>
          </a:p>
        </p:txBody>
      </p:sp>
      <p:sp>
        <p:nvSpPr>
          <p:cNvPr id="34" name="Shape 32"/>
          <p:cNvSpPr/>
          <p:nvPr/>
        </p:nvSpPr>
        <p:spPr>
          <a:xfrm>
            <a:off x="1417320" y="5742432"/>
            <a:ext cx="9372600" cy="420624"/>
          </a:xfrm>
          <a:prstGeom prst="roundRect">
            <a:avLst>
              <a:gd name="adj" fmla="val 26087"/>
            </a:avLst>
          </a:prstGeom>
          <a:solidFill>
            <a:srgbClr val="0B1F3A"/>
          </a:solidFill>
          <a:ln w="12700">
            <a:solidFill>
              <a:srgbClr val="0B1F3A"/>
            </a:solidFill>
            <a:prstDash val="solid"/>
          </a:ln>
          <a:effectLst>
            <a:outerShdw blurRad="-2147483648" dist="-2147483648" algn="bl" rotWithShape="0">
              <a:srgbClr val="000000">
                <a:alpha val="0"/>
              </a:srgbClr>
            </a:outerShdw>
          </a:effectLst>
        </p:spPr>
      </p:sp>
      <p:sp>
        <p:nvSpPr>
          <p:cNvPr id="35" name="Text 33"/>
          <p:cNvSpPr/>
          <p:nvPr/>
        </p:nvSpPr>
        <p:spPr>
          <a:xfrm>
            <a:off x="1645920" y="5870448"/>
            <a:ext cx="8915400" cy="182880"/>
          </a:xfrm>
          <a:prstGeom prst="rect">
            <a:avLst/>
          </a:prstGeom>
          <a:noFill/>
        </p:spPr>
        <p:txBody>
          <a:bodyPr wrap="square" lIns="0" tIns="0" rIns="0" bIns="0" rtlCol="0" anchor="ctr"/>
          <a:lstStyle/>
          <a:p>
            <a:pPr marL="0" indent="0" algn="ctr">
              <a:buNone/>
            </a:pPr>
            <a:r>
              <a:rPr lang="en-US" sz="1030" b="1" dirty="0">
                <a:solidFill>
                  <a:srgbClr val="FFFFFF"/>
                </a:solidFill>
              </a:rPr>
              <a:t>Feature names and availability may change. Always check the current official Help Center and your plan/workspace settings.</a:t>
            </a:r>
            <a:endParaRPr lang="en-US" sz="1030" dirty="0"/>
          </a:p>
        </p:txBody>
      </p:sp>
      <p:sp>
        <p:nvSpPr>
          <p:cNvPr id="36" name="Slide Number Placeholder 0"/>
          <p:cNvSpPr>
            <a:spLocks noGrp="1"/>
          </p:cNvSpPr>
          <p:nvPr>
            <p:ph type="sldNum" sz="quarter" idx="4294967295"/>
          </p:nvPr>
        </p:nvSpPr>
        <p:spPr>
          <a:xfrm>
            <a:off x="11201400" y="6492240"/>
            <a:ext cx="502920" cy="201168"/>
          </a:xfrm>
          <a:prstGeom prst="rect">
            <a:avLst/>
          </a:prstGeom>
        </p:spPr>
        <p:txBody>
          <a:bodyPr/>
          <a:lstStyle>
            <a:lvl1pPr>
              <a:defRPr sz="800">
                <a:solidFill>
                  <a:srgbClr val="6B7280"/>
                </a:solidFill>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13329</Words>
  <Application>WPS Presentation</Application>
  <PresentationFormat>On-screen Show (16:9)</PresentationFormat>
  <Paragraphs>831</Paragraphs>
  <Slides>23</Slides>
  <Notes>23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23</vt:i4>
      </vt:variant>
    </vt:vector>
  </HeadingPairs>
  <TitlesOfParts>
    <vt:vector size="37" baseType="lpstr">
      <vt:lpstr>Arial</vt:lpstr>
      <vt:lpstr>SimSun</vt:lpstr>
      <vt:lpstr>Wingdings</vt:lpstr>
      <vt:lpstr>Aptos</vt:lpstr>
      <vt:lpstr>Segoe UI</vt:lpstr>
      <vt:lpstr>Aptos</vt:lpstr>
      <vt:lpstr>Aptos</vt:lpstr>
      <vt:lpstr>Aptos Display</vt:lpstr>
      <vt:lpstr>Segoe UI Variable Display</vt:lpstr>
      <vt:lpstr>Aptos Display</vt:lpstr>
      <vt:lpstr>Aptos Display</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CSJMU, Kanpur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Tools, ChatGPT &amp; Intelligent Agents</dc:title>
  <dc:creator>Prof. Namita Tiwari</dc:creator>
  <dc:subject>AI Tools, ChatGPT and Intelligent Agents</dc:subject>
  <cp:lastModifiedBy>Lenovo</cp:lastModifiedBy>
  <cp:revision>2</cp:revision>
  <dcterms:created xsi:type="dcterms:W3CDTF">2026-07-16T19:29:00Z</dcterms:created>
  <dcterms:modified xsi:type="dcterms:W3CDTF">2026-07-17T04:45:12Z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484998DA622E4067A1241A8EC832F1F1_12</vt:lpwstr>
  </property>
</Properties>
</file>