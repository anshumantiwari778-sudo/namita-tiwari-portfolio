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PROPOSITIONAL LOGIC IN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40-minute interactive lecture: from propositions to truth-table reasoning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128016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500" b="1">
                <a:solidFill>
                  <a:srgbClr val="162F4E"/>
                </a:solidFill>
              </a:defRPr>
            </a:pPr>
            <a:r>
              <a:t>Knowledge-Based Agents → Logic → Truth Tables → Entailment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M.Sc. Mathematics with AI &amp; Data Science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754880"/>
            <a:ext cx="2834640" cy="137160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Represent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facts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51960" y="4754880"/>
            <a:ext cx="2834640" cy="137160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Combine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connectives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754880"/>
            <a:ext cx="2834640" cy="137160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Interpret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truth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080" y="4754880"/>
            <a:ext cx="2834640" cy="137160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Infer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conclusions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Lecture roadmap and timing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Use questions, predictions and practice—not passive reading.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2194560" cy="59436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1463040"/>
            <a:ext cx="5577840" cy="59436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Focus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0" y="1463040"/>
            <a:ext cx="5120640" cy="59436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Classroom method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0–5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057400"/>
            <a:ext cx="5577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Why AI needs logic</a:t>
            </a:r>
          </a:p>
        </p:txBody>
      </p:sp>
      <p:sp>
        <p:nvSpPr>
          <p:cNvPr id="9" name="Rectangle 8"/>
          <p:cNvSpPr/>
          <p:nvPr/>
        </p:nvSpPr>
        <p:spPr>
          <a:xfrm>
            <a:off x="8503920" y="2057400"/>
            <a:ext cx="5120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Rain/umbrella agent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651760"/>
            <a:ext cx="219456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5–12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651760"/>
            <a:ext cx="557784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Propositions and connectives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03920" y="2651760"/>
            <a:ext cx="512064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Rapid classification game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12–20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46120"/>
            <a:ext cx="5577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Truth-table construction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3246120"/>
            <a:ext cx="5120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Build rows step by step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840480"/>
            <a:ext cx="219456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20–28 min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3840480"/>
            <a:ext cx="557784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Implication and biconditional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3840480"/>
            <a:ext cx="512064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Promise and eligibility examples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434840"/>
            <a:ext cx="219456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28–35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434840"/>
            <a:ext cx="55778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Compound formula practice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03920" y="4434840"/>
            <a:ext cx="512064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Students fill missing columns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5029200"/>
            <a:ext cx="219456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35–40 min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926080" y="5029200"/>
            <a:ext cx="557784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Entailment + exit quiz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5029200"/>
            <a:ext cx="5120640" cy="59436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Modus Ponens and recap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Why does an AI agent need logic?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Logic converts observations and rules into justified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834640" cy="192024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OBSERVE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It is raining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611880" y="2697480"/>
            <a:ext cx="502920" cy="594360"/>
          </a:xfrm>
          <a:prstGeom prst="rightArrow">
            <a:avLst/>
          </a:prstGeom>
          <a:solidFill>
            <a:srgbClr val="3674B4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60520" y="2103120"/>
            <a:ext cx="2834640" cy="192024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STORE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P → Q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132320" y="2697480"/>
            <a:ext cx="502920" cy="594360"/>
          </a:xfrm>
          <a:prstGeom prst="rightArrow">
            <a:avLst/>
          </a:prstGeom>
          <a:solidFill>
            <a:srgbClr val="3674B4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680960" y="2103120"/>
            <a:ext cx="2834640" cy="192024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INFER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P, P→Q ⟹ Q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652760" y="2697480"/>
            <a:ext cx="502920" cy="594360"/>
          </a:xfrm>
          <a:prstGeom prst="rightArrow">
            <a:avLst/>
          </a:prstGeom>
          <a:solidFill>
            <a:srgbClr val="3674B4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1201400" y="2103120"/>
            <a:ext cx="2834640" cy="192024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ACT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Carry umbrella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486400"/>
            <a:ext cx="126187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200" b="1">
                <a:solidFill>
                  <a:srgbClr val="162F4E"/>
                </a:solidFill>
              </a:defRPr>
            </a:pPr>
            <a:r>
              <a:t>Knowledge-Based Agent = Knowledge Base + Inference Mechanism + 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What is a proposition?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A declarative sentence with exactly one truth value: True or False.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6400800" cy="438912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400" b="1">
                <a:solidFill>
                  <a:srgbClr val="162F4E"/>
                </a:solidFill>
              </a:defRPr>
            </a:pPr>
            <a:r>
              <a:t>PROPOSITIONS ✓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2 + 3 = 5</a:t>
            </a:r>
            <a:br/>
            <a:r>
              <a:t>Kanpur is in Uttar Pradesh</a:t>
            </a:r>
            <a:br/>
            <a:r>
              <a:t>The street is wet</a:t>
            </a:r>
            <a:br/>
            <a:r>
              <a:t>Every square has four sides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737360"/>
            <a:ext cx="6400800" cy="438912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400" b="1">
                <a:solidFill>
                  <a:srgbClr val="162F4E"/>
                </a:solidFill>
              </a:defRPr>
            </a:pPr>
            <a:r>
              <a:t>NOT PROPOSITIONS ✗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Is it raining?</a:t>
            </a:r>
            <a:br/>
            <a:r>
              <a:t>Close the door</a:t>
            </a:r>
            <a:br/>
            <a:r>
              <a:t>Please submit the form</a:t>
            </a:r>
            <a:br/>
            <a:r>
              <a:t>x + 2 = 5 (x not specified)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6400800"/>
            <a:ext cx="106070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1800" b="1">
                <a:solidFill>
                  <a:srgbClr val="162F4E"/>
                </a:solidFill>
              </a:defRPr>
            </a:pPr>
            <a:r>
              <a:t>Rapid check</a:t>
            </a:r>
          </a:p>
          <a:p>
            <a:pPr algn="ctr">
              <a:defRPr sz="1400">
                <a:solidFill>
                  <a:srgbClr val="4B4B4B"/>
                </a:solidFill>
              </a:defRPr>
            </a:pPr>
            <a:r>
              <a:t>“Every prime greater than 2 is odd.” Proposition? 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Logical connectives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These operators build compound knowledge.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554480" cy="73152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Symbol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1463040"/>
            <a:ext cx="2560320" cy="73152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Reads as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79" y="1463040"/>
            <a:ext cx="2377440" cy="73152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Name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19" y="1463040"/>
            <a:ext cx="6309360" cy="73152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194560"/>
            <a:ext cx="15544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¬P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2194560"/>
            <a:ext cx="2560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NOT 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79" y="2194560"/>
            <a:ext cx="23774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Negation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19" y="2194560"/>
            <a:ext cx="63093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The street is not wet.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926080"/>
            <a:ext cx="155448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∧ Q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94560" y="2926080"/>
            <a:ext cx="256032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AND Q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79" y="2926080"/>
            <a:ext cx="237744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Conjunction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19" y="2926080"/>
            <a:ext cx="630936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Raining and cold.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657600"/>
            <a:ext cx="15544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∨ 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3657600"/>
            <a:ext cx="2560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OR 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79" y="3657600"/>
            <a:ext cx="23774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Disjunction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19" y="3657600"/>
            <a:ext cx="63093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Raining or cloudy.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389120"/>
            <a:ext cx="155448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→ 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389120"/>
            <a:ext cx="256032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IF P THEN 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79" y="4389120"/>
            <a:ext cx="237744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Implication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32319" y="4389120"/>
            <a:ext cx="6309360" cy="73152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If it rains, the street is wet.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120640"/>
            <a:ext cx="155448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↔ 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94560" y="5120640"/>
            <a:ext cx="256032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IFF 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79" y="5120640"/>
            <a:ext cx="237744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Biconditional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19" y="5120640"/>
            <a:ext cx="6309360" cy="73152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500" b="0">
                <a:solidFill>
                  <a:srgbClr val="162F4E"/>
                </a:solidFill>
              </a:defRPr>
            </a:pPr>
            <a:r>
              <a:t>P exactly when Q.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Mathematics behind truth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For n proposition symbols, there are 2ⁿ possible interpretations.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3840480" cy="192024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400" b="1">
                <a:solidFill>
                  <a:srgbClr val="162F4E"/>
                </a:solidFill>
              </a:defRPr>
            </a:pPr>
            <a:r>
              <a:t>1 proposition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2¹ = 2 rows</a:t>
            </a:r>
            <a:br/>
            <a:r>
              <a:t>T, 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94960" y="1645920"/>
            <a:ext cx="3840480" cy="192024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400" b="1">
                <a:solidFill>
                  <a:srgbClr val="162F4E"/>
                </a:solidFill>
              </a:defRPr>
            </a:pPr>
            <a:r>
              <a:t>2 propositions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2² = 4 rows</a:t>
            </a:r>
            <a:br/>
            <a:r>
              <a:t>TT, TF, FT, 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875520" y="1645920"/>
            <a:ext cx="3840480" cy="192024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400" b="1">
                <a:solidFill>
                  <a:srgbClr val="162F4E"/>
                </a:solidFill>
              </a:defRPr>
            </a:pPr>
            <a:r>
              <a:t>3 propositions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2³ = 8 rows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206240"/>
            <a:ext cx="128016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b="1" sz="1900">
                <a:solidFill>
                  <a:srgbClr val="162F4E"/>
                </a:solidFill>
              </a:defRPr>
            </a:pPr>
            <a:r>
              <a:t>Truth-table algorithm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Step 1: Count proposition symbols.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Step 2: Write all T/F combinations.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Step 3: Evaluate inner expressions first.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Step 4: Compute the final formula column.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Truth tables for NOT, AND and 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Learn patterns before memorizing rows.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109728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417320"/>
            <a:ext cx="109728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417320"/>
            <a:ext cx="128016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¬P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417320"/>
            <a:ext cx="164592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 ∧ Q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59" y="1417320"/>
            <a:ext cx="164592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P ∨ Q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07568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207568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26080" y="2075688"/>
            <a:ext cx="1280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075688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9" y="2075688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734056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2734056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80" y="2734056"/>
            <a:ext cx="12801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2734056"/>
            <a:ext cx="16459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59" y="2734056"/>
            <a:ext cx="16459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392424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3392424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80" y="3392424"/>
            <a:ext cx="12801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3392424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52159" y="3392424"/>
            <a:ext cx="164592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050791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050791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26080" y="4050791"/>
            <a:ext cx="12801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6240" y="4050791"/>
            <a:ext cx="16459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59" y="4050791"/>
            <a:ext cx="164592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7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1554480"/>
            <a:ext cx="557784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b="1" sz="1900">
                <a:solidFill>
                  <a:srgbClr val="162F4E"/>
                </a:solidFill>
              </a:defRPr>
            </a:pPr>
            <a:r>
              <a:t>Memory rules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NOT reverses the truth value.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AND needs both statements to be true.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OR needs at least one statement to be true.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Ask students to predict each highlighted result.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5760720"/>
            <a:ext cx="1280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1800" b="1">
                <a:solidFill>
                  <a:srgbClr val="162F4E"/>
                </a:solidFill>
              </a:defRPr>
            </a:pPr>
            <a:r>
              <a:t>Example</a:t>
            </a:r>
          </a:p>
          <a:p>
            <a:pPr algn="ctr">
              <a:defRPr sz="1400">
                <a:solidFill>
                  <a:srgbClr val="4B4B4B"/>
                </a:solidFill>
              </a:defRPr>
            </a:pPr>
            <a:r>
              <a:t>P: Student has NET. Q: Coursework completed. P ∧ Q means both conditions are satisfied.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Implication P →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The only false case is True → False.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201168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417320"/>
            <a:ext cx="201168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4846320" y="1417320"/>
            <a:ext cx="182880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 → Q</a:t>
            </a:r>
          </a:p>
        </p:txBody>
      </p:sp>
      <p:sp>
        <p:nvSpPr>
          <p:cNvPr id="7" name="Rectangle 6"/>
          <p:cNvSpPr/>
          <p:nvPr/>
        </p:nvSpPr>
        <p:spPr>
          <a:xfrm>
            <a:off x="6675120" y="1417320"/>
            <a:ext cx="594360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10312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46320" y="210312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75120" y="2103120"/>
            <a:ext cx="5943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Condition occurs; result occurs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788920"/>
            <a:ext cx="201168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788920"/>
            <a:ext cx="201168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846320" y="2788920"/>
            <a:ext cx="1828800" cy="685800"/>
          </a:xfrm>
          <a:prstGeom prst="rect">
            <a:avLst/>
          </a:prstGeom>
          <a:solidFill>
            <a:srgbClr val="FFF5C8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788920"/>
            <a:ext cx="5943600" cy="685800"/>
          </a:xfrm>
          <a:prstGeom prst="rect">
            <a:avLst/>
          </a:prstGeom>
          <a:solidFill>
            <a:srgbClr val="FFF5C8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C00000"/>
                </a:solidFill>
              </a:defRPr>
            </a:pPr>
            <a:r>
              <a:t>Condition occurs; promised result fails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7472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47472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46320" y="3474720"/>
            <a:ext cx="18288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0" y="3474720"/>
            <a:ext cx="594360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Condition does not occur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60520"/>
            <a:ext cx="201168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4160520"/>
            <a:ext cx="201168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4160520"/>
            <a:ext cx="182880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0" y="4160520"/>
            <a:ext cx="594360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Condition does not occur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669280"/>
            <a:ext cx="12801600" cy="1097280"/>
          </a:xfrm>
          <a:prstGeom prst="roundRect">
            <a:avLst/>
          </a:prstGeom>
          <a:solidFill>
            <a:srgbClr val="FFF5C8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Promise example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If you submit the assignment, I will evaluate it. The promise is broken only when you submit and I do not evaluate.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Biconditional P ↔ 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True when both statements have the same truth value.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1554480"/>
            <a:ext cx="182880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554480"/>
            <a:ext cx="182880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4663440" y="1554480"/>
            <a:ext cx="219456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 ↔ Q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554480"/>
            <a:ext cx="649224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Meaning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26771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267712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267712"/>
            <a:ext cx="2194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267712"/>
            <a:ext cx="6492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Both true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2980944"/>
            <a:ext cx="182880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2980944"/>
            <a:ext cx="182880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80944"/>
            <a:ext cx="219456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2980944"/>
            <a:ext cx="649224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Different truth values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694176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34640" y="3694176"/>
            <a:ext cx="18288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694176"/>
            <a:ext cx="219456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3694176"/>
            <a:ext cx="649224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Different truth values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4407408"/>
            <a:ext cx="182880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34640" y="4407408"/>
            <a:ext cx="182880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407408"/>
            <a:ext cx="219456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4407408"/>
            <a:ext cx="649224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Both false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486400"/>
            <a:ext cx="128016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Example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A number is even if and only if it is divisible by 2. Biconditional represents two implications: P→Q and Q→P.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Practice 1: Build a truth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Formula: ¬P ∨ Q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8463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b="1" sz="1900">
                <a:solidFill>
                  <a:srgbClr val="162F4E"/>
                </a:solidFill>
              </a:defRPr>
            </a:pPr>
            <a:r>
              <a:t>Instructions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1. Write P and Q rows.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2. Compute ¬P.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3. Compute ¬P ∨ Q.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4. Compare with P → Q.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463040"/>
            <a:ext cx="146304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1463040"/>
            <a:ext cx="146304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19" y="1463040"/>
            <a:ext cx="164592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¬P</a:t>
            </a:r>
          </a:p>
        </p:txBody>
      </p:sp>
      <p:sp>
        <p:nvSpPr>
          <p:cNvPr id="8" name="Rectangle 7"/>
          <p:cNvSpPr/>
          <p:nvPr/>
        </p:nvSpPr>
        <p:spPr>
          <a:xfrm>
            <a:off x="10607040" y="1463040"/>
            <a:ext cx="2011680" cy="68580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¬P ∨ Q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2148840"/>
            <a:ext cx="14630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2148840"/>
            <a:ext cx="14630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961119" y="2148840"/>
            <a:ext cx="1645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07040" y="214884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834640"/>
            <a:ext cx="146304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498079" y="2834640"/>
            <a:ext cx="146304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961119" y="2834640"/>
            <a:ext cx="164592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607040" y="2834640"/>
            <a:ext cx="201168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35040" y="3520440"/>
            <a:ext cx="14630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79" y="3520440"/>
            <a:ext cx="146304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19" y="3520440"/>
            <a:ext cx="164592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607040" y="3520440"/>
            <a:ext cx="2011680" cy="68580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4206240"/>
            <a:ext cx="146304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79" y="4206240"/>
            <a:ext cx="146304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19" y="4206240"/>
            <a:ext cx="164592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607040" y="4206240"/>
            <a:ext cx="2011680" cy="68580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5897880"/>
            <a:ext cx="12801600" cy="91440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200" b="1">
                <a:solidFill>
                  <a:srgbClr val="162F4E"/>
                </a:solidFill>
              </a:defRPr>
            </a:pPr>
            <a:r>
              <a:t>Key result</a:t>
            </a:r>
          </a:p>
          <a:p>
            <a:pPr algn="ctr">
              <a:defRPr sz="1700">
                <a:solidFill>
                  <a:srgbClr val="4B4B4B"/>
                </a:solidFill>
              </a:defRPr>
            </a:pPr>
            <a:r>
              <a:t>P → Q ≡ ¬P ∨ 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Practice 2: De Morgan’s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Check whether ¬(P ∧ Q) and ¬P ∨ ¬Q are equivalent.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1325880"/>
            <a:ext cx="91440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1600200" y="1325880"/>
            <a:ext cx="91440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325880"/>
            <a:ext cx="137160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P∧Q</a:t>
            </a:r>
          </a:p>
        </p:txBody>
      </p:sp>
      <p:sp>
        <p:nvSpPr>
          <p:cNvPr id="7" name="Rectangle 6"/>
          <p:cNvSpPr/>
          <p:nvPr/>
        </p:nvSpPr>
        <p:spPr>
          <a:xfrm>
            <a:off x="3886200" y="1325880"/>
            <a:ext cx="164592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¬(P∧Q)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1325880"/>
            <a:ext cx="137160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¬P</a:t>
            </a:r>
          </a:p>
        </p:txBody>
      </p:sp>
      <p:sp>
        <p:nvSpPr>
          <p:cNvPr id="9" name="Rectangle 8"/>
          <p:cNvSpPr/>
          <p:nvPr/>
        </p:nvSpPr>
        <p:spPr>
          <a:xfrm>
            <a:off x="6903720" y="1325880"/>
            <a:ext cx="137160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¬Q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1325880"/>
            <a:ext cx="1828800" cy="640080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¬P∨¬Q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965960"/>
            <a:ext cx="914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00200" y="1965960"/>
            <a:ext cx="914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96596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86200" y="1965960"/>
            <a:ext cx="16459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196596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03720" y="196596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96596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2606039"/>
            <a:ext cx="9144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600200" y="2606039"/>
            <a:ext cx="9144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2606039"/>
            <a:ext cx="13716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86200" y="2606039"/>
            <a:ext cx="164592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32120" y="2606039"/>
            <a:ext cx="13716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03720" y="2606039"/>
            <a:ext cx="13716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75320" y="2606039"/>
            <a:ext cx="18288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3246120"/>
            <a:ext cx="914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600200" y="3246120"/>
            <a:ext cx="9144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32461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86200" y="3246120"/>
            <a:ext cx="164592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532120" y="32461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3246120"/>
            <a:ext cx="13716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3246120"/>
            <a:ext cx="1828800" cy="640080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3886200"/>
            <a:ext cx="9144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600200" y="3886200"/>
            <a:ext cx="9144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3886200"/>
            <a:ext cx="13716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86200" y="3886200"/>
            <a:ext cx="164592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532120" y="3886200"/>
            <a:ext cx="13716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03720" y="3886200"/>
            <a:ext cx="13716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75320" y="3886200"/>
            <a:ext cx="1828800" cy="640080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" y="5577840"/>
            <a:ext cx="12801600" cy="109728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100" b="1">
                <a:solidFill>
                  <a:srgbClr val="162F4E"/>
                </a:solidFill>
              </a:defRPr>
            </a:pPr>
            <a:r>
              <a:t>Conclusion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The final columns are identical, so ¬(P ∧ Q) ≡ ¬P ∨ ¬Q.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Practice 3: A three-variable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Formula: (P ∧ Q) → R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34440"/>
            <a:ext cx="822960" cy="53035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</a:t>
            </a:r>
          </a:p>
        </p:txBody>
      </p:sp>
      <p:sp>
        <p:nvSpPr>
          <p:cNvPr id="5" name="Rectangle 4"/>
          <p:cNvSpPr/>
          <p:nvPr/>
        </p:nvSpPr>
        <p:spPr>
          <a:xfrm>
            <a:off x="1463040" y="1234440"/>
            <a:ext cx="822960" cy="53035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Q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234440"/>
            <a:ext cx="822960" cy="53035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60" y="1234440"/>
            <a:ext cx="1280160" cy="53035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P∧Q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234440"/>
            <a:ext cx="1828800" cy="53035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(P∧Q)→R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64792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0" name="Rectangle 9"/>
          <p:cNvSpPr/>
          <p:nvPr/>
        </p:nvSpPr>
        <p:spPr>
          <a:xfrm>
            <a:off x="1463040" y="1764792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0" y="1764792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764792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764792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295144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2295144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2295144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0" y="2295144"/>
            <a:ext cx="12801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2295144"/>
            <a:ext cx="1828800" cy="530352"/>
          </a:xfrm>
          <a:prstGeom prst="rect">
            <a:avLst/>
          </a:prstGeom>
          <a:solidFill>
            <a:srgbClr val="FFF5C8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1">
                <a:solidFill>
                  <a:srgbClr val="C00000"/>
                </a:solidFill>
              </a:defRPr>
            </a:pPr>
            <a:r>
              <a:t>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2825496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825496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86000" y="2825496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2825496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0" y="2825496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355848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463040" y="3355848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355848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3355848"/>
            <a:ext cx="12801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3355848"/>
            <a:ext cx="182880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3886200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3040" y="3886200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0" y="3886200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3886200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0" y="3886200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" y="4416552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463040" y="4416552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86000" y="4416552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108960" y="4416552"/>
            <a:ext cx="12801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89120" y="4416552"/>
            <a:ext cx="182880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4946904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463040" y="4946904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286000" y="4946904"/>
            <a:ext cx="8229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08960" y="4946904"/>
            <a:ext cx="128016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89120" y="4946904"/>
            <a:ext cx="1828800" cy="53035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" y="5477256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63040" y="5477256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286000" y="5477256"/>
            <a:ext cx="8229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60" y="5477256"/>
            <a:ext cx="128016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F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89120" y="5477256"/>
            <a:ext cx="1828800" cy="53035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300" b="0">
                <a:solidFill>
                  <a:srgbClr val="162F4E"/>
                </a:solidFill>
              </a:defRPr>
            </a:pPr>
            <a:r>
              <a:t>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15200" y="1417320"/>
            <a:ext cx="64008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b="1" sz="1900">
                <a:solidFill>
                  <a:srgbClr val="162F4E"/>
                </a:solidFill>
              </a:defRPr>
            </a:pPr>
            <a:r>
              <a:t>How to reason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There are 2³ = 8 rows.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Compute P ∧ Q first.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The implication is false only when P ∧ Q is true but R is false.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AI rule example: If NET-qualified AND coursework-complete, then eligible.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Practice 4: University eligibility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Translate natural language into logic.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400800" cy="420624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200" b="1">
                <a:solidFill>
                  <a:srgbClr val="162F4E"/>
                </a:solidFill>
              </a:defRPr>
            </a:pPr>
            <a:r>
              <a:t>Statements</a:t>
            </a:r>
          </a:p>
          <a:p>
            <a:pPr algn="ctr">
              <a:defRPr sz="1700">
                <a:solidFill>
                  <a:srgbClr val="4B4B4B"/>
                </a:solidFill>
              </a:defRPr>
            </a:pPr>
            <a:r>
              <a:t>P: Student has 75% attendance</a:t>
            </a:r>
            <a:br/>
            <a:r>
              <a:t>Q: Coursework is passed</a:t>
            </a:r>
            <a:br/>
            <a:r>
              <a:t>R: Student is eligible for RAC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79" y="1463040"/>
            <a:ext cx="6400800" cy="420624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200" b="1">
                <a:solidFill>
                  <a:srgbClr val="162F4E"/>
                </a:solidFill>
              </a:defRPr>
            </a:pPr>
            <a:r>
              <a:t>Rule</a:t>
            </a:r>
          </a:p>
          <a:p>
            <a:pPr algn="ctr">
              <a:defRPr sz="1700">
                <a:solidFill>
                  <a:srgbClr val="4B4B4B"/>
                </a:solidFill>
              </a:defRPr>
            </a:pPr>
            <a:r>
              <a:t>(P ∧ Q) → R</a:t>
            </a:r>
            <a:br/>
            <a:br/>
            <a:r>
              <a:t>Question:</a:t>
            </a:r>
            <a:br/>
            <a:r>
              <a:t>For P=T, Q=T, R=F, is the rule true?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6080760"/>
            <a:ext cx="10972800" cy="914400"/>
          </a:xfrm>
          <a:prstGeom prst="roundRect">
            <a:avLst/>
          </a:prstGeom>
          <a:solidFill>
            <a:srgbClr val="FFF5C8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Answer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False. The required conditions are satisfied, but eligibility is denied.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Tautology, contradiction and contingency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Classify formulas using the final truth-table column.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417320"/>
            <a:ext cx="365760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480560" y="1417320"/>
            <a:ext cx="274320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Final column</a:t>
            </a:r>
          </a:p>
        </p:txBody>
      </p:sp>
      <p:sp>
        <p:nvSpPr>
          <p:cNvPr id="6" name="Rectangle 5"/>
          <p:cNvSpPr/>
          <p:nvPr/>
        </p:nvSpPr>
        <p:spPr>
          <a:xfrm>
            <a:off x="7223760" y="1417320"/>
            <a:ext cx="6217920" cy="713232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30552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Tautology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130552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All T</a:t>
            </a:r>
          </a:p>
        </p:txBody>
      </p:sp>
      <p:sp>
        <p:nvSpPr>
          <p:cNvPr id="9" name="Rectangle 8"/>
          <p:cNvSpPr/>
          <p:nvPr/>
        </p:nvSpPr>
        <p:spPr>
          <a:xfrm>
            <a:off x="7223760" y="2130552"/>
            <a:ext cx="6217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P ∨ ¬P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843784"/>
            <a:ext cx="365760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Contradiction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60" y="2843784"/>
            <a:ext cx="274320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All 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0" y="2843784"/>
            <a:ext cx="6217920" cy="713232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P ∧ ¬P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557015"/>
            <a:ext cx="36576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Contingency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3557015"/>
            <a:ext cx="27432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Mixture of T and 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23760" y="3557015"/>
            <a:ext cx="6217920" cy="713232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600" b="0">
                <a:solidFill>
                  <a:srgbClr val="162F4E"/>
                </a:solidFill>
              </a:defRPr>
            </a:pPr>
            <a:r>
              <a:t>P → Q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92040"/>
            <a:ext cx="3840480" cy="128016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100" b="1">
                <a:solidFill>
                  <a:srgbClr val="162F4E"/>
                </a:solidFill>
              </a:defRPr>
            </a:pPr>
            <a:r>
              <a:t>Tautology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Always true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892040"/>
            <a:ext cx="3840480" cy="128016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100" b="1">
                <a:solidFill>
                  <a:srgbClr val="162F4E"/>
                </a:solidFill>
              </a:defRPr>
            </a:pPr>
            <a:r>
              <a:t>Contradiction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Always false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0" y="4892040"/>
            <a:ext cx="3840480" cy="128016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100" b="1">
                <a:solidFill>
                  <a:srgbClr val="162F4E"/>
                </a:solidFill>
              </a:defRPr>
            </a:pPr>
            <a:r>
              <a:t>Contingency</a:t>
            </a:r>
          </a:p>
          <a:p>
            <a:pPr algn="ctr">
              <a:defRPr sz="1600">
                <a:solidFill>
                  <a:srgbClr val="4B4B4B"/>
                </a:solidFill>
              </a:defRPr>
            </a:pPr>
            <a:r>
              <a:t>Depends on model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Knowledge base and entailment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Can the agent logically guarantee the query?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943600" cy="347472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300" b="1">
                <a:solidFill>
                  <a:srgbClr val="162F4E"/>
                </a:solidFill>
              </a:defRPr>
            </a:pPr>
            <a:r>
              <a:t>KNOWLEDGE BASE</a:t>
            </a:r>
          </a:p>
          <a:p>
            <a:pPr algn="ctr">
              <a:defRPr sz="1700">
                <a:solidFill>
                  <a:srgbClr val="4B4B4B"/>
                </a:solidFill>
              </a:defRPr>
            </a:pPr>
            <a:r>
              <a:t>P: It is raining</a:t>
            </a:r>
            <a:br/>
            <a:r>
              <a:t>P → Q: If raining, street is wet</a:t>
            </a:r>
            <a:br/>
            <a:r>
              <a:t>Query: Q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554480"/>
            <a:ext cx="5943600" cy="347472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300" b="1">
                <a:solidFill>
                  <a:srgbClr val="162F4E"/>
                </a:solidFill>
              </a:defRPr>
            </a:pPr>
            <a:r>
              <a:t>INFERENCE</a:t>
            </a:r>
          </a:p>
          <a:p>
            <a:pPr algn="ctr">
              <a:defRPr sz="1700">
                <a:solidFill>
                  <a:srgbClr val="4B4B4B"/>
                </a:solidFill>
              </a:defRPr>
            </a:pPr>
            <a:r>
              <a:t>P</a:t>
            </a:r>
            <a:br/>
            <a:r>
              <a:t>P → Q</a:t>
            </a:r>
            <a:br/>
            <a:r>
              <a:t>∴ Q  (Modus Ponens)</a:t>
            </a:r>
            <a:br/>
            <a:r>
              <a:t>KB ⊨ Q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5669280"/>
            <a:ext cx="12801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100" b="1">
                <a:solidFill>
                  <a:srgbClr val="162F4E"/>
                </a:solidFill>
              </a:defRPr>
            </a:pPr>
            <a:r>
              <a:t>Entailment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Every interpretation that makes KB true also makes Q true.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Practice 5: Does the KB entail the query?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Use reasoning or a truth table.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17320"/>
            <a:ext cx="6217920" cy="429768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300" b="1">
                <a:solidFill>
                  <a:srgbClr val="162F4E"/>
                </a:solidFill>
              </a:defRPr>
            </a:pPr>
            <a:r>
              <a:t>Problem A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KB = {P, P→Q}</a:t>
            </a:r>
            <a:br/>
            <a:r>
              <a:t>Query = Q</a:t>
            </a:r>
            <a:br/>
            <a:br/>
            <a:r>
              <a:t>Does KB ⊨ Q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80960" y="1417320"/>
            <a:ext cx="6217920" cy="429768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300" b="1">
                <a:solidFill>
                  <a:srgbClr val="162F4E"/>
                </a:solidFill>
              </a:defRPr>
            </a:pPr>
            <a:r>
              <a:t>Problem B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KB = {P∨Q}</a:t>
            </a:r>
            <a:br/>
            <a:r>
              <a:t>Query = P</a:t>
            </a:r>
            <a:br/>
            <a:br/>
            <a:r>
              <a:t>Does KB ⊨ P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6080760"/>
            <a:ext cx="12801600" cy="914400"/>
          </a:xfrm>
          <a:prstGeom prst="roundRect">
            <a:avLst/>
          </a:prstGeom>
          <a:solidFill>
            <a:srgbClr val="FFF5C8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000" b="1">
                <a:solidFill>
                  <a:srgbClr val="162F4E"/>
                </a:solidFill>
              </a:defRPr>
            </a:pPr>
            <a:r>
              <a:t>Answers</a:t>
            </a:r>
          </a:p>
          <a:p>
            <a:pPr algn="ctr">
              <a:defRPr sz="1500">
                <a:solidFill>
                  <a:srgbClr val="4B4B4B"/>
                </a:solidFill>
              </a:defRPr>
            </a:pPr>
            <a:r>
              <a:t>A: Yes, by Modus Ponens.  B: No; Q may be true while P is false.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Practice worksheet: complete in pairs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Use 5 minutes for student practice.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9728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1280160"/>
            <a:ext cx="493776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Formula / Task</a:t>
            </a:r>
          </a:p>
        </p:txBody>
      </p:sp>
      <p:sp>
        <p:nvSpPr>
          <p:cNvPr id="6" name="Rectangle 5"/>
          <p:cNvSpPr/>
          <p:nvPr/>
        </p:nvSpPr>
        <p:spPr>
          <a:xfrm>
            <a:off x="6766560" y="1280160"/>
            <a:ext cx="365760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What students do</a:t>
            </a:r>
          </a:p>
        </p:txBody>
      </p:sp>
      <p:sp>
        <p:nvSpPr>
          <p:cNvPr id="7" name="Rectangle 6"/>
          <p:cNvSpPr/>
          <p:nvPr/>
        </p:nvSpPr>
        <p:spPr>
          <a:xfrm>
            <a:off x="10424160" y="1280160"/>
            <a:ext cx="3657600" cy="658368"/>
          </a:xfrm>
          <a:prstGeom prst="rect">
            <a:avLst/>
          </a:prstGeom>
          <a:solidFill>
            <a:srgbClr val="162F4E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Expected idea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0" y="1938528"/>
            <a:ext cx="4937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P ∨ ¬P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1938528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Construct truth table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24160" y="1938528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Tautology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96896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596896"/>
            <a:ext cx="49377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P ∧ ¬P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0" y="2596896"/>
            <a:ext cx="36576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Construct truth table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424160" y="2596896"/>
            <a:ext cx="36576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Contradiction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255264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255264"/>
            <a:ext cx="4937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¬(P ∨ Q)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255264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Complete all columns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424160" y="3255264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Use De Morgan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913631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913631"/>
            <a:ext cx="49377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(P ∧ Q) → 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66560" y="3913631"/>
            <a:ext cx="36576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Make 8-row table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424160" y="3913631"/>
            <a:ext cx="36576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Only one false pattern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4572000"/>
            <a:ext cx="109728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28800" y="4572000"/>
            <a:ext cx="493776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P ↔ Q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4572000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Explain in words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424160" y="4572000"/>
            <a:ext cx="3657600" cy="658368"/>
          </a:xfrm>
          <a:prstGeom prst="rect">
            <a:avLst/>
          </a:prstGeom>
          <a:solidFill>
            <a:srgbClr val="FFFFFF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Same truth values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230368"/>
            <a:ext cx="109728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6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28800" y="5230368"/>
            <a:ext cx="493776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KB={P,P→Q}, query Q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5230368"/>
            <a:ext cx="36576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Check entailment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24160" y="5230368"/>
            <a:ext cx="3657600" cy="658368"/>
          </a:xfrm>
          <a:prstGeom prst="rect">
            <a:avLst/>
          </a:prstGeom>
          <a:solidFill>
            <a:srgbClr val="F2F4F7"/>
          </a:solidFill>
          <a:ln>
            <a:solidFill>
              <a:srgbClr val="BEC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/>
          <a:lstStyle/>
          <a:p>
            <a:pPr algn="ctr">
              <a:defRPr sz="1400" b="0">
                <a:solidFill>
                  <a:srgbClr val="162F4E"/>
                </a:solidFill>
              </a:defRPr>
            </a:pPr>
            <a:r>
              <a:t>Modus Ponens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533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62F4E"/>
                </a:solidFill>
              </a:defRPr>
            </a:pPr>
            <a:r>
              <a:t>Exit quiz and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3350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4B4B"/>
                </a:solidFill>
              </a:defRPr>
            </a:pPr>
            <a:r>
              <a:t>Ask students to justify every answer.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834640" cy="155448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600" b="1">
                <a:solidFill>
                  <a:srgbClr val="162F4E"/>
                </a:solidFill>
              </a:defRPr>
            </a:pPr>
            <a:r>
              <a:t>1</a:t>
            </a:r>
          </a:p>
          <a:p>
            <a:pPr algn="ctr">
              <a:defRPr sz="2000">
                <a:solidFill>
                  <a:srgbClr val="4B4B4B"/>
                </a:solidFill>
              </a:defRPr>
            </a:pPr>
            <a:r>
              <a:t>T ∧ F =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06240" y="1463040"/>
            <a:ext cx="2834640" cy="1554480"/>
          </a:xfrm>
          <a:prstGeom prst="roundRect">
            <a:avLst/>
          </a:prstGeom>
          <a:solidFill>
            <a:srgbClr val="DCEFDA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600" b="1">
                <a:solidFill>
                  <a:srgbClr val="162F4E"/>
                </a:solidFill>
              </a:defRPr>
            </a:pPr>
            <a:r>
              <a:t>2</a:t>
            </a:r>
          </a:p>
          <a:p>
            <a:pPr algn="ctr">
              <a:defRPr sz="2000">
                <a:solidFill>
                  <a:srgbClr val="4B4B4B"/>
                </a:solidFill>
              </a:defRPr>
            </a:pPr>
            <a:r>
              <a:t>F ∨ F =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463040"/>
            <a:ext cx="2834640" cy="1554480"/>
          </a:xfrm>
          <a:prstGeom prst="roundRect">
            <a:avLst/>
          </a:prstGeom>
          <a:solidFill>
            <a:srgbClr val="FAE5CD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600" b="1">
                <a:solidFill>
                  <a:srgbClr val="162F4E"/>
                </a:solidFill>
              </a:defRPr>
            </a:pPr>
            <a:r>
              <a:t>3</a:t>
            </a:r>
          </a:p>
          <a:p>
            <a:pPr algn="ctr">
              <a:defRPr sz="2000">
                <a:solidFill>
                  <a:srgbClr val="4B4B4B"/>
                </a:solidFill>
              </a:defRPr>
            </a:pPr>
            <a:r>
              <a:t>T → F =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155680" y="1463040"/>
            <a:ext cx="2834640" cy="1554480"/>
          </a:xfrm>
          <a:prstGeom prst="roundRect">
            <a:avLst/>
          </a:prstGeom>
          <a:solidFill>
            <a:srgbClr val="E8F1F9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600" b="1">
                <a:solidFill>
                  <a:srgbClr val="162F4E"/>
                </a:solidFill>
              </a:defRPr>
            </a:pPr>
            <a:r>
              <a:t>4</a:t>
            </a:r>
          </a:p>
          <a:p>
            <a:pPr algn="ctr">
              <a:defRPr sz="2000">
                <a:solidFill>
                  <a:srgbClr val="4B4B4B"/>
                </a:solidFill>
              </a:defRPr>
            </a:pPr>
            <a:r>
              <a:t>F → T =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840480"/>
            <a:ext cx="1280160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367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109728"/>
          <a:lstStyle/>
          <a:p>
            <a:pPr algn="ctr">
              <a:defRPr sz="2500" b="1">
                <a:solidFill>
                  <a:srgbClr val="162F4E"/>
                </a:solidFill>
              </a:defRPr>
            </a:pPr>
            <a:r>
              <a:t>Answers</a:t>
            </a:r>
          </a:p>
          <a:p>
            <a:pPr algn="ctr">
              <a:defRPr sz="1800">
                <a:solidFill>
                  <a:srgbClr val="4B4B4B"/>
                </a:solidFill>
              </a:defRPr>
            </a:pPr>
            <a:r>
              <a:t>F, F, F, 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66360"/>
            <a:ext cx="12801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CD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tIns="109728"/>
          <a:lstStyle/>
          <a:p>
            <a:pPr algn="ctr">
              <a:defRPr b="1" sz="1900">
                <a:solidFill>
                  <a:srgbClr val="162F4E"/>
                </a:solidFill>
              </a:defRPr>
            </a:pPr>
            <a:r>
              <a:t>Final recap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Represent facts as propositions.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Use connectives to form compound sentences.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Use truth tables to evaluate meaning.</a:t>
            </a:r>
          </a:p>
          <a:p>
            <a:pPr>
              <a:spcAft>
                <a:spcPts val="400"/>
              </a:spcAft>
              <a:defRPr sz="1450">
                <a:solidFill>
                  <a:srgbClr val="4B4B4B"/>
                </a:solidFill>
              </a:defRPr>
            </a:pPr>
            <a:r>
              <a:t>Use inference to derive justified conclusions.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7818120"/>
            <a:ext cx="13533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B4B4B"/>
                </a:solidFill>
              </a:defRPr>
            </a:pPr>
            <a:r>
              <a:t>Artificial Intelligence | Unit II | Propositional Logic |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